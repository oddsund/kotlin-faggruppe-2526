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3" r:id="rId1"/>
    <p:sldMasterId id="2147483861" r:id="rId2"/>
  </p:sldMasterIdLst>
  <p:notesMasterIdLst>
    <p:notesMasterId r:id="rId28"/>
  </p:notesMasterIdLst>
  <p:sldIdLst>
    <p:sldId id="670" r:id="rId3"/>
    <p:sldId id="671" r:id="rId4"/>
    <p:sldId id="672" r:id="rId5"/>
    <p:sldId id="673" r:id="rId6"/>
    <p:sldId id="674" r:id="rId7"/>
    <p:sldId id="695" r:id="rId8"/>
    <p:sldId id="675" r:id="rId9"/>
    <p:sldId id="676" r:id="rId10"/>
    <p:sldId id="677" r:id="rId11"/>
    <p:sldId id="678" r:id="rId12"/>
    <p:sldId id="679" r:id="rId13"/>
    <p:sldId id="680" r:id="rId14"/>
    <p:sldId id="681" r:id="rId15"/>
    <p:sldId id="682" r:id="rId16"/>
    <p:sldId id="683" r:id="rId17"/>
    <p:sldId id="684" r:id="rId18"/>
    <p:sldId id="685" r:id="rId19"/>
    <p:sldId id="686" r:id="rId20"/>
    <p:sldId id="687" r:id="rId21"/>
    <p:sldId id="688" r:id="rId22"/>
    <p:sldId id="689" r:id="rId23"/>
    <p:sldId id="690" r:id="rId24"/>
    <p:sldId id="691" r:id="rId25"/>
    <p:sldId id="692" r:id="rId26"/>
    <p:sldId id="693" r:id="rId27"/>
  </p:sldIdLst>
  <p:sldSz cx="12192000" cy="6858000"/>
  <p:notesSz cx="6858000" cy="9144000"/>
  <p:defaultTextStyle>
    <a:defPPr>
      <a:defRPr lang="en-US"/>
    </a:defPPr>
    <a:lvl1pPr marL="0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205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FF27"/>
    <a:srgbClr val="ECECEC"/>
    <a:srgbClr val="FFFFFF"/>
    <a:srgbClr val="B8D83E"/>
    <a:srgbClr val="B4D147"/>
    <a:srgbClr val="526A00"/>
    <a:srgbClr val="5D7700"/>
    <a:srgbClr val="365303"/>
    <a:srgbClr val="FF4324"/>
    <a:srgbClr val="7500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46"/>
    <p:restoredTop sz="92653"/>
  </p:normalViewPr>
  <p:slideViewPr>
    <p:cSldViewPr snapToGrid="0" snapToObjects="1" showGuides="1">
      <p:cViewPr varScale="1">
        <p:scale>
          <a:sx n="118" d="100"/>
          <a:sy n="118" d="100"/>
        </p:scale>
        <p:origin x="1208" y="200"/>
      </p:cViewPr>
      <p:guideLst>
        <p:guide pos="3205"/>
        <p:guide orient="horz" pos="2160"/>
      </p:guideLst>
    </p:cSldViewPr>
  </p:slideViewPr>
  <p:outlineViewPr>
    <p:cViewPr>
      <p:scale>
        <a:sx n="33" d="100"/>
        <a:sy n="33" d="100"/>
      </p:scale>
      <p:origin x="0" y="-14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GT America Rg" pitchFamily="2" charset="77"/>
              </a:defRPr>
            </a:lvl1pPr>
          </a:lstStyle>
          <a:p>
            <a:endParaRPr lang="nb-NO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GT America Rg" pitchFamily="2" charset="77"/>
              </a:defRPr>
            </a:lvl1pPr>
          </a:lstStyle>
          <a:p>
            <a:fld id="{F5CCFF00-D096-6448-99A9-1B5E392E5640}" type="datetimeFigureOut">
              <a:rPr lang="nb-NO" smtClean="0"/>
              <a:pPr/>
              <a:t>12.11.2025</a:t>
            </a:fld>
            <a:endParaRPr lang="nb-NO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b-N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GT America Rg" pitchFamily="2" charset="77"/>
              </a:defRPr>
            </a:lvl1pPr>
          </a:lstStyle>
          <a:p>
            <a:endParaRPr lang="nb-N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GT America Rg" pitchFamily="2" charset="77"/>
              </a:defRPr>
            </a:lvl1pPr>
          </a:lstStyle>
          <a:p>
            <a:fld id="{1246E90B-2657-364C-8B68-BE49C2816B41}" type="slidenum">
              <a:rPr lang="nb-NO" smtClean="0"/>
              <a:pPr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037668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4" rtl="0" eaLnBrk="1" latinLnBrk="0" hangingPunct="1">
      <a:defRPr sz="1200" b="0" i="0" kern="1200">
        <a:solidFill>
          <a:schemeClr val="tx1"/>
        </a:solidFill>
        <a:latin typeface="GT America Rg" pitchFamily="2" charset="77"/>
        <a:ea typeface="+mn-ea"/>
        <a:cs typeface="+mn-cs"/>
      </a:defRPr>
    </a:lvl1pPr>
    <a:lvl2pPr marL="457178" algn="l" defTabSz="914354" rtl="0" eaLnBrk="1" latinLnBrk="0" hangingPunct="1">
      <a:defRPr sz="1200" b="0" i="0" kern="1200">
        <a:solidFill>
          <a:schemeClr val="tx1"/>
        </a:solidFill>
        <a:latin typeface="GT America Rg" pitchFamily="2" charset="77"/>
        <a:ea typeface="+mn-ea"/>
        <a:cs typeface="+mn-cs"/>
      </a:defRPr>
    </a:lvl2pPr>
    <a:lvl3pPr marL="914354" algn="l" defTabSz="914354" rtl="0" eaLnBrk="1" latinLnBrk="0" hangingPunct="1">
      <a:defRPr sz="1200" b="0" i="0" kern="1200">
        <a:solidFill>
          <a:schemeClr val="tx1"/>
        </a:solidFill>
        <a:latin typeface="GT America Rg" pitchFamily="2" charset="77"/>
        <a:ea typeface="+mn-ea"/>
        <a:cs typeface="+mn-cs"/>
      </a:defRPr>
    </a:lvl3pPr>
    <a:lvl4pPr marL="1371532" algn="l" defTabSz="914354" rtl="0" eaLnBrk="1" latinLnBrk="0" hangingPunct="1">
      <a:defRPr sz="1200" b="0" i="0" kern="1200">
        <a:solidFill>
          <a:schemeClr val="tx1"/>
        </a:solidFill>
        <a:latin typeface="GT America Rg" pitchFamily="2" charset="77"/>
        <a:ea typeface="+mn-ea"/>
        <a:cs typeface="+mn-cs"/>
      </a:defRPr>
    </a:lvl4pPr>
    <a:lvl5pPr marL="1828709" algn="l" defTabSz="914354" rtl="0" eaLnBrk="1" latinLnBrk="0" hangingPunct="1">
      <a:defRPr sz="1200" b="0" i="0" kern="1200">
        <a:solidFill>
          <a:schemeClr val="tx1"/>
        </a:solidFill>
        <a:latin typeface="GT America Rg" pitchFamily="2" charset="77"/>
        <a:ea typeface="+mn-ea"/>
        <a:cs typeface="+mn-cs"/>
      </a:defRPr>
    </a:lvl5pPr>
    <a:lvl6pPr marL="2285886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</a:t>
            </a:r>
            <a:r>
              <a:rPr lang="en-US" dirty="0" err="1"/>
              <a:t>ObjectMother</a:t>
            </a:r>
            <a:r>
              <a:rPr lang="en-US" dirty="0"/>
              <a:t> for </a:t>
            </a:r>
            <a:r>
              <a:rPr lang="en-US" dirty="0" err="1"/>
              <a:t>testdata</a:t>
            </a:r>
            <a:endParaRPr lang="en-US" dirty="0"/>
          </a:p>
          <a:p>
            <a:r>
              <a:rPr lang="en-US" dirty="0"/>
              <a:t>• </a:t>
            </a:r>
            <a:r>
              <a:rPr lang="en-US" dirty="0" err="1"/>
              <a:t>Håndtere</a:t>
            </a:r>
            <a:r>
              <a:rPr lang="en-US" dirty="0"/>
              <a:t> Optional </a:t>
            </a:r>
            <a:r>
              <a:rPr lang="en-US" dirty="0" err="1"/>
              <a:t>i</a:t>
            </a:r>
            <a:r>
              <a:rPr lang="en-US" dirty="0"/>
              <a:t> mocking</a:t>
            </a:r>
          </a:p>
          <a:p>
            <a:r>
              <a:rPr lang="en-US" dirty="0"/>
              <a:t>• TDD workflow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6E90B-2657-364C-8B68-BE49C2816B41}" type="slidenum">
              <a:rPr lang="nb-NO" smtClean="0"/>
              <a:pPr/>
              <a:t>20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6840138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: Sv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95049" y="3293850"/>
            <a:ext cx="8101289" cy="1307088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spcBef>
                <a:spcPts val="0"/>
              </a:spcBef>
              <a:defRPr sz="3800" baseline="0">
                <a:solidFill>
                  <a:schemeClr val="bg1"/>
                </a:solidFill>
              </a:defRPr>
            </a:lvl1pPr>
          </a:lstStyle>
          <a:p>
            <a:r>
              <a:rPr lang="nb-NO" noProof="0" dirty="0"/>
              <a:t>[Tittel på presentasjon]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95048" y="4676172"/>
            <a:ext cx="8101289" cy="148390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spcBef>
                <a:spcPts val="400"/>
              </a:spcBef>
              <a:spcAft>
                <a:spcPts val="20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nb-NO" noProof="0" dirty="0"/>
              <a:t>[F.eks. navn på hun/han som presenterer]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24000" y="339296"/>
            <a:ext cx="4944000" cy="384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0" i="0" baseline="0">
                <a:solidFill>
                  <a:schemeClr val="bg1"/>
                </a:solidFill>
                <a:latin typeface="GT America Lt" pitchFamily="2" charset="77"/>
                <a:ea typeface="GT America L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[Kunde og/eller anledning]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E756B9CD-B53E-F38B-F731-E8440154D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776107" y="339296"/>
            <a:ext cx="2129654" cy="384000"/>
          </a:xfrm>
          <a:prstGeom prst="rect">
            <a:avLst/>
          </a:prstGeom>
        </p:spPr>
        <p:txBody>
          <a:bodyPr rIns="18000" anchor="ctr"/>
          <a:lstStyle>
            <a:lvl1pPr marL="0" indent="0" algn="r">
              <a:buNone/>
              <a:defRPr sz="1200" b="0" i="0" baseline="0">
                <a:solidFill>
                  <a:schemeClr val="bg1"/>
                </a:solidFill>
                <a:latin typeface="GT America Lt" pitchFamily="2" charset="77"/>
                <a:ea typeface="GT America L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[Dato eller tidsperiode]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53B2269-3C05-D49C-552C-A0C070895F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5457" y="214770"/>
            <a:ext cx="427936" cy="39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: Hv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24000" y="339296"/>
            <a:ext cx="4944000" cy="384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0" i="0" baseline="0">
                <a:solidFill>
                  <a:schemeClr val="tx1"/>
                </a:solidFill>
                <a:latin typeface="GT America Lt" pitchFamily="2" charset="77"/>
                <a:ea typeface="GT America L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[Kunde og/eller anledning]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E756B9CD-B53E-F38B-F731-E8440154D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776107" y="339296"/>
            <a:ext cx="2129654" cy="384000"/>
          </a:xfrm>
          <a:prstGeom prst="rect">
            <a:avLst/>
          </a:prstGeom>
        </p:spPr>
        <p:txBody>
          <a:bodyPr rIns="18000" anchor="ctr"/>
          <a:lstStyle>
            <a:lvl1pPr marL="0" indent="0" algn="r">
              <a:buNone/>
              <a:defRPr sz="1200" b="0" i="0" baseline="0">
                <a:solidFill>
                  <a:schemeClr val="tx1"/>
                </a:solidFill>
                <a:latin typeface="GT America Lt" pitchFamily="2" charset="77"/>
                <a:ea typeface="GT America L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[Dato eller tidsperiode]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848DEE1-6E10-F276-2D5B-833A9BD915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5457" y="214770"/>
            <a:ext cx="428400" cy="39643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6CA54E8-7AA8-DC6F-B0FD-B41FAA0DCE5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5049" y="3293850"/>
            <a:ext cx="8101289" cy="1307088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spcBef>
                <a:spcPts val="0"/>
              </a:spcBef>
              <a:defRPr sz="3800" baseline="0">
                <a:solidFill>
                  <a:schemeClr val="tx1"/>
                </a:solidFill>
              </a:defRPr>
            </a:lvl1pPr>
          </a:lstStyle>
          <a:p>
            <a:r>
              <a:rPr lang="nb-NO" noProof="0" dirty="0"/>
              <a:t>[Tittel på presentasjon]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35B3026-7C1D-67E6-B3B2-462A44BD4D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048" y="4676172"/>
            <a:ext cx="8101289" cy="148390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spcBef>
                <a:spcPts val="400"/>
              </a:spcBef>
              <a:spcAft>
                <a:spcPts val="200"/>
              </a:spcAft>
              <a:buNone/>
              <a:defRPr sz="2000" baseline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nb-NO" noProof="0" dirty="0"/>
              <a:t>[F.eks. navn på hun/han som presenterer]</a:t>
            </a:r>
          </a:p>
        </p:txBody>
      </p:sp>
    </p:spTree>
    <p:extLst>
      <p:ext uri="{BB962C8B-B14F-4D97-AF65-F5344CB8AC3E}">
        <p14:creationId xmlns:p14="http://schemas.microsoft.com/office/powerpoint/2010/main" val="3214781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: Rødbru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24000" y="339296"/>
            <a:ext cx="4944000" cy="384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0" i="0" baseline="0">
                <a:solidFill>
                  <a:schemeClr val="tx1"/>
                </a:solidFill>
                <a:latin typeface="GT America Lt" pitchFamily="2" charset="77"/>
                <a:ea typeface="GT America L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[Kunde og/eller anledning]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E756B9CD-B53E-F38B-F731-E8440154D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776107" y="339296"/>
            <a:ext cx="2129654" cy="384000"/>
          </a:xfrm>
          <a:prstGeom prst="rect">
            <a:avLst/>
          </a:prstGeom>
        </p:spPr>
        <p:txBody>
          <a:bodyPr rIns="18000" anchor="ctr"/>
          <a:lstStyle>
            <a:lvl1pPr marL="0" indent="0" algn="r">
              <a:buNone/>
              <a:defRPr sz="1200" b="0" i="0" baseline="0">
                <a:solidFill>
                  <a:schemeClr val="tx1"/>
                </a:solidFill>
                <a:latin typeface="GT America Lt" pitchFamily="2" charset="77"/>
                <a:ea typeface="GT America L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[Dato eller tidsperiode]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848DEE1-6E10-F276-2D5B-833A9BD915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5457" y="214770"/>
            <a:ext cx="428400" cy="39643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272716A-5D89-1ADF-33E5-1063B357AC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5049" y="3293850"/>
            <a:ext cx="8101289" cy="1307088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spcBef>
                <a:spcPts val="0"/>
              </a:spcBef>
              <a:defRPr sz="3800" baseline="0">
                <a:solidFill>
                  <a:schemeClr val="tx1"/>
                </a:solidFill>
              </a:defRPr>
            </a:lvl1pPr>
          </a:lstStyle>
          <a:p>
            <a:r>
              <a:rPr lang="nb-NO" noProof="0" dirty="0"/>
              <a:t>[Tittel på presentasjon]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278E104-BC36-3390-9109-DA81872161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048" y="4676172"/>
            <a:ext cx="8101289" cy="148390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spcBef>
                <a:spcPts val="400"/>
              </a:spcBef>
              <a:spcAft>
                <a:spcPts val="200"/>
              </a:spcAft>
              <a:buNone/>
              <a:defRPr sz="2000" baseline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nb-NO" noProof="0" dirty="0"/>
              <a:t>[F.eks. navn på hun/han som presenterer]</a:t>
            </a:r>
          </a:p>
        </p:txBody>
      </p:sp>
    </p:spTree>
    <p:extLst>
      <p:ext uri="{BB962C8B-B14F-4D97-AF65-F5344CB8AC3E}">
        <p14:creationId xmlns:p14="http://schemas.microsoft.com/office/powerpoint/2010/main" val="2150781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: Bl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24000" y="339296"/>
            <a:ext cx="4944000" cy="384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0" i="0" baseline="0">
                <a:solidFill>
                  <a:schemeClr val="tx1"/>
                </a:solidFill>
                <a:latin typeface="GT America Lt" pitchFamily="2" charset="77"/>
                <a:ea typeface="GT America L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[Kunde og/eller anledning]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E756B9CD-B53E-F38B-F731-E8440154D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776107" y="339296"/>
            <a:ext cx="2129654" cy="384000"/>
          </a:xfrm>
          <a:prstGeom prst="rect">
            <a:avLst/>
          </a:prstGeom>
        </p:spPr>
        <p:txBody>
          <a:bodyPr rIns="18000" anchor="ctr"/>
          <a:lstStyle>
            <a:lvl1pPr marL="0" indent="0" algn="r">
              <a:buNone/>
              <a:defRPr sz="1200" b="0" i="0" baseline="0">
                <a:solidFill>
                  <a:schemeClr val="tx1"/>
                </a:solidFill>
                <a:latin typeface="GT America Lt" pitchFamily="2" charset="77"/>
                <a:ea typeface="GT America L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[Dato eller tidsperiode]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848DEE1-6E10-F276-2D5B-833A9BD915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5457" y="214770"/>
            <a:ext cx="428400" cy="39643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780A32D-DA5C-7FD5-DAA1-F1C41C25E3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5049" y="3293850"/>
            <a:ext cx="8101289" cy="1307088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spcBef>
                <a:spcPts val="0"/>
              </a:spcBef>
              <a:defRPr sz="3800" baseline="0">
                <a:solidFill>
                  <a:schemeClr val="tx1"/>
                </a:solidFill>
              </a:defRPr>
            </a:lvl1pPr>
          </a:lstStyle>
          <a:p>
            <a:r>
              <a:rPr lang="nb-NO" noProof="0" dirty="0"/>
              <a:t>[Tittel på presentasjon]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48E30C6-BB77-EFDF-9C6C-C25BFD9A379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048" y="4676172"/>
            <a:ext cx="8101289" cy="148390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spcBef>
                <a:spcPts val="400"/>
              </a:spcBef>
              <a:spcAft>
                <a:spcPts val="200"/>
              </a:spcAft>
              <a:buNone/>
              <a:defRPr sz="2000" baseline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nb-NO" noProof="0" dirty="0"/>
              <a:t>[F.eks. navn på hun/han som presenterer]</a:t>
            </a:r>
          </a:p>
        </p:txBody>
      </p:sp>
    </p:spTree>
    <p:extLst>
      <p:ext uri="{BB962C8B-B14F-4D97-AF65-F5344CB8AC3E}">
        <p14:creationId xmlns:p14="http://schemas.microsoft.com/office/powerpoint/2010/main" val="748721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: Grøn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24000" y="339296"/>
            <a:ext cx="4944000" cy="384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0" i="0" baseline="0">
                <a:solidFill>
                  <a:schemeClr val="tx1"/>
                </a:solidFill>
                <a:latin typeface="GT America Lt" pitchFamily="2" charset="77"/>
                <a:ea typeface="GT America L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[Kunde og/eller anledning]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E756B9CD-B53E-F38B-F731-E8440154D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776107" y="339296"/>
            <a:ext cx="2129654" cy="384000"/>
          </a:xfrm>
          <a:prstGeom prst="rect">
            <a:avLst/>
          </a:prstGeom>
        </p:spPr>
        <p:txBody>
          <a:bodyPr rIns="18000" anchor="ctr"/>
          <a:lstStyle>
            <a:lvl1pPr marL="0" indent="0" algn="r">
              <a:buNone/>
              <a:defRPr sz="1200" b="0" i="0" baseline="0">
                <a:solidFill>
                  <a:schemeClr val="tx1"/>
                </a:solidFill>
                <a:latin typeface="GT America Lt" pitchFamily="2" charset="77"/>
                <a:ea typeface="GT America L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[Dato eller tidsperiode]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848DEE1-6E10-F276-2D5B-833A9BD915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5457" y="214770"/>
            <a:ext cx="428400" cy="39643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47E876D-AF2E-4691-0678-C60F3B73E70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5049" y="3293850"/>
            <a:ext cx="8101289" cy="1307088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spcBef>
                <a:spcPts val="0"/>
              </a:spcBef>
              <a:defRPr sz="3800" baseline="0">
                <a:solidFill>
                  <a:schemeClr val="tx1"/>
                </a:solidFill>
              </a:defRPr>
            </a:lvl1pPr>
          </a:lstStyle>
          <a:p>
            <a:r>
              <a:rPr lang="nb-NO" noProof="0" dirty="0"/>
              <a:t>[Tittel på presentasjon]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E8599DF-FCC4-D0A4-5EE3-F97695B7E4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048" y="4676172"/>
            <a:ext cx="8101289" cy="148390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spcBef>
                <a:spcPts val="400"/>
              </a:spcBef>
              <a:spcAft>
                <a:spcPts val="200"/>
              </a:spcAft>
              <a:buNone/>
              <a:defRPr sz="2000" baseline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nb-NO" noProof="0" dirty="0"/>
              <a:t>[F.eks. navn på hun/han som presenterer]</a:t>
            </a:r>
          </a:p>
        </p:txBody>
      </p:sp>
    </p:spTree>
    <p:extLst>
      <p:ext uri="{BB962C8B-B14F-4D97-AF65-F5344CB8AC3E}">
        <p14:creationId xmlns:p14="http://schemas.microsoft.com/office/powerpoint/2010/main" val="3283574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6094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: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512763"/>
            <a:ext cx="7345363" cy="706875"/>
          </a:xfrm>
        </p:spPr>
        <p:txBody>
          <a:bodyPr lIns="54000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3615687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: Tittel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511648"/>
            <a:ext cx="7345364" cy="706875"/>
          </a:xfrm>
        </p:spPr>
        <p:txBody>
          <a:bodyPr lIns="54000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1E2C2F1-86EE-0EED-2610-513A250FFAD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1989138"/>
            <a:ext cx="7345363" cy="4535487"/>
          </a:xfrm>
        </p:spPr>
        <p:txBody>
          <a:bodyPr lIns="54000" tIns="54000" rIns="54000" bIns="54000"/>
          <a:lstStyle/>
          <a:p>
            <a:pPr lvl="0"/>
            <a:r>
              <a:rPr lang="en-GB" dirty="0"/>
              <a:t>[The quick brown fox jumped over the lazy dog]</a:t>
            </a:r>
          </a:p>
          <a:p>
            <a:pPr lvl="1"/>
            <a:r>
              <a:rPr lang="en-GB" dirty="0"/>
              <a:t>[</a:t>
            </a:r>
            <a:r>
              <a:rPr lang="en-GB" dirty="0" err="1"/>
              <a:t>Nivå</a:t>
            </a:r>
            <a:r>
              <a:rPr lang="en-GB" dirty="0"/>
              <a:t> 1]</a:t>
            </a:r>
          </a:p>
          <a:p>
            <a:pPr lvl="2"/>
            <a:r>
              <a:rPr lang="en-GB" dirty="0"/>
              <a:t>[</a:t>
            </a:r>
            <a:r>
              <a:rPr lang="en-GB" dirty="0" err="1"/>
              <a:t>Nivå</a:t>
            </a:r>
            <a:r>
              <a:rPr lang="en-GB" dirty="0"/>
              <a:t> 2]</a:t>
            </a:r>
          </a:p>
          <a:p>
            <a:pPr lvl="3"/>
            <a:r>
              <a:rPr lang="en-GB" dirty="0"/>
              <a:t>[</a:t>
            </a:r>
            <a:r>
              <a:rPr lang="en-GB" dirty="0" err="1"/>
              <a:t>Nivå</a:t>
            </a:r>
            <a:r>
              <a:rPr lang="en-GB" dirty="0"/>
              <a:t> 3]</a:t>
            </a:r>
          </a:p>
          <a:p>
            <a:pPr lvl="4"/>
            <a:r>
              <a:rPr lang="en-GB" dirty="0"/>
              <a:t>[</a:t>
            </a:r>
            <a:r>
              <a:rPr lang="en-GB" dirty="0" err="1"/>
              <a:t>Nivå</a:t>
            </a:r>
            <a:r>
              <a:rPr lang="en-GB" dirty="0"/>
              <a:t> 4]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60210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: Tittel + undertittel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512763"/>
            <a:ext cx="7345363" cy="706875"/>
          </a:xfrm>
        </p:spPr>
        <p:txBody>
          <a:bodyPr lIns="54000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22E12F-BF1F-6025-4FE7-42EF361482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1989138"/>
            <a:ext cx="7345363" cy="503238"/>
          </a:xfrm>
          <a:prstGeom prst="rect">
            <a:avLst/>
          </a:prstGeom>
        </p:spPr>
        <p:txBody>
          <a:bodyPr lIns="54000"/>
          <a:lstStyle>
            <a:lvl1pPr>
              <a:defRPr sz="2000" b="0" i="0">
                <a:latin typeface="GT America Rg" pitchFamily="2" charset="77"/>
                <a:ea typeface="GT America Rg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Undertittel</a:t>
            </a:r>
            <a:r>
              <a:rPr lang="en-GB" dirty="0"/>
              <a:t>]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3A7ADC7-A8C4-ADAE-0F9B-3301E4A11A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2708275"/>
            <a:ext cx="7345363" cy="3816350"/>
          </a:xfrm>
        </p:spPr>
        <p:txBody>
          <a:bodyPr/>
          <a:lstStyle/>
          <a:p>
            <a:pPr lvl="0"/>
            <a:r>
              <a:rPr lang="en-GB" dirty="0"/>
              <a:t>[The quick brown fox jumped over the lazy dog]</a:t>
            </a:r>
          </a:p>
          <a:p>
            <a:pPr lvl="1"/>
            <a:r>
              <a:rPr lang="en-GB" dirty="0"/>
              <a:t>[</a:t>
            </a:r>
            <a:r>
              <a:rPr lang="en-GB" dirty="0" err="1"/>
              <a:t>Nivå</a:t>
            </a:r>
            <a:r>
              <a:rPr lang="en-GB" dirty="0"/>
              <a:t> 1]</a:t>
            </a:r>
          </a:p>
          <a:p>
            <a:pPr lvl="2"/>
            <a:r>
              <a:rPr lang="en-GB" dirty="0"/>
              <a:t>[</a:t>
            </a:r>
            <a:r>
              <a:rPr lang="en-GB" dirty="0" err="1"/>
              <a:t>Nivå</a:t>
            </a:r>
            <a:r>
              <a:rPr lang="en-GB" dirty="0"/>
              <a:t> 2]</a:t>
            </a:r>
          </a:p>
          <a:p>
            <a:pPr lvl="3"/>
            <a:r>
              <a:rPr lang="en-GB" dirty="0"/>
              <a:t>[</a:t>
            </a:r>
            <a:r>
              <a:rPr lang="en-GB" dirty="0" err="1"/>
              <a:t>Nivå</a:t>
            </a:r>
            <a:r>
              <a:rPr lang="en-GB" dirty="0"/>
              <a:t> 3]</a:t>
            </a:r>
          </a:p>
          <a:p>
            <a:pPr lvl="4"/>
            <a:r>
              <a:rPr lang="en-GB" dirty="0"/>
              <a:t>[</a:t>
            </a:r>
            <a:r>
              <a:rPr lang="en-GB" dirty="0" err="1"/>
              <a:t>Nivå</a:t>
            </a:r>
            <a:r>
              <a:rPr lang="en-GB" dirty="0"/>
              <a:t> 4]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990887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kolonner: Tittel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512763"/>
            <a:ext cx="7345364" cy="7068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D3FAB-A37C-6D67-0785-847B535580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4" y="1989139"/>
            <a:ext cx="5400000" cy="4535486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E4355C-B2B4-BAE7-C796-5219EBDD15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20525" y="1989139"/>
            <a:ext cx="5400000" cy="4535486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</p:spTree>
    <p:extLst>
      <p:ext uri="{BB962C8B-B14F-4D97-AF65-F5344CB8AC3E}">
        <p14:creationId xmlns:p14="http://schemas.microsoft.com/office/powerpoint/2010/main" val="1856641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kolonner: Tittel + undertittel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512763"/>
            <a:ext cx="7345363" cy="7068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D3FAB-A37C-6D67-0785-847B535580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4" y="2708274"/>
            <a:ext cx="5400000" cy="3816351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22E12F-BF1F-6025-4FE7-42EF361482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6" y="1988520"/>
            <a:ext cx="5400000" cy="503238"/>
          </a:xfrm>
          <a:prstGeom prst="rect">
            <a:avLst/>
          </a:prstGeom>
        </p:spPr>
        <p:txBody>
          <a:bodyPr lIns="54000"/>
          <a:lstStyle>
            <a:lvl1pPr>
              <a:defRPr sz="2000" b="0" i="0">
                <a:latin typeface="GT America Rg" pitchFamily="2" charset="77"/>
                <a:ea typeface="GT America Rg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Undertittel</a:t>
            </a:r>
            <a:r>
              <a:rPr lang="en-GB" dirty="0"/>
              <a:t>]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0F29286-E970-58E7-4888-62B64DDB37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20524" y="1989138"/>
            <a:ext cx="5400000" cy="503238"/>
          </a:xfrm>
          <a:prstGeom prst="rect">
            <a:avLst/>
          </a:prstGeom>
        </p:spPr>
        <p:txBody>
          <a:bodyPr lIns="54000"/>
          <a:lstStyle>
            <a:lvl1pPr>
              <a:defRPr sz="2000" b="0" i="0">
                <a:latin typeface="GT America Rg" pitchFamily="2" charset="77"/>
                <a:ea typeface="GT America Rg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Undertittel</a:t>
            </a:r>
            <a:r>
              <a:rPr lang="en-GB" dirty="0"/>
              <a:t>]</a:t>
            </a:r>
            <a:endParaRPr lang="nb-NO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AD13626-7D58-35A8-22E0-DF15D8510D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20524" y="2705416"/>
            <a:ext cx="5400000" cy="3819210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</p:spTree>
    <p:extLst>
      <p:ext uri="{BB962C8B-B14F-4D97-AF65-F5344CB8AC3E}">
        <p14:creationId xmlns:p14="http://schemas.microsoft.com/office/powerpoint/2010/main" val="6311430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kolonner: Tittel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512763"/>
            <a:ext cx="7345363" cy="7068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D3FAB-A37C-6D67-0785-847B535580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1989137"/>
            <a:ext cx="3600000" cy="4535487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E4355C-B2B4-BAE7-C796-5219EBDD15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96000" y="1989137"/>
            <a:ext cx="3600000" cy="4535487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7CB7D2-BB9E-1B98-C107-25D08CF81F1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20525" y="1989138"/>
            <a:ext cx="3600000" cy="4535487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</p:spTree>
    <p:extLst>
      <p:ext uri="{BB962C8B-B14F-4D97-AF65-F5344CB8AC3E}">
        <p14:creationId xmlns:p14="http://schemas.microsoft.com/office/powerpoint/2010/main" val="39146295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kolonner: Tittel + undertittel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512763"/>
            <a:ext cx="7345363" cy="7068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D3FAB-A37C-6D67-0785-847B535580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2889251"/>
            <a:ext cx="3600000" cy="3635374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E4355C-B2B4-BAE7-C796-5219EBDD15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96907" y="2889251"/>
            <a:ext cx="3600000" cy="3635374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7CB7D2-BB9E-1B98-C107-25D08CF81F1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22340" y="2889252"/>
            <a:ext cx="3600000" cy="3635374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FF1B51A-F663-3AA2-D038-7A4FEF111E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1989138"/>
            <a:ext cx="3600000" cy="565150"/>
          </a:xfrm>
          <a:prstGeom prst="rect">
            <a:avLst/>
          </a:prstGeom>
        </p:spPr>
        <p:txBody>
          <a:bodyPr lIns="54000"/>
          <a:lstStyle>
            <a:lvl1pPr>
              <a:defRPr sz="2000" b="0" i="0">
                <a:latin typeface="GT America Rg" pitchFamily="2" charset="77"/>
                <a:ea typeface="GT America Rg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Undertittel</a:t>
            </a:r>
            <a:r>
              <a:rPr lang="en-GB" dirty="0"/>
              <a:t>]</a:t>
            </a:r>
            <a:endParaRPr lang="nb-NO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0A234C49-35B4-5696-EE91-DE48D250A52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96906" y="1989138"/>
            <a:ext cx="3600000" cy="565150"/>
          </a:xfrm>
          <a:prstGeom prst="rect">
            <a:avLst/>
          </a:prstGeom>
        </p:spPr>
        <p:txBody>
          <a:bodyPr lIns="54000"/>
          <a:lstStyle>
            <a:lvl1pPr>
              <a:defRPr sz="2000" b="0" i="0">
                <a:latin typeface="GT America Rg" pitchFamily="2" charset="77"/>
                <a:ea typeface="GT America Rg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Undertittel</a:t>
            </a:r>
            <a:r>
              <a:rPr lang="en-GB" dirty="0"/>
              <a:t>]</a:t>
            </a:r>
            <a:endParaRPr lang="nb-NO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28E5B6A4-ACD1-3E42-8E82-C087193E04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22337" y="1989138"/>
            <a:ext cx="3600000" cy="565150"/>
          </a:xfrm>
          <a:prstGeom prst="rect">
            <a:avLst/>
          </a:prstGeom>
        </p:spPr>
        <p:txBody>
          <a:bodyPr lIns="54000"/>
          <a:lstStyle>
            <a:lvl1pPr>
              <a:defRPr sz="2000" b="0" i="0">
                <a:latin typeface="GT America Rg" pitchFamily="2" charset="77"/>
                <a:ea typeface="GT America Rg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Undertittel</a:t>
            </a:r>
            <a:r>
              <a:rPr lang="en-GB" dirty="0"/>
              <a:t>]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4925437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kolonner: Tittel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515131"/>
            <a:ext cx="7345363" cy="7068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D3FAB-A37C-6D67-0785-847B535580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1989137"/>
            <a:ext cx="2682000" cy="4535489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E4355C-B2B4-BAE7-C796-5219EBDD15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93825" y="1989137"/>
            <a:ext cx="2682000" cy="4535489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7CB7D2-BB9E-1B98-C107-25D08CF81F1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16175" y="1989138"/>
            <a:ext cx="2682000" cy="4535489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83F7021-6095-D04A-8FEA-65049D7AAA0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38525" y="1989138"/>
            <a:ext cx="2682000" cy="4535489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</p:spTree>
    <p:extLst>
      <p:ext uri="{BB962C8B-B14F-4D97-AF65-F5344CB8AC3E}">
        <p14:creationId xmlns:p14="http://schemas.microsoft.com/office/powerpoint/2010/main" val="15325787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kolonner: Tittel + undertittel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512763"/>
            <a:ext cx="7345363" cy="7068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D3FAB-A37C-6D67-0785-847B535580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2708274"/>
            <a:ext cx="2682000" cy="3816351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E4355C-B2B4-BAE7-C796-5219EBDD15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93408" y="2708274"/>
            <a:ext cx="2682000" cy="3816351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7CB7D2-BB9E-1B98-C107-25D08CF81F1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15341" y="2708275"/>
            <a:ext cx="2682000" cy="3816351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FF1B51A-F663-3AA2-D038-7A4FEF111E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1989138"/>
            <a:ext cx="2682000" cy="565150"/>
          </a:xfrm>
          <a:prstGeom prst="rect">
            <a:avLst/>
          </a:prstGeom>
        </p:spPr>
        <p:txBody>
          <a:bodyPr lIns="54000"/>
          <a:lstStyle>
            <a:lvl1pPr>
              <a:defRPr sz="2000" b="0" i="0">
                <a:latin typeface="GT America Rg" pitchFamily="2" charset="77"/>
                <a:ea typeface="GT America Rg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Undertittel</a:t>
            </a:r>
            <a:r>
              <a:rPr lang="en-GB" dirty="0"/>
              <a:t>]</a:t>
            </a:r>
            <a:endParaRPr lang="nb-NO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0A234C49-35B4-5696-EE91-DE48D250A52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93407" y="1989138"/>
            <a:ext cx="2682000" cy="565150"/>
          </a:xfrm>
          <a:prstGeom prst="rect">
            <a:avLst/>
          </a:prstGeom>
        </p:spPr>
        <p:txBody>
          <a:bodyPr lIns="54000"/>
          <a:lstStyle>
            <a:lvl1pPr>
              <a:defRPr sz="2000" b="0" i="0">
                <a:latin typeface="GT America Rg" pitchFamily="2" charset="77"/>
                <a:ea typeface="GT America Rg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Undertittel</a:t>
            </a:r>
            <a:r>
              <a:rPr lang="en-GB" dirty="0"/>
              <a:t>]</a:t>
            </a:r>
            <a:endParaRPr lang="nb-NO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28E5B6A4-ACD1-3E42-8E82-C087193E04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15339" y="1989138"/>
            <a:ext cx="2682000" cy="565150"/>
          </a:xfrm>
          <a:prstGeom prst="rect">
            <a:avLst/>
          </a:prstGeom>
        </p:spPr>
        <p:txBody>
          <a:bodyPr lIns="54000"/>
          <a:lstStyle>
            <a:lvl1pPr>
              <a:defRPr sz="2000" b="0" i="0">
                <a:latin typeface="GT America Rg" pitchFamily="2" charset="77"/>
                <a:ea typeface="GT America Rg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Undertittel</a:t>
            </a:r>
            <a:r>
              <a:rPr lang="en-GB" dirty="0"/>
              <a:t>]</a:t>
            </a:r>
            <a:endParaRPr lang="nb-NO" dirty="0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83F7021-6095-D04A-8FEA-65049D7AAA0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37275" y="2708275"/>
            <a:ext cx="2682000" cy="3816351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1A088E1-BA4E-D371-DE4B-BB4FC3671F7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37272" y="1989138"/>
            <a:ext cx="2682000" cy="565150"/>
          </a:xfrm>
          <a:prstGeom prst="rect">
            <a:avLst/>
          </a:prstGeom>
        </p:spPr>
        <p:txBody>
          <a:bodyPr lIns="54000"/>
          <a:lstStyle>
            <a:lvl1pPr>
              <a:defRPr sz="2000" b="0" i="0">
                <a:latin typeface="GT America Rg" pitchFamily="2" charset="77"/>
                <a:ea typeface="GT America Rg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Undertittel</a:t>
            </a:r>
            <a:r>
              <a:rPr lang="en-GB" dirty="0"/>
              <a:t>]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271592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: Tittel + tekst + 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512763"/>
            <a:ext cx="7345363" cy="7068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D3FAB-A37C-6D67-0785-847B535580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1989138"/>
            <a:ext cx="6762896" cy="45354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2B7D1B-C200-F54B-CCF0-CAC5958B19E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594025" y="2079607"/>
            <a:ext cx="4226500" cy="439434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bIns="827999" anchor="ctr"/>
          <a:lstStyle>
            <a:lvl1pPr algn="ctr"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 dirty="0"/>
              <a:t>[Sett inn bilde eller figur]</a:t>
            </a:r>
          </a:p>
        </p:txBody>
      </p:sp>
    </p:spTree>
    <p:extLst>
      <p:ext uri="{BB962C8B-B14F-4D97-AF65-F5344CB8AC3E}">
        <p14:creationId xmlns:p14="http://schemas.microsoft.com/office/powerpoint/2010/main" val="21083694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: Tittel + tekst + stort 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512763"/>
            <a:ext cx="6150512" cy="7068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D3FAB-A37C-6D67-0785-847B535580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1989138"/>
            <a:ext cx="6150511" cy="45354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2B7D1B-C200-F54B-CCF0-CAC5958B19E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942424" y="115888"/>
            <a:ext cx="5130513" cy="66262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bIns="827999" anchor="ctr"/>
          <a:lstStyle>
            <a:lvl1pPr algn="ctr"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 dirty="0"/>
              <a:t>[Sett inn bilde]</a:t>
            </a:r>
          </a:p>
        </p:txBody>
      </p:sp>
    </p:spTree>
    <p:extLst>
      <p:ext uri="{BB962C8B-B14F-4D97-AF65-F5344CB8AC3E}">
        <p14:creationId xmlns:p14="http://schemas.microsoft.com/office/powerpoint/2010/main" val="6790798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bil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9B4FA3D-7D60-EE44-56D7-0075FF9908D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19062" y="115888"/>
            <a:ext cx="11953875" cy="66262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bIns="827999" anchor="ctr"/>
          <a:lstStyle>
            <a:lvl1pPr algn="ctr">
              <a:defRPr sz="160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 dirty="0"/>
              <a:t>[Sett inn bilde]</a:t>
            </a:r>
          </a:p>
        </p:txBody>
      </p:sp>
    </p:spTree>
    <p:extLst>
      <p:ext uri="{BB962C8B-B14F-4D97-AF65-F5344CB8AC3E}">
        <p14:creationId xmlns:p14="http://schemas.microsoft.com/office/powerpoint/2010/main" val="16384496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bilde + undertek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77B7C641-9035-8537-854E-31E44A0EEE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479" y="6119121"/>
            <a:ext cx="7650359" cy="62299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defRPr sz="1400" b="0" i="0">
                <a:latin typeface="GT America Lt" pitchFamily="2" charset="77"/>
                <a:ea typeface="GT America Lt" pitchFamily="2" charset="77"/>
              </a:defRPr>
            </a:lvl1pPr>
          </a:lstStyle>
          <a:p>
            <a:pPr lvl="0"/>
            <a:r>
              <a:rPr lang="nb-NO" noProof="1"/>
              <a:t>[The quick brown fox jumps over the lazy dog]</a:t>
            </a:r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109DEAD3-C0E3-A3A0-C15E-BEA9880613B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19063" y="115889"/>
            <a:ext cx="11953875" cy="590059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bIns="827999" anchor="ctr"/>
          <a:lstStyle>
            <a:lvl1pPr algn="ctr">
              <a:defRPr sz="160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 dirty="0"/>
              <a:t>[Sett inn bilde]</a:t>
            </a:r>
          </a:p>
        </p:txBody>
      </p:sp>
    </p:spTree>
    <p:extLst>
      <p:ext uri="{BB962C8B-B14F-4D97-AF65-F5344CB8AC3E}">
        <p14:creationId xmlns:p14="http://schemas.microsoft.com/office/powerpoint/2010/main" val="13050702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il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80B47FDB-858D-F0D7-02D8-3F630ECD9F4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19063" y="115888"/>
            <a:ext cx="5914800" cy="66262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bIns="827999" anchor="ctr"/>
          <a:lstStyle>
            <a:lvl1pPr algn="ctr">
              <a:defRPr sz="160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 dirty="0"/>
              <a:t>[Sett inn bilde]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F1F4DF3F-B4F3-DB59-B408-B310C5BC51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1100" y="115888"/>
            <a:ext cx="5911838" cy="66262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bIns="827999" anchor="ctr"/>
          <a:lstStyle>
            <a:lvl1pPr algn="ctr">
              <a:defRPr sz="160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 dirty="0"/>
              <a:t>[Sett inn bilde]</a:t>
            </a:r>
          </a:p>
        </p:txBody>
      </p:sp>
    </p:spTree>
    <p:extLst>
      <p:ext uri="{BB962C8B-B14F-4D97-AF65-F5344CB8AC3E}">
        <p14:creationId xmlns:p14="http://schemas.microsoft.com/office/powerpoint/2010/main" val="30822092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ilder + undertek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80B47FDB-858D-F0D7-02D8-3F630ECD9F4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19063" y="115889"/>
            <a:ext cx="5914800" cy="590059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bIns="827999" anchor="ctr"/>
          <a:lstStyle>
            <a:lvl1pPr algn="ctr">
              <a:defRPr sz="160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 dirty="0"/>
              <a:t>[Sett inn bilde]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F1F4DF3F-B4F3-DB59-B408-B310C5BC51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58137" y="115889"/>
            <a:ext cx="5914800" cy="590059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bIns="827999" anchor="ctr"/>
          <a:lstStyle>
            <a:lvl1pPr algn="ctr">
              <a:defRPr sz="160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 dirty="0"/>
              <a:t>[Sett inn bilde]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15140078-EBD3-B729-0CD0-4E2B307305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479" y="6120193"/>
            <a:ext cx="7650359" cy="62191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defRPr sz="1400" b="0" i="0">
                <a:latin typeface="GT America Lt" pitchFamily="2" charset="77"/>
                <a:ea typeface="GT America Lt" pitchFamily="2" charset="77"/>
              </a:defRPr>
            </a:lvl1pPr>
          </a:lstStyle>
          <a:p>
            <a:pPr lvl="0"/>
            <a:r>
              <a:rPr lang="nb-NO" noProof="1"/>
              <a:t>[The quick brown fox jumps over the lazy dog]</a:t>
            </a:r>
          </a:p>
        </p:txBody>
      </p:sp>
    </p:spTree>
    <p:extLst>
      <p:ext uri="{BB962C8B-B14F-4D97-AF65-F5344CB8AC3E}">
        <p14:creationId xmlns:p14="http://schemas.microsoft.com/office/powerpoint/2010/main" val="21343761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foil m/bilde: Sv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9B4FA3D-7D60-EE44-56D7-0075FF9908D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835525" y="115889"/>
            <a:ext cx="7237412" cy="66262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bIns="756000" anchor="ctr"/>
          <a:lstStyle>
            <a:lvl1pPr algn="ctr">
              <a:defRPr sz="160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 dirty="0"/>
              <a:t>[Sett inn bilde]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E418662-CF3A-AF76-9B54-FEB07DFB45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4148004"/>
            <a:ext cx="4103688" cy="2376620"/>
          </a:xfrm>
          <a:prstGeom prst="rect">
            <a:avLst/>
          </a:prstGeom>
        </p:spPr>
        <p:txBody>
          <a:bodyPr lIns="54000"/>
          <a:lstStyle>
            <a:lvl1pPr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bown fox]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DC063FE-5DB4-8585-C274-927FEDC262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7" y="2709996"/>
            <a:ext cx="4103688" cy="1021944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3000" b="0" i="0">
                <a:solidFill>
                  <a:schemeClr val="bg1"/>
                </a:solidFill>
                <a:latin typeface="GT America Rg" pitchFamily="2" charset="77"/>
                <a:ea typeface="GT America Rg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965930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foil m/bilde og kapitteltag: Sv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9B4FA3D-7D60-EE44-56D7-0075FF9908D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835525" y="115889"/>
            <a:ext cx="7237412" cy="66262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bIns="756000" anchor="ctr"/>
          <a:lstStyle>
            <a:lvl1pPr algn="ctr">
              <a:defRPr sz="160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 dirty="0"/>
              <a:t>[Sett inn bilde]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E418662-CF3A-AF76-9B54-FEB07DFB45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4148004"/>
            <a:ext cx="4103688" cy="2376620"/>
          </a:xfrm>
          <a:prstGeom prst="rect">
            <a:avLst/>
          </a:prstGeom>
        </p:spPr>
        <p:txBody>
          <a:bodyPr lIns="54000"/>
          <a:lstStyle>
            <a:lvl1pPr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bown fox]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DC063FE-5DB4-8585-C274-927FEDC262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7" y="2709996"/>
            <a:ext cx="4103688" cy="1021944"/>
          </a:xfrm>
          <a:prstGeom prst="rect">
            <a:avLst/>
          </a:prstGeom>
        </p:spPr>
        <p:txBody>
          <a:bodyPr lIns="54000" anchor="b"/>
          <a:lstStyle>
            <a:lvl1pPr>
              <a:lnSpc>
                <a:spcPct val="100000"/>
              </a:lnSpc>
              <a:defRPr sz="3000" b="0" i="0">
                <a:solidFill>
                  <a:schemeClr val="bg1"/>
                </a:solidFill>
                <a:latin typeface="GT America Rg" pitchFamily="2" charset="77"/>
                <a:ea typeface="GT America Rg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DD96E35-1E87-3421-8040-0EE8A1585B8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588" y="476250"/>
            <a:ext cx="933649" cy="195597"/>
          </a:xfrm>
          <a:prstGeom prst="roundRect">
            <a:avLst>
              <a:gd name="adj" fmla="val 17125"/>
            </a:avLst>
          </a:prstGeom>
          <a:solidFill>
            <a:srgbClr val="D4FF27"/>
          </a:solidFill>
          <a:ln w="6350">
            <a:noFill/>
          </a:ln>
        </p:spPr>
        <p:txBody>
          <a:bodyPr wrap="none" lIns="72000" tIns="36000" rIns="72000" bIns="32400" anchor="ctr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 b="0" i="0" cap="all" baseline="0">
                <a:solidFill>
                  <a:schemeClr val="tx1"/>
                </a:solidFill>
                <a:latin typeface="GT America Exp Md" pitchFamily="2" charset="77"/>
                <a:ea typeface="GT America Exp Md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kapittel</a:t>
            </a:r>
            <a:r>
              <a:rPr lang="en-GB" dirty="0"/>
              <a:t> 1]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9796139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foil m/bilde: Hv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9B4FA3D-7D60-EE44-56D7-0075FF9908D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835524" y="115889"/>
            <a:ext cx="7237413" cy="66262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bIns="756000" anchor="ctr"/>
          <a:lstStyle>
            <a:lvl1pPr algn="ctr">
              <a:defRPr sz="160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 dirty="0"/>
              <a:t>[Sett inn bilde]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E418662-CF3A-AF76-9B54-FEB07DFB45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4148004"/>
            <a:ext cx="4103044" cy="2376620"/>
          </a:xfrm>
          <a:prstGeom prst="rect">
            <a:avLst/>
          </a:prstGeom>
        </p:spPr>
        <p:txBody>
          <a:bodyPr lIns="54000"/>
          <a:lstStyle>
            <a:lvl1pPr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bown fox]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DC063FE-5DB4-8585-C274-927FEDC262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2119" y="2709996"/>
            <a:ext cx="4103044" cy="1021944"/>
          </a:xfrm>
          <a:prstGeom prst="rect">
            <a:avLst/>
          </a:prstGeom>
        </p:spPr>
        <p:txBody>
          <a:bodyPr lIns="54000" anchor="b"/>
          <a:lstStyle>
            <a:lvl1pPr>
              <a:lnSpc>
                <a:spcPct val="100000"/>
              </a:lnSpc>
              <a:defRPr sz="3000" b="0" i="0">
                <a:solidFill>
                  <a:schemeClr val="tx1"/>
                </a:solidFill>
                <a:latin typeface="GT America Rg" pitchFamily="2" charset="77"/>
                <a:ea typeface="GT America Rg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5441035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foil m/bilde og kapitteltag: Hv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9B4FA3D-7D60-EE44-56D7-0075FF9908D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835524" y="115889"/>
            <a:ext cx="7237413" cy="66262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bIns="756000" anchor="ctr"/>
          <a:lstStyle>
            <a:lvl1pPr algn="ctr">
              <a:defRPr sz="160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 dirty="0"/>
              <a:t>[Sett inn bilde]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E418662-CF3A-AF76-9B54-FEB07DFB45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4148004"/>
            <a:ext cx="4103688" cy="237662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bown fox]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DC063FE-5DB4-8585-C274-927FEDC262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2711398"/>
            <a:ext cx="4103688" cy="1021944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3000" b="0" i="0">
                <a:solidFill>
                  <a:schemeClr val="tx1"/>
                </a:solidFill>
                <a:latin typeface="GT America Rg" pitchFamily="2" charset="77"/>
                <a:ea typeface="GT America Rg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DD96E35-1E87-3421-8040-0EE8A1585B8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813" y="476250"/>
            <a:ext cx="933649" cy="195597"/>
          </a:xfrm>
          <a:prstGeom prst="roundRect">
            <a:avLst>
              <a:gd name="adj" fmla="val 17125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none" lIns="72000" tIns="36000" rIns="72000" bIns="32400" anchor="ctr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 b="0" i="0" cap="all" baseline="0">
                <a:solidFill>
                  <a:schemeClr val="tx1"/>
                </a:solidFill>
                <a:latin typeface="GT America Exp Md" pitchFamily="2" charset="77"/>
                <a:ea typeface="GT America Exp Md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kapittel</a:t>
            </a:r>
            <a:r>
              <a:rPr lang="en-GB" dirty="0"/>
              <a:t> 1]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2223787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foil: Sv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91EDC-B464-1BDA-783C-6A4DD0FDE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76250"/>
            <a:ext cx="7283017" cy="1512888"/>
          </a:xfrm>
        </p:spPr>
        <p:txBody>
          <a:bodyPr/>
          <a:lstStyle>
            <a:lvl1pPr>
              <a:lnSpc>
                <a:spcPct val="100000"/>
              </a:lnSpc>
              <a:defRPr sz="34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[</a:t>
            </a:r>
            <a:r>
              <a:rPr lang="en-GB" dirty="0" err="1"/>
              <a:t>Skillefoil</a:t>
            </a:r>
            <a:r>
              <a:rPr lang="en-GB" dirty="0"/>
              <a:t>]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8275291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foil: Rødbru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91EDC-B464-1BDA-783C-6A4DD0FDE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76250"/>
            <a:ext cx="7283017" cy="1512888"/>
          </a:xfrm>
        </p:spPr>
        <p:txBody>
          <a:bodyPr/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GB" dirty="0"/>
              <a:t>[</a:t>
            </a:r>
            <a:r>
              <a:rPr lang="en-GB" dirty="0" err="1"/>
              <a:t>Skillefoil</a:t>
            </a:r>
            <a:r>
              <a:rPr lang="en-GB" dirty="0"/>
              <a:t>]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7364805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foil: Bl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91EDC-B464-1BDA-783C-6A4DD0FDE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76250"/>
            <a:ext cx="7283017" cy="1512888"/>
          </a:xfrm>
        </p:spPr>
        <p:txBody>
          <a:bodyPr/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GB" dirty="0"/>
              <a:t>[</a:t>
            </a:r>
            <a:r>
              <a:rPr lang="en-GB" dirty="0" err="1"/>
              <a:t>Skillefoil</a:t>
            </a:r>
            <a:r>
              <a:rPr lang="en-GB" dirty="0"/>
              <a:t>]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0956726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foil: Grøn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91EDC-B464-1BDA-783C-6A4DD0FDE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76250"/>
            <a:ext cx="7283017" cy="1512888"/>
          </a:xfrm>
        </p:spPr>
        <p:txBody>
          <a:bodyPr/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GB" dirty="0"/>
              <a:t>[</a:t>
            </a:r>
            <a:r>
              <a:rPr lang="en-GB" dirty="0" err="1"/>
              <a:t>Skillefoil</a:t>
            </a:r>
            <a:r>
              <a:rPr lang="en-GB" dirty="0"/>
              <a:t>]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4217476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E418662-CF3A-AF76-9B54-FEB07DFB45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3393" y="4375664"/>
            <a:ext cx="4142132" cy="307019"/>
          </a:xfrm>
          <a:prstGeom prst="rect">
            <a:avLst/>
          </a:prstGeom>
        </p:spPr>
        <p:txBody>
          <a:bodyPr wrap="none" anchor="ctr"/>
          <a:lstStyle>
            <a:lvl1pPr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nb-NO" noProof="1"/>
              <a:t>[Rolle i Bekk]</a:t>
            </a:r>
            <a:endParaRPr lang="nb-NO" noProof="1">
              <a:effectLst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DC063FE-5DB4-8585-C274-927FEDC262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3393" y="3727307"/>
            <a:ext cx="4142134" cy="396000"/>
          </a:xfrm>
          <a:prstGeom prst="rect">
            <a:avLst/>
          </a:prstGeom>
        </p:spPr>
        <p:txBody>
          <a:bodyPr wrap="none" anchor="ctr"/>
          <a:lstStyle>
            <a:lvl1pPr>
              <a:defRPr sz="1800" b="0" i="0">
                <a:solidFill>
                  <a:schemeClr val="bg1"/>
                </a:solidFill>
                <a:latin typeface="GT America Lt" pitchFamily="2" charset="77"/>
                <a:ea typeface="GT America Lt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Navn</a:t>
            </a:r>
            <a:r>
              <a:rPr lang="en-GB" dirty="0"/>
              <a:t>]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B5AB5B94-9D66-59BA-9723-92252DB758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3393" y="4711761"/>
            <a:ext cx="4142132" cy="307019"/>
          </a:xfrm>
          <a:prstGeom prst="rect">
            <a:avLst/>
          </a:prstGeom>
        </p:spPr>
        <p:txBody>
          <a:bodyPr wrap="none" anchor="ctr"/>
          <a:lstStyle>
            <a:lvl1pPr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defRPr sz="1800" u="sng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b-NO" noProof="1"/>
              <a:t>[+ 47 000 00 000]</a:t>
            </a:r>
            <a:endParaRPr lang="nb-NO" noProof="1">
              <a:effectLst/>
            </a:endParaRP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61A156C-5DD6-A646-E048-2D13CF349D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3393" y="5047858"/>
            <a:ext cx="4142132" cy="307019"/>
          </a:xfrm>
          <a:prstGeom prst="rect">
            <a:avLst/>
          </a:prstGeom>
        </p:spPr>
        <p:txBody>
          <a:bodyPr wrap="none" anchor="ctr"/>
          <a:lstStyle>
            <a:lvl1pPr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defRPr sz="1800" u="sng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b-NO" noProof="1"/>
              <a:t>[navn@bekk.no]</a:t>
            </a:r>
            <a:endParaRPr lang="nb-NO" noProof="1">
              <a:effectLst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F5FE9A2-D58F-0EDF-BBDA-10DA6CC01B5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5457" y="214770"/>
            <a:ext cx="427936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02642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dre tekststr: Tittel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0E547-AE20-1A68-1188-C86F21A13D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nb-NO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A2AA49-E512-87C6-B1AF-2AE31660A8C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2913" y="2205038"/>
            <a:ext cx="8713787" cy="4319587"/>
          </a:xfrm>
        </p:spPr>
        <p:txBody>
          <a:bodyPr/>
          <a:lstStyle>
            <a:lvl1pPr>
              <a:defRPr sz="1600" b="0" i="0">
                <a:latin typeface="GT America Lt" pitchFamily="2" charset="77"/>
                <a:ea typeface="GT America Lt" pitchFamily="2" charset="77"/>
              </a:defRPr>
            </a:lvl1pPr>
            <a:lvl2pPr>
              <a:defRPr sz="1600" b="0" i="0">
                <a:latin typeface="GT America Lt" pitchFamily="2" charset="77"/>
                <a:ea typeface="GT America Lt" pitchFamily="2" charset="77"/>
              </a:defRPr>
            </a:lvl2pPr>
            <a:lvl3pPr>
              <a:defRPr sz="1600" b="0" i="0">
                <a:latin typeface="GT America Lt" pitchFamily="2" charset="77"/>
                <a:ea typeface="GT America Lt" pitchFamily="2" charset="77"/>
              </a:defRPr>
            </a:lvl3pPr>
            <a:lvl4pPr>
              <a:defRPr sz="1600" b="0" i="0">
                <a:latin typeface="GT America Lt" pitchFamily="2" charset="77"/>
                <a:ea typeface="GT America Lt" pitchFamily="2" charset="77"/>
              </a:defRPr>
            </a:lvl4pPr>
            <a:lvl5pPr>
              <a:defRPr sz="1600" b="0" i="0">
                <a:latin typeface="GT America Lt" pitchFamily="2" charset="77"/>
                <a:ea typeface="GT America Lt" pitchFamily="2" charset="77"/>
              </a:defRPr>
            </a:lvl5pPr>
          </a:lstStyle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</p:spTree>
    <p:extLst>
      <p:ext uri="{BB962C8B-B14F-4D97-AF65-F5344CB8AC3E}">
        <p14:creationId xmlns:p14="http://schemas.microsoft.com/office/powerpoint/2010/main" val="105553344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dre tekststr: Tittel + tekst + tema-tag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0E547-AE20-1A68-1188-C86F21A13D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nb-NO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A2AA49-E512-87C6-B1AF-2AE31660A8C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2913" y="2205038"/>
            <a:ext cx="8713787" cy="4319587"/>
          </a:xfrm>
        </p:spPr>
        <p:txBody>
          <a:bodyPr/>
          <a:lstStyle>
            <a:lvl1pPr>
              <a:defRPr sz="1600" b="0" i="0">
                <a:latin typeface="GT America Lt" pitchFamily="2" charset="77"/>
                <a:ea typeface="GT America Lt" pitchFamily="2" charset="77"/>
              </a:defRPr>
            </a:lvl1pPr>
            <a:lvl2pPr>
              <a:defRPr sz="1600" b="0" i="0">
                <a:latin typeface="GT America Lt" pitchFamily="2" charset="77"/>
                <a:ea typeface="GT America Lt" pitchFamily="2" charset="77"/>
              </a:defRPr>
            </a:lvl2pPr>
            <a:lvl3pPr>
              <a:defRPr sz="1600" b="0" i="0">
                <a:latin typeface="GT America Lt" pitchFamily="2" charset="77"/>
                <a:ea typeface="GT America Lt" pitchFamily="2" charset="77"/>
              </a:defRPr>
            </a:lvl3pPr>
            <a:lvl4pPr>
              <a:defRPr sz="1600" b="0" i="0">
                <a:latin typeface="GT America Lt" pitchFamily="2" charset="77"/>
                <a:ea typeface="GT America Lt" pitchFamily="2" charset="77"/>
              </a:defRPr>
            </a:lvl4pPr>
            <a:lvl5pPr>
              <a:defRPr sz="1600" b="0" i="0">
                <a:latin typeface="GT America Lt" pitchFamily="2" charset="77"/>
                <a:ea typeface="GT America Lt" pitchFamily="2" charset="77"/>
              </a:defRPr>
            </a:lvl5pPr>
          </a:lstStyle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C4DEA6AD-178A-2B2C-0224-B5A44969DF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4139" y="363810"/>
            <a:ext cx="920577" cy="195597"/>
          </a:xfrm>
          <a:prstGeom prst="roundRect">
            <a:avLst>
              <a:gd name="adj" fmla="val 17125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none" lIns="90000" tIns="36000" rIns="90000" bIns="32400" anchor="ctr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 b="0" i="0" cap="all" baseline="0">
                <a:solidFill>
                  <a:schemeClr val="tx1"/>
                </a:solidFill>
                <a:latin typeface="GT America Exp Md" pitchFamily="2" charset="77"/>
                <a:ea typeface="GT America Exp Md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tema</a:t>
            </a:r>
            <a:r>
              <a:rPr lang="en-GB" dirty="0"/>
              <a:t>-TAG]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417047967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dre tekststr: Tittel + tekst + 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2" y="728661"/>
            <a:ext cx="8353426" cy="1295402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2400"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D3FAB-A37C-6D67-0785-847B535580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2911" y="2205037"/>
            <a:ext cx="6738474" cy="4319587"/>
          </a:xfr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1600"/>
            </a:lvl1pPr>
          </a:lstStyle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E76C4A4-F084-E7D2-0CF4-92D07F7EEE01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7618505" y="2289542"/>
            <a:ext cx="4248937" cy="4248000"/>
          </a:xfrm>
          <a:solidFill>
            <a:schemeClr val="accent5">
              <a:lumMod val="20000"/>
              <a:lumOff val="80000"/>
            </a:schemeClr>
          </a:solidFill>
        </p:spPr>
        <p:txBody>
          <a:bodyPr bIns="827999" anchor="ctr"/>
          <a:lstStyle>
            <a:lvl1pPr algn="ctr"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 dirty="0"/>
              <a:t>[Sett inn bilde eller figur]</a:t>
            </a:r>
          </a:p>
        </p:txBody>
      </p:sp>
    </p:spTree>
    <p:extLst>
      <p:ext uri="{BB962C8B-B14F-4D97-AF65-F5344CB8AC3E}">
        <p14:creationId xmlns:p14="http://schemas.microsoft.com/office/powerpoint/2010/main" val="370566289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dre tekststr: Tittel + tekst + bilde + tema-tag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2" y="728661"/>
            <a:ext cx="8353426" cy="1295402"/>
          </a:xfrm>
        </p:spPr>
        <p:txBody>
          <a:bodyPr lIns="36000" anchor="t">
            <a:noAutofit/>
          </a:bodyPr>
          <a:lstStyle>
            <a:lvl1pPr>
              <a:lnSpc>
                <a:spcPct val="100000"/>
              </a:lnSpc>
              <a:defRPr sz="2400"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D3FAB-A37C-6D67-0785-847B535580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2911" y="2205037"/>
            <a:ext cx="6738474" cy="4319587"/>
          </a:xfr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1600"/>
            </a:lvl1pPr>
          </a:lstStyle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E76C4A4-F084-E7D2-0CF4-92D07F7EEE01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7618505" y="2289542"/>
            <a:ext cx="4248937" cy="4248000"/>
          </a:xfrm>
          <a:solidFill>
            <a:schemeClr val="accent5">
              <a:lumMod val="20000"/>
              <a:lumOff val="80000"/>
            </a:schemeClr>
          </a:solidFill>
        </p:spPr>
        <p:txBody>
          <a:bodyPr bIns="827999" anchor="ctr"/>
          <a:lstStyle>
            <a:lvl1pPr algn="ctr"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 dirty="0"/>
              <a:t>[Sett inn bilde eller figur]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17F52FA1-3497-F343-70CA-33403D5AC1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4139" y="363810"/>
            <a:ext cx="920577" cy="195597"/>
          </a:xfrm>
          <a:prstGeom prst="roundRect">
            <a:avLst>
              <a:gd name="adj" fmla="val 17125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none" lIns="90000" tIns="36000" rIns="90000" bIns="32400" anchor="ctr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 b="0" i="0" cap="all" baseline="0">
                <a:solidFill>
                  <a:schemeClr val="tx1"/>
                </a:solidFill>
                <a:latin typeface="GT America Exp Md" pitchFamily="2" charset="77"/>
                <a:ea typeface="GT America Exp Md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tema</a:t>
            </a:r>
            <a:r>
              <a:rPr lang="en-GB" dirty="0"/>
              <a:t>-TAG]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59259943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dre tekststr: Tittel + tekst + stort 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2" y="728661"/>
            <a:ext cx="6120000" cy="1295402"/>
          </a:xfrm>
        </p:spPr>
        <p:txBody>
          <a:bodyPr lIns="36000" anchor="t">
            <a:noAutofit/>
          </a:bodyPr>
          <a:lstStyle>
            <a:lvl1pPr>
              <a:lnSpc>
                <a:spcPct val="100000"/>
              </a:lnSpc>
              <a:defRPr sz="2400"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07E19842-2AB0-E13A-F334-3FEF4E2933B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942424" y="115888"/>
            <a:ext cx="5130513" cy="6626225"/>
          </a:xfrm>
          <a:solidFill>
            <a:schemeClr val="accent5">
              <a:lumMod val="20000"/>
              <a:lumOff val="80000"/>
            </a:schemeClr>
          </a:solidFill>
        </p:spPr>
        <p:txBody>
          <a:bodyPr bIns="827999" anchor="ctr"/>
          <a:lstStyle>
            <a:lvl1pPr algn="ctr"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 dirty="0"/>
              <a:t>[Sett inn bilde]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E274E0E5-4061-03BF-65C4-DB6CEB046E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2911" y="2205037"/>
            <a:ext cx="6120000" cy="4319587"/>
          </a:xfr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1600"/>
            </a:lvl1pPr>
          </a:lstStyle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</p:spTree>
    <p:extLst>
      <p:ext uri="{BB962C8B-B14F-4D97-AF65-F5344CB8AC3E}">
        <p14:creationId xmlns:p14="http://schemas.microsoft.com/office/powerpoint/2010/main" val="22095507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dre tekststr: Tittel + tekst + stort bilde + tema-tag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2" y="728661"/>
            <a:ext cx="6175367" cy="1295402"/>
          </a:xfrm>
        </p:spPr>
        <p:txBody>
          <a:bodyPr lIns="36000" anchor="t">
            <a:noAutofit/>
          </a:bodyPr>
          <a:lstStyle>
            <a:lvl1pPr>
              <a:lnSpc>
                <a:spcPct val="100000"/>
              </a:lnSpc>
              <a:defRPr sz="2400"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07E19842-2AB0-E13A-F334-3FEF4E2933B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942424" y="115888"/>
            <a:ext cx="5130513" cy="6626225"/>
          </a:xfrm>
          <a:solidFill>
            <a:schemeClr val="accent5">
              <a:lumMod val="20000"/>
              <a:lumOff val="80000"/>
            </a:schemeClr>
          </a:solidFill>
        </p:spPr>
        <p:txBody>
          <a:bodyPr bIns="827999" anchor="ctr"/>
          <a:lstStyle>
            <a:lvl1pPr algn="ctr"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 dirty="0"/>
              <a:t>[Sett inn bilde]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E274E0E5-4061-03BF-65C4-DB6CEB046E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2911" y="2205037"/>
            <a:ext cx="6175367" cy="4319587"/>
          </a:xfr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1600"/>
            </a:lvl1pPr>
          </a:lstStyle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EBE0DD8F-A7B3-AA10-4EA7-60D8270A64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4139" y="363810"/>
            <a:ext cx="920577" cy="195597"/>
          </a:xfrm>
          <a:prstGeom prst="roundRect">
            <a:avLst>
              <a:gd name="adj" fmla="val 17125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none" lIns="90000" tIns="36000" rIns="90000" bIns="32400" anchor="ctr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 b="0" i="0" cap="all" baseline="0">
                <a:solidFill>
                  <a:schemeClr val="tx1"/>
                </a:solidFill>
                <a:latin typeface="GT America Exp Md" pitchFamily="2" charset="77"/>
                <a:ea typeface="GT America Exp Md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tema</a:t>
            </a:r>
            <a:r>
              <a:rPr lang="en-GB" dirty="0"/>
              <a:t>-TAG]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48702670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apport / tilbud: Overskrift + 2 kolo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B8FEDC1-B254-C6A4-B14B-321AA47629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2912" y="2205038"/>
            <a:ext cx="5479200" cy="4319587"/>
          </a:xfrm>
        </p:spPr>
        <p:txBody>
          <a:bodyPr lIns="54000"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200"/>
            </a:lvl1pPr>
          </a:lstStyle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818838A7-D738-D0F5-6C03-308BA3BEFB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3" y="728663"/>
            <a:ext cx="5473701" cy="1295400"/>
          </a:xfrm>
          <a:prstGeom prst="rect">
            <a:avLst/>
          </a:prstGeom>
        </p:spPr>
        <p:txBody>
          <a:bodyPr vert="horz" lIns="54000" tIns="54000" rIns="54000" bIns="54000" rtlCol="0" anchor="t">
            <a:noAutofit/>
          </a:bodyPr>
          <a:lstStyle>
            <a:lvl1pPr>
              <a:lnSpc>
                <a:spcPct val="100000"/>
              </a:lnSpc>
              <a:defRPr sz="2200"/>
            </a:lvl1pPr>
          </a:lstStyle>
          <a:p>
            <a:r>
              <a:rPr lang="nb-NO" noProof="1"/>
              <a:t>[Tittel]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A5982688-1F55-5A31-EA24-F6CB155D9B9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77088" y="2205038"/>
            <a:ext cx="5472000" cy="4319587"/>
          </a:xfrm>
        </p:spPr>
        <p:txBody>
          <a:bodyPr lIns="54000"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200"/>
            </a:lvl1pPr>
          </a:lstStyle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apport / tilbud: 2 kolo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B8FEDC1-B254-C6A4-B14B-321AA47629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2913" y="728663"/>
            <a:ext cx="5472000" cy="5795963"/>
          </a:xfrm>
        </p:spPr>
        <p:txBody>
          <a:bodyPr lIns="54000"/>
          <a:lstStyle>
            <a:lvl1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1200"/>
            </a:lvl1pPr>
          </a:lstStyle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A5982688-1F55-5A31-EA24-F6CB155D9B9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77087" y="728663"/>
            <a:ext cx="5472000" cy="5795963"/>
          </a:xfrm>
        </p:spPr>
        <p:txBody>
          <a:bodyPr lIns="54000"/>
          <a:lstStyle>
            <a:lvl1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1200"/>
            </a:lvl1pPr>
          </a:lstStyle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</p:spTree>
    <p:extLst>
      <p:ext uri="{BB962C8B-B14F-4D97-AF65-F5344CB8AC3E}">
        <p14:creationId xmlns:p14="http://schemas.microsoft.com/office/powerpoint/2010/main" val="3376715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1475" y="512764"/>
            <a:ext cx="7345259" cy="721626"/>
          </a:xfrm>
          <a:prstGeom prst="rect">
            <a:avLst/>
          </a:prstGeom>
        </p:spPr>
        <p:txBody>
          <a:bodyPr vert="horz" lIns="54000" tIns="54000" rIns="54000" bIns="54000" rtlCol="0" anchor="t">
            <a:noAutofit/>
          </a:bodyPr>
          <a:lstStyle/>
          <a:p>
            <a:r>
              <a:rPr lang="nb-NO" noProof="1"/>
              <a:t>[Tittel]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6779E9-7697-5F45-133B-C722BDD2F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5" y="1993897"/>
            <a:ext cx="7345259" cy="4530727"/>
          </a:xfrm>
          <a:prstGeom prst="rect">
            <a:avLst/>
          </a:prstGeom>
        </p:spPr>
        <p:txBody>
          <a:bodyPr vert="horz" lIns="54000" tIns="54000" rIns="54000" bIns="54000" rtlCol="0">
            <a:normAutofit/>
          </a:bodyPr>
          <a:lstStyle/>
          <a:p>
            <a:pPr lvl="0"/>
            <a:r>
              <a:rPr lang="en-GB" dirty="0"/>
              <a:t>[The quick brown fox jumped over the lazy dog]</a:t>
            </a:r>
          </a:p>
          <a:p>
            <a:pPr lvl="1"/>
            <a:r>
              <a:rPr lang="en-GB" dirty="0"/>
              <a:t>[The quick brown fox jumped over the lazy dog]</a:t>
            </a:r>
          </a:p>
          <a:p>
            <a:pPr lvl="2"/>
            <a:r>
              <a:rPr lang="en-GB" dirty="0"/>
              <a:t>[The quick brown fox jumped over the lazy dog]</a:t>
            </a:r>
          </a:p>
          <a:p>
            <a:pPr lvl="3"/>
            <a:r>
              <a:rPr lang="en-GB" dirty="0"/>
              <a:t>[The quick brown fox jumped over the lazy dog]</a:t>
            </a:r>
          </a:p>
          <a:p>
            <a:pPr lvl="4"/>
            <a:r>
              <a:rPr lang="en-GB" dirty="0"/>
              <a:t>[The quick brown fox jumped over the lazy dog]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623650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892" r:id="rId2"/>
    <p:sldLayoutId id="2147483899" r:id="rId3"/>
    <p:sldLayoutId id="2147483900" r:id="rId4"/>
    <p:sldLayoutId id="2147483901" r:id="rId5"/>
    <p:sldLayoutId id="2147483886" r:id="rId6"/>
    <p:sldLayoutId id="2147483877" r:id="rId7"/>
    <p:sldLayoutId id="2147483829" r:id="rId8"/>
    <p:sldLayoutId id="2147483839" r:id="rId9"/>
    <p:sldLayoutId id="2147483844" r:id="rId10"/>
    <p:sldLayoutId id="2147483850" r:id="rId11"/>
    <p:sldLayoutId id="2147483849" r:id="rId12"/>
    <p:sldLayoutId id="2147483851" r:id="rId13"/>
    <p:sldLayoutId id="2147483878" r:id="rId14"/>
    <p:sldLayoutId id="2147483855" r:id="rId15"/>
    <p:sldLayoutId id="2147483875" r:id="rId16"/>
    <p:sldLayoutId id="2147483881" r:id="rId17"/>
    <p:sldLayoutId id="2147483852" r:id="rId18"/>
    <p:sldLayoutId id="2147483858" r:id="rId19"/>
    <p:sldLayoutId id="2147483853" r:id="rId20"/>
    <p:sldLayoutId id="2147483859" r:id="rId21"/>
    <p:sldLayoutId id="2147483889" r:id="rId22"/>
    <p:sldLayoutId id="2147483845" r:id="rId23"/>
    <p:sldLayoutId id="2147483890" r:id="rId24"/>
    <p:sldLayoutId id="2147483888" r:id="rId25"/>
    <p:sldLayoutId id="2147483882" r:id="rId26"/>
    <p:sldLayoutId id="2147483848" r:id="rId27"/>
    <p:sldLayoutId id="2147483836" r:id="rId28"/>
    <p:sldLayoutId id="2147483837" r:id="rId29"/>
    <p:sldLayoutId id="2147483847" r:id="rId30"/>
  </p:sldLayoutIdLst>
  <p:txStyles>
    <p:titleStyle>
      <a:lvl1pPr algn="l" defTabSz="914354" rtl="0" eaLnBrk="1" latinLnBrk="0" hangingPunct="1">
        <a:lnSpc>
          <a:spcPct val="100000"/>
        </a:lnSpc>
        <a:spcBef>
          <a:spcPct val="0"/>
        </a:spcBef>
        <a:buNone/>
        <a:defRPr sz="3000" b="0" i="0" kern="1200">
          <a:solidFill>
            <a:schemeClr val="tx1"/>
          </a:solidFill>
          <a:latin typeface="GT America Rg" pitchFamily="2" charset="77"/>
          <a:ea typeface="GT America Rg" pitchFamily="2" charset="77"/>
          <a:cs typeface="GT America Rg" pitchFamily="2" charset="77"/>
        </a:defRPr>
      </a:lvl1pPr>
    </p:titleStyle>
    <p:bodyStyle>
      <a:lvl1pPr marL="0" indent="0" algn="l" defTabSz="911955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None/>
        <a:tabLst/>
        <a:defRPr sz="1800" b="0" i="0" kern="1200">
          <a:solidFill>
            <a:schemeClr val="tx1"/>
          </a:solidFill>
          <a:latin typeface="GT America Lt" pitchFamily="2" charset="77"/>
          <a:ea typeface="GT America Lt" pitchFamily="2" charset="77"/>
          <a:cs typeface="GT America Lt" pitchFamily="2" charset="77"/>
        </a:defRPr>
      </a:lvl1pPr>
      <a:lvl2pPr marL="311150" indent="-311150" algn="l" defTabSz="911955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charset="0"/>
        <a:buChar char="•"/>
        <a:tabLst/>
        <a:defRPr sz="1800" b="0" i="0" kern="1200">
          <a:solidFill>
            <a:schemeClr val="tx1"/>
          </a:solidFill>
          <a:latin typeface="GT America Lt" pitchFamily="2" charset="77"/>
          <a:ea typeface="GT America Lt" pitchFamily="2" charset="77"/>
          <a:cs typeface="GT America Lt" pitchFamily="2" charset="77"/>
        </a:defRPr>
      </a:lvl2pPr>
      <a:lvl3pPr marL="622300" indent="-311150" algn="l" defTabSz="911955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GT America Lt" pitchFamily="2" charset="77"/>
          <a:ea typeface="GT America Lt" pitchFamily="2" charset="77"/>
          <a:cs typeface="GT America Lt" pitchFamily="2" charset="77"/>
        </a:defRPr>
      </a:lvl3pPr>
      <a:lvl4pPr marL="935038" indent="-312738" algn="l" defTabSz="911955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GT America Lt" pitchFamily="2" charset="77"/>
          <a:ea typeface="GT America Lt" pitchFamily="2" charset="77"/>
          <a:cs typeface="GT America Lt" pitchFamily="2" charset="77"/>
        </a:defRPr>
      </a:lvl4pPr>
      <a:lvl5pPr marL="1246188" indent="-311150" algn="l" defTabSz="911955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GT America Lt" pitchFamily="2" charset="77"/>
          <a:ea typeface="GT America Lt" pitchFamily="2" charset="77"/>
          <a:cs typeface="GT America Lt" pitchFamily="2" charset="77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T America Rg" pitchFamily="2" charset="77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000000"/>
          </p15:clr>
        </p15:guide>
        <p15:guide id="6" pos="6675" userDrawn="1">
          <p15:clr>
            <a:srgbClr val="A4A3A4"/>
          </p15:clr>
        </p15:guide>
        <p15:guide id="9" orient="horz" pos="4110" userDrawn="1">
          <p15:clr>
            <a:srgbClr val="A4A3A4"/>
          </p15:clr>
        </p15:guide>
        <p15:guide id="17" pos="4634" userDrawn="1">
          <p15:clr>
            <a:srgbClr val="A4A3A4"/>
          </p15:clr>
        </p15:guide>
        <p15:guide id="18" pos="1232" userDrawn="1">
          <p15:clr>
            <a:srgbClr val="A4A3A4"/>
          </p15:clr>
        </p15:guide>
        <p15:guide id="19" pos="3727" userDrawn="1">
          <p15:clr>
            <a:srgbClr val="A4A3A4"/>
          </p15:clr>
        </p15:guide>
        <p15:guide id="21" pos="1005" userDrawn="1">
          <p15:clr>
            <a:srgbClr val="A4A3A4"/>
          </p15:clr>
        </p15:guide>
        <p15:guide id="34" pos="3953" userDrawn="1">
          <p15:clr>
            <a:srgbClr val="A4A3A4"/>
          </p15:clr>
        </p15:guide>
        <p15:guide id="35" pos="1912" userDrawn="1">
          <p15:clr>
            <a:srgbClr val="A4A3A4"/>
          </p15:clr>
        </p15:guide>
        <p15:guide id="36" pos="2139" userDrawn="1">
          <p15:clr>
            <a:srgbClr val="A4A3A4"/>
          </p15:clr>
        </p15:guide>
        <p15:guide id="37" pos="2819" userDrawn="1">
          <p15:clr>
            <a:srgbClr val="A4A3A4"/>
          </p15:clr>
        </p15:guide>
        <p15:guide id="38" pos="3046" userDrawn="1">
          <p15:clr>
            <a:srgbClr val="A4A3A4"/>
          </p15:clr>
        </p15:guide>
        <p15:guide id="39" pos="4861" userDrawn="1">
          <p15:clr>
            <a:srgbClr val="A4A3A4"/>
          </p15:clr>
        </p15:guide>
        <p15:guide id="40" pos="5541" userDrawn="1">
          <p15:clr>
            <a:srgbClr val="A4A3A4"/>
          </p15:clr>
        </p15:guide>
        <p15:guide id="41" pos="5768" userDrawn="1">
          <p15:clr>
            <a:srgbClr val="A4A3A4"/>
          </p15:clr>
        </p15:guide>
        <p15:guide id="42" pos="6448" userDrawn="1">
          <p15:clr>
            <a:srgbClr val="A4A3A4"/>
          </p15:clr>
        </p15:guide>
        <p15:guide id="47" pos="75" userDrawn="1">
          <p15:clr>
            <a:srgbClr val="A4A3A4"/>
          </p15:clr>
        </p15:guide>
        <p15:guide id="48" pos="7605" userDrawn="1">
          <p15:clr>
            <a:srgbClr val="A4A3A4"/>
          </p15:clr>
        </p15:guide>
        <p15:guide id="49" orient="horz" pos="4247" userDrawn="1">
          <p15:clr>
            <a:srgbClr val="A4A3A4"/>
          </p15:clr>
        </p15:guide>
        <p15:guide id="50" orient="horz" pos="73" userDrawn="1">
          <p15:clr>
            <a:srgbClr val="A4A3A4"/>
          </p15:clr>
        </p15:guide>
        <p15:guide id="53" pos="7446" userDrawn="1">
          <p15:clr>
            <a:srgbClr val="A4A3A4"/>
          </p15:clr>
        </p15:guide>
        <p15:guide id="55" pos="234" userDrawn="1">
          <p15:clr>
            <a:srgbClr val="A4A3A4"/>
          </p15:clr>
        </p15:guide>
        <p15:guide id="56" orient="horz" pos="323" userDrawn="1">
          <p15:clr>
            <a:srgbClr val="A4A3A4"/>
          </p15:clr>
        </p15:guide>
        <p15:guide id="57" orient="horz" pos="1253" userDrawn="1">
          <p15:clr>
            <a:srgbClr val="A4A3A4"/>
          </p15:clr>
        </p15:guide>
        <p15:guide id="58" orient="horz" pos="1706" userDrawn="1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20CE00-C160-716D-5C31-9FB3856B6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728662"/>
            <a:ext cx="8713787" cy="1295401"/>
          </a:xfrm>
          <a:prstGeom prst="rect">
            <a:avLst/>
          </a:prstGeom>
        </p:spPr>
        <p:txBody>
          <a:bodyPr vert="horz" lIns="54000" tIns="45720" rIns="91440" bIns="45720" rtlCol="0" anchor="t">
            <a:noAutofit/>
          </a:bodyPr>
          <a:lstStyle/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nb-NO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1D8A2C-D1DC-A9DD-AB09-53E570FE1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913" y="2205038"/>
            <a:ext cx="7273925" cy="4319587"/>
          </a:xfrm>
          <a:prstGeom prst="rect">
            <a:avLst/>
          </a:prstGeom>
        </p:spPr>
        <p:txBody>
          <a:bodyPr vert="horz" lIns="54000" tIns="45720" rIns="91440" bIns="45720" rtlCol="0">
            <a:noAutofit/>
          </a:bodyPr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</p:spTree>
    <p:extLst>
      <p:ext uri="{BB962C8B-B14F-4D97-AF65-F5344CB8AC3E}">
        <p14:creationId xmlns:p14="http://schemas.microsoft.com/office/powerpoint/2010/main" val="4187522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2" r:id="rId1"/>
    <p:sldLayoutId id="2147483903" r:id="rId2"/>
    <p:sldLayoutId id="2147483894" r:id="rId3"/>
    <p:sldLayoutId id="2147483904" r:id="rId4"/>
    <p:sldLayoutId id="2147483905" r:id="rId5"/>
    <p:sldLayoutId id="2147483893" r:id="rId6"/>
    <p:sldLayoutId id="2147483768" r:id="rId7"/>
    <p:sldLayoutId id="2147483860" r:id="rId8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0" i="0" kern="1200">
          <a:solidFill>
            <a:schemeClr val="tx1"/>
          </a:solidFill>
          <a:latin typeface="GT America Rg" pitchFamily="2" charset="77"/>
          <a:ea typeface="GT America Rg" pitchFamily="2" charset="77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600" b="0" i="0" kern="1200">
          <a:solidFill>
            <a:schemeClr val="tx1"/>
          </a:solidFill>
          <a:latin typeface="GT America Lt" pitchFamily="2" charset="77"/>
          <a:ea typeface="GT America Lt" pitchFamily="2" charset="77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459" userDrawn="1">
          <p15:clr>
            <a:srgbClr val="A4A3A4"/>
          </p15:clr>
        </p15:guide>
        <p15:guide id="3" pos="3840" userDrawn="1">
          <p15:clr>
            <a:srgbClr val="F26B43"/>
          </p15:clr>
        </p15:guide>
        <p15:guide id="5" pos="1005" userDrawn="1">
          <p15:clr>
            <a:srgbClr val="A4A3A4"/>
          </p15:clr>
        </p15:guide>
        <p15:guide id="8" orient="horz" pos="1389" userDrawn="1">
          <p15:clr>
            <a:srgbClr val="A4A3A4"/>
          </p15:clr>
        </p15:guide>
        <p15:guide id="9" pos="4861" userDrawn="1">
          <p15:clr>
            <a:srgbClr val="A4A3A4"/>
          </p15:clr>
        </p15:guide>
        <p15:guide id="11" orient="horz" pos="4110" userDrawn="1">
          <p15:clr>
            <a:srgbClr val="A4A3A4"/>
          </p15:clr>
        </p15:guide>
        <p15:guide id="13" pos="75" userDrawn="1">
          <p15:clr>
            <a:srgbClr val="A4A3A4"/>
          </p15:clr>
        </p15:guide>
        <p15:guide id="14" orient="horz" pos="73" userDrawn="1">
          <p15:clr>
            <a:srgbClr val="A4A3A4"/>
          </p15:clr>
        </p15:guide>
        <p15:guide id="15" pos="7605" userDrawn="1">
          <p15:clr>
            <a:srgbClr val="A4A3A4"/>
          </p15:clr>
        </p15:guide>
        <p15:guide id="16" orient="horz" pos="4247" userDrawn="1">
          <p15:clr>
            <a:srgbClr val="A4A3A4"/>
          </p15:clr>
        </p15:guide>
        <p15:guide id="17" pos="1232" userDrawn="1">
          <p15:clr>
            <a:srgbClr val="A4A3A4"/>
          </p15:clr>
        </p15:guide>
        <p15:guide id="18" pos="1912" userDrawn="1">
          <p15:clr>
            <a:srgbClr val="A4A3A4"/>
          </p15:clr>
        </p15:guide>
        <p15:guide id="19" pos="2139" userDrawn="1">
          <p15:clr>
            <a:srgbClr val="A4A3A4"/>
          </p15:clr>
        </p15:guide>
        <p15:guide id="20" pos="2819" userDrawn="1">
          <p15:clr>
            <a:srgbClr val="A4A3A4"/>
          </p15:clr>
        </p15:guide>
        <p15:guide id="21" pos="3046" userDrawn="1">
          <p15:clr>
            <a:srgbClr val="A4A3A4"/>
          </p15:clr>
        </p15:guide>
        <p15:guide id="22" pos="3727" userDrawn="1">
          <p15:clr>
            <a:srgbClr val="A4A3A4"/>
          </p15:clr>
        </p15:guide>
        <p15:guide id="23" pos="3953" userDrawn="1">
          <p15:clr>
            <a:srgbClr val="A4A3A4"/>
          </p15:clr>
        </p15:guide>
        <p15:guide id="24" pos="4634" userDrawn="1">
          <p15:clr>
            <a:srgbClr val="A4A3A4"/>
          </p15:clr>
        </p15:guide>
        <p15:guide id="26" pos="5541" userDrawn="1">
          <p15:clr>
            <a:srgbClr val="A4A3A4"/>
          </p15:clr>
        </p15:guide>
        <p15:guide id="27" pos="5768" userDrawn="1">
          <p15:clr>
            <a:srgbClr val="A4A3A4"/>
          </p15:clr>
        </p15:guide>
        <p15:guide id="28" pos="6448" userDrawn="1">
          <p15:clr>
            <a:srgbClr val="A4A3A4"/>
          </p15:clr>
        </p15:guide>
        <p15:guide id="29" pos="6675" userDrawn="1">
          <p15:clr>
            <a:srgbClr val="A4A3A4"/>
          </p15:clr>
        </p15:guide>
        <p15:guide id="30" pos="7355" userDrawn="1">
          <p15:clr>
            <a:srgbClr val="A4A3A4"/>
          </p15:clr>
        </p15:guide>
        <p15:guide id="31" pos="279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252811F-37E5-400A-0475-0E670CB9796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Kotlin </a:t>
            </a:r>
            <a:r>
              <a:rPr lang="en-US" dirty="0" err="1"/>
              <a:t>faggruppe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7EF8FDE-98D1-140C-9102-9341FB6D6AB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12.11.2025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Workshop 1: Test-Drevet Spring Boot API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Thomas Oddsund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475" y="512763"/>
            <a:ext cx="6150512" cy="706875"/>
          </a:xfrm>
        </p:spPr>
        <p:txBody>
          <a:bodyPr anchor="t">
            <a:normAutofit/>
          </a:bodyPr>
          <a:lstStyle/>
          <a:p>
            <a:r>
              <a:rPr dirty="0"/>
              <a:t>Dagens 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71475" y="1989138"/>
            <a:ext cx="6150511" cy="4535487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>Del 1: TDD med Spring Boot Controllers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>Del 2: Service-lag testing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Litta preview </a:t>
            </a:r>
            <a:r>
              <a:rPr dirty="0"/>
              <a:t>Workshop </a:t>
            </a:r>
            <a:r>
              <a:rPr lang="en-US" dirty="0"/>
              <a:t>2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475" y="512763"/>
            <a:ext cx="7345364" cy="706875"/>
          </a:xfrm>
        </p:spPr>
        <p:txBody>
          <a:bodyPr anchor="t">
            <a:normAutofit/>
          </a:bodyPr>
          <a:lstStyle/>
          <a:p>
            <a:r>
              <a:t>Recap fra forrige gang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71474" y="1989139"/>
            <a:ext cx="5400000" cy="453548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 err="1"/>
              <a:t>Forrige</a:t>
            </a:r>
            <a:r>
              <a:rPr lang="en-US" dirty="0"/>
              <a:t> gang:</a:t>
            </a:r>
          </a:p>
          <a:p>
            <a:pPr>
              <a:lnSpc>
                <a:spcPct val="90000"/>
              </a:lnSpc>
            </a:pPr>
            <a:r>
              <a:rPr lang="en-US" dirty="0"/>
              <a:t>✓ Assertions (</a:t>
            </a:r>
            <a:r>
              <a:rPr lang="en-US" dirty="0" err="1"/>
              <a:t>AssertK</a:t>
            </a:r>
            <a:r>
              <a:rPr lang="en-US" dirty="0"/>
              <a:t>, </a:t>
            </a:r>
            <a:r>
              <a:rPr lang="en-US" dirty="0" err="1"/>
              <a:t>Kotest</a:t>
            </a:r>
            <a:r>
              <a:rPr lang="en-US" dirty="0"/>
              <a:t>, Atrium)</a:t>
            </a:r>
          </a:p>
          <a:p>
            <a:pPr>
              <a:lnSpc>
                <a:spcPct val="90000"/>
              </a:lnSpc>
            </a:pPr>
            <a:r>
              <a:rPr lang="en-US" dirty="0"/>
              <a:t>✓ AAA pattern (Arrange-Act-Assert)</a:t>
            </a:r>
          </a:p>
          <a:p>
            <a:pPr>
              <a:lnSpc>
                <a:spcPct val="90000"/>
              </a:lnSpc>
            </a:pPr>
            <a:r>
              <a:rPr lang="en-US" dirty="0"/>
              <a:t>✓ </a:t>
            </a:r>
            <a:r>
              <a:rPr lang="en-US" dirty="0" err="1"/>
              <a:t>MockK</a:t>
            </a:r>
            <a:r>
              <a:rPr lang="en-US" dirty="0"/>
              <a:t> basics (every, verify)</a:t>
            </a:r>
          </a:p>
          <a:p>
            <a:pPr>
              <a:lnSpc>
                <a:spcPct val="90000"/>
              </a:lnSpc>
            </a:pPr>
            <a:r>
              <a:rPr lang="en-US" dirty="0"/>
              <a:t>✓ Fakes vs Mocks</a:t>
            </a:r>
          </a:p>
          <a:p>
            <a:pPr>
              <a:lnSpc>
                <a:spcPct val="90000"/>
              </a:lnSpc>
            </a:pPr>
            <a:r>
              <a:rPr lang="en-US" dirty="0"/>
              <a:t>✓ </a:t>
            </a:r>
            <a:r>
              <a:rPr lang="en-US" dirty="0" err="1"/>
              <a:t>Testpyramiden</a:t>
            </a:r>
            <a:endParaRPr lang="en-US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A191251-20DD-3295-3164-D7B9E843AE6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20525" y="1989139"/>
            <a:ext cx="5400000" cy="4535486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I </a:t>
            </a:r>
            <a:r>
              <a:rPr lang="en-US" dirty="0" err="1"/>
              <a:t>dag</a:t>
            </a:r>
            <a:r>
              <a:rPr lang="en-US" dirty="0"/>
              <a:t> </a:t>
            </a:r>
            <a:r>
              <a:rPr lang="en-US" dirty="0" err="1"/>
              <a:t>bygger</a:t>
            </a:r>
            <a:r>
              <a:rPr lang="en-US" dirty="0"/>
              <a:t> vi </a:t>
            </a:r>
            <a:r>
              <a:rPr lang="en-US" dirty="0" err="1"/>
              <a:t>videre</a:t>
            </a:r>
            <a:r>
              <a:rPr lang="en-US" dirty="0"/>
              <a:t>:</a:t>
            </a:r>
          </a:p>
          <a:p>
            <a:pPr>
              <a:lnSpc>
                <a:spcPct val="90000"/>
              </a:lnSpc>
            </a:pPr>
            <a:r>
              <a:rPr lang="en-US" dirty="0"/>
              <a:t>→ </a:t>
            </a:r>
            <a:r>
              <a:rPr lang="en-US" dirty="0" err="1"/>
              <a:t>Anvende</a:t>
            </a:r>
            <a:r>
              <a:rPr lang="en-US" dirty="0"/>
              <a:t> TDD </a:t>
            </a:r>
            <a:r>
              <a:rPr lang="en-US" dirty="0" err="1"/>
              <a:t>i</a:t>
            </a:r>
            <a:r>
              <a:rPr lang="en-US" dirty="0"/>
              <a:t> Spring Boot context</a:t>
            </a:r>
          </a:p>
          <a:p>
            <a:pPr>
              <a:lnSpc>
                <a:spcPct val="90000"/>
              </a:lnSpc>
            </a:pPr>
            <a:r>
              <a:rPr lang="en-US" dirty="0"/>
              <a:t>→ Outside-in approach </a:t>
            </a:r>
            <a:r>
              <a:rPr lang="en-US" dirty="0" err="1"/>
              <a:t>fra</a:t>
            </a:r>
            <a:r>
              <a:rPr lang="en-US" dirty="0"/>
              <a:t> HTTP-</a:t>
            </a:r>
            <a:r>
              <a:rPr lang="en-US" dirty="0" err="1"/>
              <a:t>laget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→ Spring-</a:t>
            </a:r>
            <a:r>
              <a:rPr lang="en-US" dirty="0" err="1"/>
              <a:t>spesifikke</a:t>
            </a:r>
            <a:r>
              <a:rPr lang="en-US" dirty="0"/>
              <a:t> testing patterns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Del 1: TDD med Spring Boot Controllers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Top-down</a:t>
            </a:r>
            <a:r>
              <a:rPr dirty="0"/>
              <a:t> TDD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AKA Outside-in, London, </a:t>
            </a:r>
            <a:r>
              <a:rPr lang="en-US" dirty="0" err="1"/>
              <a:t>mockist</a:t>
            </a:r>
            <a:r>
              <a:rPr lang="en-US" dirty="0"/>
              <a:t>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>Start </a:t>
            </a:r>
            <a:r>
              <a:rPr dirty="0" err="1"/>
              <a:t>fra</a:t>
            </a:r>
            <a:r>
              <a:rPr dirty="0"/>
              <a:t> </a:t>
            </a:r>
            <a:r>
              <a:rPr lang="en-US" dirty="0" err="1"/>
              <a:t>konsuments</a:t>
            </a:r>
            <a:r>
              <a:rPr lang="en-US" dirty="0"/>
              <a:t> </a:t>
            </a:r>
            <a:r>
              <a:rPr dirty="0" err="1"/>
              <a:t>perspektiv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Kan drive </a:t>
            </a:r>
            <a:r>
              <a:rPr lang="en-US" dirty="0" err="1"/>
              <a:t>implementasjon</a:t>
            </a:r>
            <a:endParaRPr dirty="0"/>
          </a:p>
          <a:p>
            <a:endParaRPr dirty="0"/>
          </a:p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0A76248-EC75-7ED3-06C0-4F886401FC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HTTP Request</a:t>
            </a:r>
          </a:p>
          <a:p>
            <a:pPr algn="ctr"/>
            <a:r>
              <a:rPr lang="en-US" dirty="0"/>
              <a:t>    ↓</a:t>
            </a:r>
          </a:p>
          <a:p>
            <a:pPr algn="ctr"/>
            <a:r>
              <a:rPr lang="en-US" dirty="0"/>
              <a:t>Controller (de </a:t>
            </a:r>
            <a:r>
              <a:rPr lang="en-US" dirty="0" err="1"/>
              <a:t>første</a:t>
            </a:r>
            <a:r>
              <a:rPr lang="en-US" dirty="0"/>
              <a:t> </a:t>
            </a:r>
            <a:r>
              <a:rPr lang="en-US" dirty="0" err="1"/>
              <a:t>testene</a:t>
            </a:r>
            <a:r>
              <a:rPr lang="en-US" dirty="0"/>
              <a:t>)</a:t>
            </a:r>
          </a:p>
          <a:p>
            <a:pPr algn="ctr"/>
            <a:r>
              <a:rPr lang="en-US" dirty="0"/>
              <a:t>    ↓</a:t>
            </a:r>
          </a:p>
          <a:p>
            <a:pPr algn="ctr"/>
            <a:r>
              <a:rPr lang="en-US" dirty="0"/>
              <a:t>Service (interface </a:t>
            </a:r>
            <a:r>
              <a:rPr lang="en-US" dirty="0" err="1"/>
              <a:t>oppstår</a:t>
            </a:r>
            <a:r>
              <a:rPr lang="en-US" dirty="0"/>
              <a:t> </a:t>
            </a:r>
            <a:r>
              <a:rPr lang="en-US" dirty="0" err="1"/>
              <a:t>fra</a:t>
            </a:r>
            <a:r>
              <a:rPr lang="en-US" dirty="0"/>
              <a:t> controller-test)</a:t>
            </a:r>
          </a:p>
          <a:p>
            <a:pPr algn="ctr"/>
            <a:r>
              <a:rPr lang="en-US" dirty="0"/>
              <a:t>    ↓</a:t>
            </a:r>
          </a:p>
          <a:p>
            <a:pPr algn="ctr"/>
            <a:r>
              <a:rPr lang="en-US" dirty="0"/>
              <a:t>Repository (interface </a:t>
            </a:r>
            <a:r>
              <a:rPr lang="en-US" dirty="0" err="1"/>
              <a:t>oppstår</a:t>
            </a:r>
            <a:r>
              <a:rPr lang="en-US" dirty="0"/>
              <a:t> </a:t>
            </a:r>
            <a:r>
              <a:rPr lang="en-US" dirty="0" err="1"/>
              <a:t>fra</a:t>
            </a:r>
            <a:r>
              <a:rPr lang="en-US" dirty="0"/>
              <a:t> service-test)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68F1968-132E-A516-AB33-DF43132D451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Mao: Vi </a:t>
            </a:r>
            <a:r>
              <a:rPr lang="en-US" dirty="0" err="1"/>
              <a:t>skal</a:t>
            </a:r>
            <a:r>
              <a:rPr lang="en-US" dirty="0"/>
              <a:t> </a:t>
            </a:r>
            <a:r>
              <a:rPr lang="en-US" dirty="0" err="1"/>
              <a:t>starte</a:t>
            </a:r>
            <a:r>
              <a:rPr lang="en-US" dirty="0"/>
              <a:t> med API-</a:t>
            </a:r>
            <a:r>
              <a:rPr lang="en-US" dirty="0" err="1"/>
              <a:t>kontrakten</a:t>
            </a:r>
            <a:r>
              <a:rPr lang="en-US" dirty="0"/>
              <a:t>, </a:t>
            </a:r>
            <a:r>
              <a:rPr lang="en-US" dirty="0" err="1"/>
              <a:t>ikke</a:t>
            </a:r>
            <a:r>
              <a:rPr lang="en-US" dirty="0"/>
              <a:t> </a:t>
            </a:r>
            <a:r>
              <a:rPr lang="en-US" dirty="0" err="1"/>
              <a:t>domenelogikken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uiExpand="1" build="p"/>
      <p:bldP spid="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0D9DDCD-BD99-08CD-2772-0D6D9E8B2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Men </a:t>
            </a:r>
            <a:r>
              <a:rPr lang="en-US" dirty="0" err="1"/>
              <a:t>ingen</a:t>
            </a:r>
            <a:r>
              <a:rPr lang="en-US" dirty="0"/>
              <a:t> </a:t>
            </a:r>
            <a:r>
              <a:rPr lang="en-US" dirty="0" err="1"/>
              <a:t>bryr</a:t>
            </a:r>
            <a:r>
              <a:rPr lang="en-US" dirty="0"/>
              <a:t> seg </a:t>
            </a:r>
            <a:r>
              <a:rPr lang="en-US" dirty="0" err="1"/>
              <a:t>egentlig</a:t>
            </a:r>
            <a:r>
              <a:rPr lang="en-US" dirty="0"/>
              <a:t> </a:t>
            </a:r>
            <a:r>
              <a:rPr lang="en-US" dirty="0" err="1"/>
              <a:t>sånn</a:t>
            </a:r>
            <a:r>
              <a:rPr lang="en-US" dirty="0"/>
              <a:t> </a:t>
            </a:r>
            <a:r>
              <a:rPr lang="en-US" dirty="0" err="1"/>
              <a:t>veldig</a:t>
            </a:r>
            <a:r>
              <a:rPr lang="en-US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2969588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Spring Boot Test Slices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16C06E9-6CCB-5A4C-AC6B-A06E9FB301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Starter </a:t>
            </a:r>
            <a:r>
              <a:rPr lang="en-US" dirty="0" err="1"/>
              <a:t>opp</a:t>
            </a:r>
            <a:r>
              <a:rPr lang="en-US" dirty="0"/>
              <a:t> </a:t>
            </a:r>
            <a:r>
              <a:rPr lang="en-US" dirty="0" err="1"/>
              <a:t>forskjellige</a:t>
            </a:r>
            <a:r>
              <a:rPr lang="en-US" dirty="0"/>
              <a:t> </a:t>
            </a:r>
            <a:r>
              <a:rPr lang="en-US" dirty="0" err="1"/>
              <a:t>deler</a:t>
            </a:r>
            <a:r>
              <a:rPr lang="en-US" dirty="0"/>
              <a:t> av </a:t>
            </a:r>
            <a:r>
              <a:rPr lang="en-US" dirty="0" err="1"/>
              <a:t>applikasjonen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@</a:t>
            </a:r>
            <a:r>
              <a:rPr lang="en-US" dirty="0" err="1"/>
              <a:t>SpringBootTest</a:t>
            </a:r>
            <a:r>
              <a:rPr lang="en-US" dirty="0"/>
              <a:t> – hele </a:t>
            </a:r>
            <a:r>
              <a:rPr lang="en-US" dirty="0" err="1"/>
              <a:t>appen</a:t>
            </a:r>
            <a:r>
              <a:rPr lang="en-US" dirty="0"/>
              <a:t>, </a:t>
            </a:r>
            <a:r>
              <a:rPr lang="en-US" dirty="0" err="1"/>
              <a:t>treig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@</a:t>
            </a:r>
            <a:r>
              <a:rPr lang="en-US" dirty="0" err="1"/>
              <a:t>WebMvcTest</a:t>
            </a:r>
            <a:r>
              <a:rPr lang="en-US" dirty="0"/>
              <a:t> – </a:t>
            </a:r>
            <a:r>
              <a:rPr lang="en-US" dirty="0" err="1"/>
              <a:t>kun</a:t>
            </a:r>
            <a:r>
              <a:rPr lang="en-US" dirty="0"/>
              <a:t> web-</a:t>
            </a:r>
            <a:r>
              <a:rPr lang="en-US" dirty="0" err="1"/>
              <a:t>laget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@</a:t>
            </a:r>
            <a:r>
              <a:rPr lang="en-US" dirty="0" err="1"/>
              <a:t>DataJpaTest</a:t>
            </a:r>
            <a:r>
              <a:rPr lang="en-US" dirty="0"/>
              <a:t> – </a:t>
            </a:r>
            <a:r>
              <a:rPr lang="en-US" dirty="0" err="1"/>
              <a:t>kun</a:t>
            </a:r>
            <a:r>
              <a:rPr lang="en-US" dirty="0"/>
              <a:t> JPA-ting for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@</a:t>
            </a:r>
            <a:r>
              <a:rPr lang="en-US" dirty="0" err="1"/>
              <a:t>DataJdbcTest</a:t>
            </a:r>
            <a:r>
              <a:rPr lang="en-US" dirty="0"/>
              <a:t> – </a:t>
            </a:r>
            <a:r>
              <a:rPr lang="en-US" dirty="0" err="1"/>
              <a:t>kun</a:t>
            </a:r>
            <a:r>
              <a:rPr lang="en-US" dirty="0"/>
              <a:t> JDBC-ting(</a:t>
            </a:r>
            <a:r>
              <a:rPr lang="en-US" dirty="0" err="1"/>
              <a:t>datasource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Og </a:t>
            </a:r>
            <a:r>
              <a:rPr lang="en-US" dirty="0" err="1"/>
              <a:t>enda</a:t>
            </a:r>
            <a:r>
              <a:rPr lang="en-US" dirty="0"/>
              <a:t> </a:t>
            </a:r>
            <a:r>
              <a:rPr lang="en-US" dirty="0" err="1"/>
              <a:t>flere</a:t>
            </a:r>
            <a:r>
              <a:rPr lang="en-US" dirty="0"/>
              <a:t>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Minste</a:t>
            </a:r>
            <a:r>
              <a:rPr lang="en-US" dirty="0"/>
              <a:t> </a:t>
            </a:r>
            <a:r>
              <a:rPr lang="en-US" dirty="0" err="1"/>
              <a:t>typen</a:t>
            </a:r>
            <a:r>
              <a:rPr lang="en-US" dirty="0"/>
              <a:t> – </a:t>
            </a:r>
            <a:r>
              <a:rPr lang="en-US" dirty="0" err="1"/>
              <a:t>raskere</a:t>
            </a:r>
            <a:r>
              <a:rPr lang="en-US" dirty="0"/>
              <a:t> tester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MockMvc - HTTP testing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074B22-C981-F6C3-4903-16B4338057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@</a:t>
            </a:r>
            <a:r>
              <a:rPr lang="en-US" dirty="0" err="1"/>
              <a:t>WebMvcTest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.. </a:t>
            </a:r>
            <a:r>
              <a:rPr lang="en-US" dirty="0" err="1"/>
              <a:t>gir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mockMvc</a:t>
            </a:r>
            <a:r>
              <a:rPr lang="en-US" dirty="0"/>
              <a:t>, </a:t>
            </a:r>
            <a:r>
              <a:rPr lang="en-US" dirty="0" err="1"/>
              <a:t>som</a:t>
            </a:r>
            <a:r>
              <a:rPr lang="en-US" dirty="0"/>
              <a:t> lar </a:t>
            </a:r>
            <a:r>
              <a:rPr lang="en-US" dirty="0" err="1"/>
              <a:t>oss</a:t>
            </a:r>
            <a:r>
              <a:rPr lang="en-US" dirty="0"/>
              <a:t> </a:t>
            </a:r>
            <a:r>
              <a:rPr lang="en-US" dirty="0" err="1"/>
              <a:t>gjøre</a:t>
            </a:r>
            <a:r>
              <a:rPr lang="en-US" dirty="0"/>
              <a:t> </a:t>
            </a:r>
            <a:r>
              <a:rPr lang="en-US" dirty="0" err="1"/>
              <a:t>dette</a:t>
            </a:r>
            <a:r>
              <a:rPr lang="en-US" dirty="0"/>
              <a:t>;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60B0A6B-F3FE-99DE-21BE-3C65ADFB4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7525" y="2159000"/>
            <a:ext cx="6223000" cy="2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Sealed classes for feilhåndtering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Fordeler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Type-safe error handling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Exhaustive when expressions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Kompilator</a:t>
            </a:r>
            <a:r>
              <a:rPr lang="en-US" dirty="0"/>
              <a:t> </a:t>
            </a:r>
            <a:r>
              <a:rPr lang="en-US" dirty="0" err="1"/>
              <a:t>hjelper</a:t>
            </a:r>
            <a:r>
              <a:rPr lang="en-US" dirty="0"/>
              <a:t> deg</a:t>
            </a:r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CB31AF-013E-E367-D927-47F6DC26B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5025" y="2044700"/>
            <a:ext cx="5905500" cy="2768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HTTP status mapping med sealed classes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EC18C9-B46C-6416-2E7A-F59F83D746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Kompilator</a:t>
            </a:r>
            <a:r>
              <a:rPr lang="en-US" dirty="0"/>
              <a:t> </a:t>
            </a:r>
            <a:r>
              <a:rPr lang="en-US" dirty="0" err="1"/>
              <a:t>tvinger</a:t>
            </a:r>
            <a:r>
              <a:rPr lang="en-US" dirty="0"/>
              <a:t> deg </a:t>
            </a:r>
            <a:r>
              <a:rPr lang="en-US" dirty="0" err="1"/>
              <a:t>til</a:t>
            </a:r>
            <a:r>
              <a:rPr lang="en-US" dirty="0"/>
              <a:t> </a:t>
            </a:r>
            <a:r>
              <a:rPr lang="en-US" dirty="0" err="1"/>
              <a:t>å</a:t>
            </a:r>
            <a:r>
              <a:rPr lang="en-US" dirty="0"/>
              <a:t> </a:t>
            </a:r>
            <a:r>
              <a:rPr lang="en-US" dirty="0" err="1"/>
              <a:t>håndtere</a:t>
            </a:r>
            <a:r>
              <a:rPr lang="en-US" dirty="0"/>
              <a:t> alle cases!</a:t>
            </a:r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9719133-C2C2-7A01-C55D-D500176CB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7525" y="2400300"/>
            <a:ext cx="6223000" cy="2057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Parprogrammering</a:t>
            </a:r>
            <a:r>
              <a:rPr lang="en-US" dirty="0"/>
              <a:t> – tips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Driver: Har keyboard, </a:t>
            </a:r>
            <a:r>
              <a:rPr lang="en-US" dirty="0" err="1"/>
              <a:t>skriver</a:t>
            </a:r>
            <a:r>
              <a:rPr lang="en-US" dirty="0"/>
              <a:t> </a:t>
            </a:r>
            <a:r>
              <a:rPr lang="en-US" dirty="0" err="1"/>
              <a:t>kode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Navigator: </a:t>
            </a:r>
            <a:r>
              <a:rPr lang="en-US" dirty="0" err="1"/>
              <a:t>Tenker</a:t>
            </a:r>
            <a:r>
              <a:rPr lang="en-US" dirty="0"/>
              <a:t> </a:t>
            </a:r>
            <a:r>
              <a:rPr lang="en-US" dirty="0" err="1"/>
              <a:t>strategisk</a:t>
            </a:r>
            <a:r>
              <a:rPr lang="en-US" dirty="0"/>
              <a:t>, </a:t>
            </a:r>
            <a:r>
              <a:rPr lang="en-US" dirty="0" err="1"/>
              <a:t>fanger</a:t>
            </a:r>
            <a:r>
              <a:rPr lang="en-US" dirty="0"/>
              <a:t> </a:t>
            </a:r>
            <a:r>
              <a:rPr lang="en-US" dirty="0" err="1"/>
              <a:t>feil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E357D4-8372-A7C4-2519-E1C565011D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Bytt</a:t>
            </a:r>
            <a:r>
              <a:rPr lang="en-US" dirty="0"/>
              <a:t> </a:t>
            </a:r>
            <a:r>
              <a:rPr lang="en-US" dirty="0" err="1"/>
              <a:t>hvert</a:t>
            </a:r>
            <a:r>
              <a:rPr lang="en-US" dirty="0"/>
              <a:t> 10. </a:t>
            </a:r>
            <a:r>
              <a:rPr lang="en-US" dirty="0" err="1"/>
              <a:t>minutt</a:t>
            </a:r>
            <a:endParaRPr lang="en-US" dirty="0"/>
          </a:p>
          <a:p>
            <a:pPr marL="596900" lvl="1" indent="-285750">
              <a:buFont typeface="Arial" panose="020B0604020202020204" pitchFamily="34" charset="0"/>
              <a:buChar char="•"/>
            </a:pPr>
            <a:r>
              <a:rPr lang="en-US" dirty="0"/>
              <a:t>10-15 </a:t>
            </a:r>
            <a:r>
              <a:rPr lang="en-US" dirty="0" err="1"/>
              <a:t>minutter</a:t>
            </a:r>
            <a:r>
              <a:rPr lang="en-US" dirty="0"/>
              <a:t> </a:t>
            </a:r>
            <a:r>
              <a:rPr lang="en-US" dirty="0" err="1"/>
              <a:t>virker</a:t>
            </a:r>
            <a:r>
              <a:rPr lang="en-US" dirty="0"/>
              <a:t> </a:t>
            </a:r>
            <a:r>
              <a:rPr lang="en-US" dirty="0" err="1"/>
              <a:t>å</a:t>
            </a:r>
            <a:r>
              <a:rPr lang="en-US" dirty="0"/>
              <a:t> </a:t>
            </a:r>
            <a:r>
              <a:rPr lang="en-US" dirty="0" err="1"/>
              <a:t>være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god </a:t>
            </a:r>
            <a:r>
              <a:rPr lang="en-US" dirty="0" err="1"/>
              <a:t>lengde</a:t>
            </a:r>
            <a:endParaRPr lang="en-US" dirty="0"/>
          </a:p>
          <a:p>
            <a:pPr marL="596900" lvl="1" indent="-285750">
              <a:buFont typeface="Arial" panose="020B0604020202020204" pitchFamily="34" charset="0"/>
              <a:buChar char="•"/>
            </a:pPr>
            <a:r>
              <a:rPr lang="en-US" dirty="0"/>
              <a:t>La </a:t>
            </a:r>
            <a:r>
              <a:rPr lang="en-US" dirty="0" err="1"/>
              <a:t>gjerne</a:t>
            </a:r>
            <a:r>
              <a:rPr lang="en-US" dirty="0"/>
              <a:t> </a:t>
            </a:r>
            <a:r>
              <a:rPr lang="en-US" dirty="0" err="1"/>
              <a:t>begge</a:t>
            </a:r>
            <a:r>
              <a:rPr lang="en-US" dirty="0"/>
              <a:t> </a:t>
            </a:r>
            <a:r>
              <a:rPr lang="en-US" dirty="0" err="1"/>
              <a:t>prøve</a:t>
            </a:r>
            <a:r>
              <a:rPr lang="en-US" dirty="0"/>
              <a:t> </a:t>
            </a:r>
            <a:r>
              <a:rPr lang="en-US" dirty="0" err="1"/>
              <a:t>begge</a:t>
            </a:r>
            <a:r>
              <a:rPr lang="en-US" dirty="0"/>
              <a:t> roller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Rød test -&gt; Grønn test -&gt; Refactor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Skriv</a:t>
            </a:r>
            <a:r>
              <a:rPr lang="en-US" dirty="0"/>
              <a:t> </a:t>
            </a:r>
            <a:r>
              <a:rPr lang="en-US" dirty="0" err="1"/>
              <a:t>akkurat</a:t>
            </a:r>
            <a:r>
              <a:rPr lang="en-US" dirty="0"/>
              <a:t> </a:t>
            </a:r>
            <a:r>
              <a:rPr lang="en-US" dirty="0" err="1"/>
              <a:t>nok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at </a:t>
            </a:r>
            <a:r>
              <a:rPr lang="en-US" dirty="0" err="1"/>
              <a:t>testen</a:t>
            </a:r>
            <a:r>
              <a:rPr lang="en-US" dirty="0"/>
              <a:t> </a:t>
            </a:r>
            <a:r>
              <a:rPr lang="en-US" dirty="0" err="1"/>
              <a:t>blir</a:t>
            </a:r>
            <a:r>
              <a:rPr lang="en-US" dirty="0"/>
              <a:t> </a:t>
            </a:r>
            <a:r>
              <a:rPr lang="en-US" dirty="0" err="1"/>
              <a:t>grønn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2E1B9A1-350F-9409-DCC9-898C50723CD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220525" y="2889251"/>
            <a:ext cx="3600000" cy="363537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Snakk</a:t>
            </a:r>
            <a:r>
              <a:rPr lang="en-US" dirty="0"/>
              <a:t> </a:t>
            </a:r>
            <a:r>
              <a:rPr lang="en-US" dirty="0" err="1"/>
              <a:t>høyt</a:t>
            </a:r>
            <a:r>
              <a:rPr lang="en-US" dirty="0"/>
              <a:t> om </a:t>
            </a:r>
            <a:r>
              <a:rPr lang="en-US" dirty="0" err="1"/>
              <a:t>hva</a:t>
            </a:r>
            <a:r>
              <a:rPr lang="en-US" dirty="0"/>
              <a:t> </a:t>
            </a:r>
            <a:r>
              <a:rPr lang="en-US" dirty="0" err="1"/>
              <a:t>dere</a:t>
            </a:r>
            <a:r>
              <a:rPr lang="en-US" dirty="0"/>
              <a:t> </a:t>
            </a:r>
            <a:r>
              <a:rPr lang="en-US" dirty="0" err="1"/>
              <a:t>tenker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Spør</a:t>
            </a:r>
            <a:r>
              <a:rPr lang="en-US" dirty="0"/>
              <a:t> </a:t>
            </a:r>
            <a:r>
              <a:rPr lang="en-US" dirty="0" err="1"/>
              <a:t>hvis</a:t>
            </a:r>
            <a:r>
              <a:rPr lang="en-US" dirty="0"/>
              <a:t> </a:t>
            </a:r>
            <a:r>
              <a:rPr lang="en-US" dirty="0" err="1"/>
              <a:t>noe</a:t>
            </a:r>
            <a:r>
              <a:rPr lang="en-US" dirty="0"/>
              <a:t> er </a:t>
            </a:r>
            <a:r>
              <a:rPr lang="en-US" dirty="0" err="1"/>
              <a:t>uklart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 om pause </a:t>
            </a:r>
            <a:r>
              <a:rPr lang="en-US" dirty="0" err="1"/>
              <a:t>hvis</a:t>
            </a:r>
            <a:r>
              <a:rPr lang="en-US" dirty="0"/>
              <a:t> du </a:t>
            </a:r>
            <a:r>
              <a:rPr lang="en-US" dirty="0" err="1"/>
              <a:t>trenger</a:t>
            </a:r>
            <a:r>
              <a:rPr lang="en-US" dirty="0"/>
              <a:t> det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7B3EB74-3B9D-330E-744B-7025DDC50C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Driver/Navigator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68C13AE-C72C-B2F9-15CD-2225945EEA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err="1"/>
              <a:t>Arbeidsmetode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B7554FD-8871-CD4B-AF05-0F225B4E1FC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 err="1"/>
              <a:t>Samarbeid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build="p"/>
      <p:bldP spid="9" grpId="0" build="p"/>
      <p:bldP spid="10" grpId="0" build="p"/>
      <p:bldP spid="11" grpId="0" build="p"/>
      <p:bldP spid="1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time!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dirty="0" err="1"/>
              <a:t>Første</a:t>
            </a:r>
            <a:r>
              <a:rPr dirty="0"/>
              <a:t> endpoint med TDD</a:t>
            </a:r>
            <a:r>
              <a:rPr lang="en-US" dirty="0"/>
              <a:t>(</a:t>
            </a:r>
            <a:r>
              <a:rPr dirty="0"/>
              <a:t>POST /</a:t>
            </a:r>
            <a:r>
              <a:rPr dirty="0" err="1"/>
              <a:t>api</a:t>
            </a:r>
            <a:r>
              <a:rPr dirty="0"/>
              <a:t>/</a:t>
            </a:r>
            <a:r>
              <a:rPr dirty="0" err="1"/>
              <a:t>ordrer</a:t>
            </a:r>
            <a:r>
              <a:rPr dirty="0"/>
              <a:t>/</a:t>
            </a:r>
            <a:r>
              <a:rPr dirty="0" err="1"/>
              <a:t>valider</a:t>
            </a:r>
            <a:r>
              <a:rPr lang="en-US" dirty="0"/>
              <a:t>)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Parprogrammering - Oppgaver Del 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1. </a:t>
            </a:r>
            <a:r>
              <a:rPr dirty="0" err="1"/>
              <a:t>TotalForLav</a:t>
            </a:r>
            <a:r>
              <a:rPr dirty="0"/>
              <a:t> </a:t>
            </a:r>
            <a:r>
              <a:rPr dirty="0" err="1"/>
              <a:t>validering</a:t>
            </a:r>
            <a:endParaRPr dirty="0"/>
          </a:p>
          <a:p>
            <a:r>
              <a:rPr dirty="0"/>
              <a:t>2. </a:t>
            </a:r>
            <a:r>
              <a:rPr dirty="0" err="1"/>
              <a:t>KundeIkkeFunnet</a:t>
            </a:r>
            <a:r>
              <a:rPr dirty="0"/>
              <a:t> </a:t>
            </a:r>
            <a:r>
              <a:rPr dirty="0" err="1"/>
              <a:t>validering</a:t>
            </a:r>
            <a:endParaRPr dirty="0"/>
          </a:p>
          <a:p>
            <a:r>
              <a:rPr dirty="0"/>
              <a:t>3. </a:t>
            </a:r>
            <a:r>
              <a:rPr dirty="0" err="1"/>
              <a:t>KundeInaktiv</a:t>
            </a:r>
            <a:r>
              <a:rPr dirty="0"/>
              <a:t> </a:t>
            </a:r>
            <a:r>
              <a:rPr dirty="0" err="1"/>
              <a:t>validering</a:t>
            </a:r>
            <a:endParaRPr dirty="0"/>
          </a:p>
          <a:p>
            <a:r>
              <a:rPr dirty="0"/>
              <a:t>4. </a:t>
            </a:r>
            <a:r>
              <a:rPr dirty="0" err="1"/>
              <a:t>UtAvLager</a:t>
            </a:r>
            <a:r>
              <a:rPr dirty="0"/>
              <a:t> </a:t>
            </a:r>
            <a:r>
              <a:rPr dirty="0" err="1"/>
              <a:t>validering</a:t>
            </a:r>
            <a:endParaRPr dirty="0"/>
          </a:p>
          <a:p>
            <a:endParaRPr dirty="0"/>
          </a:p>
          <a:p>
            <a:r>
              <a:rPr dirty="0"/>
              <a:t>✨ </a:t>
            </a:r>
            <a:r>
              <a:rPr dirty="0" err="1"/>
              <a:t>Bonusoppgaver</a:t>
            </a:r>
            <a:r>
              <a:rPr dirty="0"/>
              <a:t> </a:t>
            </a:r>
            <a:r>
              <a:rPr dirty="0" err="1"/>
              <a:t>hvis</a:t>
            </a:r>
            <a:r>
              <a:rPr dirty="0"/>
              <a:t> </a:t>
            </a:r>
            <a:r>
              <a:rPr dirty="0" err="1"/>
              <a:t>dere</a:t>
            </a:r>
            <a:r>
              <a:rPr dirty="0"/>
              <a:t> </a:t>
            </a:r>
            <a:r>
              <a:rPr dirty="0" err="1"/>
              <a:t>blir</a:t>
            </a:r>
            <a:r>
              <a:rPr dirty="0"/>
              <a:t> </a:t>
            </a:r>
            <a:r>
              <a:rPr dirty="0" err="1"/>
              <a:t>ferdige</a:t>
            </a:r>
            <a:r>
              <a:rPr dirty="0"/>
              <a:t> </a:t>
            </a:r>
            <a:r>
              <a:rPr dirty="0" err="1"/>
              <a:t>tidlig</a:t>
            </a:r>
            <a:endParaRPr dirty="0"/>
          </a:p>
          <a:p>
            <a:endParaRPr dirty="0"/>
          </a:p>
          <a:p>
            <a:r>
              <a:rPr dirty="0"/>
              <a:t>Husk: Red → Green → Refactor </a:t>
            </a:r>
            <a:r>
              <a:rPr lang="en-US" dirty="0"/>
              <a:t>→ Commit?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 2: Service-lag testing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Service-lag testing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dirty="0" err="1"/>
              <a:t>Forrige</a:t>
            </a:r>
            <a:r>
              <a:rPr dirty="0"/>
              <a:t> gang: </a:t>
            </a:r>
            <a:r>
              <a:rPr dirty="0" err="1"/>
              <a:t>Testet</a:t>
            </a:r>
            <a:r>
              <a:rPr dirty="0"/>
              <a:t> </a:t>
            </a:r>
            <a:r>
              <a:rPr dirty="0" err="1"/>
              <a:t>isolerte</a:t>
            </a:r>
            <a:r>
              <a:rPr dirty="0"/>
              <a:t> </a:t>
            </a:r>
            <a:r>
              <a:rPr dirty="0" err="1"/>
              <a:t>komponenter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>I </a:t>
            </a:r>
            <a:r>
              <a:rPr dirty="0" err="1"/>
              <a:t>dag</a:t>
            </a:r>
            <a:r>
              <a:rPr dirty="0"/>
              <a:t>: Testing av service med Spring Data JPA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 err="1"/>
              <a:t>Fokus</a:t>
            </a:r>
            <a:r>
              <a:rPr dirty="0"/>
              <a:t>: </a:t>
            </a:r>
            <a:r>
              <a:rPr dirty="0" err="1"/>
              <a:t>Hvordan</a:t>
            </a:r>
            <a:r>
              <a:rPr dirty="0"/>
              <a:t> </a:t>
            </a:r>
            <a:r>
              <a:rPr dirty="0" err="1"/>
              <a:t>håndtere</a:t>
            </a:r>
            <a:r>
              <a:rPr dirty="0"/>
              <a:t> Spring-</a:t>
            </a:r>
            <a:r>
              <a:rPr dirty="0" err="1"/>
              <a:t>spesifikke</a:t>
            </a:r>
            <a:r>
              <a:rPr dirty="0"/>
              <a:t> dependencies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475" y="512763"/>
            <a:ext cx="6150512" cy="706875"/>
          </a:xfrm>
        </p:spPr>
        <p:txBody>
          <a:bodyPr anchor="t">
            <a:normAutofit/>
          </a:bodyPr>
          <a:lstStyle/>
          <a:p>
            <a:r>
              <a:t>Object Mother pattern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B55732-F3E1-D22E-4DF8-0EC87EC277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" y="1989138"/>
            <a:ext cx="6150511" cy="4535487"/>
          </a:xfrm>
        </p:spPr>
        <p:txBody>
          <a:bodyPr>
            <a:normAutofit/>
          </a:bodyPr>
          <a:lstStyle/>
          <a:p>
            <a:r>
              <a:rPr lang="en-US" dirty="0" err="1"/>
              <a:t>Når</a:t>
            </a:r>
            <a:r>
              <a:rPr lang="en-US" dirty="0"/>
              <a:t> </a:t>
            </a:r>
            <a:r>
              <a:rPr lang="en-US" dirty="0" err="1"/>
              <a:t>bruke</a:t>
            </a:r>
            <a:r>
              <a:rPr lang="en-US" dirty="0"/>
              <a:t> Mother vs Builder?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Mother: Fast </a:t>
            </a:r>
            <a:r>
              <a:rPr lang="en-US" dirty="0" err="1"/>
              <a:t>domene-testdata</a:t>
            </a:r>
            <a:r>
              <a:rPr lang="en-US" dirty="0"/>
              <a:t> (happy/sad cases)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Builder: </a:t>
            </a:r>
            <a:r>
              <a:rPr lang="en-US" dirty="0" err="1"/>
              <a:t>Komplekse</a:t>
            </a:r>
            <a:r>
              <a:rPr lang="en-US" dirty="0"/>
              <a:t> </a:t>
            </a:r>
            <a:r>
              <a:rPr lang="en-US" dirty="0" err="1"/>
              <a:t>objekter</a:t>
            </a:r>
            <a:r>
              <a:rPr lang="en-US" dirty="0"/>
              <a:t> med mange </a:t>
            </a:r>
            <a:r>
              <a:rPr lang="en-US" dirty="0" err="1"/>
              <a:t>variasjoner</a:t>
            </a:r>
            <a:endParaRPr lang="en-US" dirty="0"/>
          </a:p>
          <a:p>
            <a:r>
              <a:rPr lang="en-US" dirty="0"/>
              <a:t>Kan </a:t>
            </a:r>
            <a:r>
              <a:rPr lang="en-US" dirty="0" err="1"/>
              <a:t>også</a:t>
            </a:r>
            <a:r>
              <a:rPr lang="en-US" dirty="0"/>
              <a:t> </a:t>
            </a:r>
            <a:r>
              <a:rPr lang="en-US" dirty="0" err="1"/>
              <a:t>løse</a:t>
            </a:r>
            <a:r>
              <a:rPr lang="en-US" dirty="0"/>
              <a:t> det med extension </a:t>
            </a:r>
            <a:r>
              <a:rPr lang="en-US" dirty="0" err="1"/>
              <a:t>på</a:t>
            </a:r>
            <a:r>
              <a:rPr lang="en-US" dirty="0"/>
              <a:t> companion object. Dette </a:t>
            </a:r>
            <a:r>
              <a:rPr lang="en-US" dirty="0" err="1"/>
              <a:t>blir</a:t>
            </a:r>
            <a:r>
              <a:rPr lang="en-US" dirty="0"/>
              <a:t> </a:t>
            </a:r>
            <a:r>
              <a:rPr lang="en-US" dirty="0" err="1"/>
              <a:t>lettere</a:t>
            </a:r>
            <a:r>
              <a:rPr lang="en-US" dirty="0"/>
              <a:t> </a:t>
            </a:r>
            <a:r>
              <a:rPr lang="en-US" dirty="0" err="1"/>
              <a:t>når</a:t>
            </a:r>
            <a:r>
              <a:rPr lang="en-US" dirty="0"/>
              <a:t> static </a:t>
            </a:r>
            <a:r>
              <a:rPr lang="en-US" dirty="0" err="1"/>
              <a:t>kommer</a:t>
            </a:r>
            <a:r>
              <a:rPr lang="en-US" dirty="0"/>
              <a:t>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D75595-383D-62E7-C634-4EAA079C1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6228" y="1247283"/>
            <a:ext cx="5064297" cy="43634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Spring Data JPA </a:t>
            </a:r>
            <a:r>
              <a:rPr lang="en-US" dirty="0" err="1"/>
              <a:t>som</a:t>
            </a:r>
            <a:r>
              <a:rPr lang="en-US" dirty="0"/>
              <a:t> dependency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Kjedelige</a:t>
            </a:r>
            <a:r>
              <a:rPr lang="en-US" dirty="0"/>
              <a:t> </a:t>
            </a:r>
            <a:r>
              <a:rPr lang="en-US" dirty="0" err="1"/>
              <a:t>greier</a:t>
            </a:r>
            <a:r>
              <a:rPr dirty="0"/>
              <a:t>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Håndtere</a:t>
            </a:r>
            <a:r>
              <a:rPr lang="en-US" dirty="0"/>
              <a:t> </a:t>
            </a:r>
            <a:r>
              <a:rPr dirty="0"/>
              <a:t>Optional&lt;T&gt;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Kompliserer</a:t>
            </a:r>
            <a:r>
              <a:rPr lang="en-US" dirty="0"/>
              <a:t> </a:t>
            </a:r>
            <a:r>
              <a:rPr lang="en-US" dirty="0" err="1"/>
              <a:t>noe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stort</a:t>
            </a:r>
            <a:r>
              <a:rPr lang="en-US" dirty="0"/>
              <a:t> sett er </a:t>
            </a:r>
            <a:r>
              <a:rPr lang="en-US" dirty="0" err="1"/>
              <a:t>enkelt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Ytelse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Ofte</a:t>
            </a:r>
            <a:r>
              <a:rPr lang="en-US" dirty="0"/>
              <a:t> via Hibernate (“</a:t>
            </a:r>
            <a:r>
              <a:rPr lang="en-US" dirty="0" err="1"/>
              <a:t>databasen</a:t>
            </a:r>
            <a:r>
              <a:rPr lang="en-US" dirty="0"/>
              <a:t> </a:t>
            </a:r>
            <a:r>
              <a:rPr lang="en-US" dirty="0" err="1"/>
              <a:t>må</a:t>
            </a:r>
            <a:r>
              <a:rPr lang="en-US" dirty="0"/>
              <a:t> </a:t>
            </a:r>
            <a:r>
              <a:rPr lang="en-US" dirty="0" err="1"/>
              <a:t>tilpasses</a:t>
            </a:r>
            <a:r>
              <a:rPr lang="en-US" dirty="0"/>
              <a:t> Hibernate”)</a:t>
            </a:r>
          </a:p>
          <a:p>
            <a:r>
              <a:rPr lang="en-US" dirty="0"/>
              <a:t>Men det </a:t>
            </a:r>
            <a:r>
              <a:rPr lang="en-US" dirty="0" err="1"/>
              <a:t>funker</a:t>
            </a:r>
            <a:r>
              <a:rPr lang="en-US" dirty="0"/>
              <a:t> for </a:t>
            </a:r>
            <a:r>
              <a:rPr lang="en-US" dirty="0" err="1"/>
              <a:t>øvelsene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dag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6ACDD1-FB5B-028C-9787-8603BF842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925958"/>
            <a:ext cx="7772400" cy="142039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Mocking Spring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Mocks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gi</a:t>
            </a:r>
            <a:r>
              <a:rPr lang="en-US" dirty="0"/>
              <a:t> et par-</a:t>
            </a:r>
            <a:r>
              <a:rPr lang="en-US" dirty="0" err="1"/>
              <a:t>tre</a:t>
            </a:r>
            <a:r>
              <a:rPr lang="en-US" dirty="0"/>
              <a:t>-mange </a:t>
            </a:r>
            <a:r>
              <a:rPr lang="en-US" dirty="0" err="1"/>
              <a:t>ekstra</a:t>
            </a:r>
            <a:r>
              <a:rPr lang="en-US" dirty="0"/>
              <a:t> </a:t>
            </a:r>
            <a:r>
              <a:rPr lang="en-US" dirty="0" err="1"/>
              <a:t>kodelinjer</a:t>
            </a:r>
            <a:r>
              <a:rPr lang="en-US" dirty="0"/>
              <a:t> for </a:t>
            </a:r>
            <a:r>
              <a:rPr lang="en-US" dirty="0" err="1"/>
              <a:t>oppsett</a:t>
            </a:r>
            <a:endParaRPr lang="en-US" dirty="0"/>
          </a:p>
          <a:p>
            <a:r>
              <a:rPr dirty="0"/>
              <a:t>Workshop 2 </a:t>
            </a:r>
            <a:r>
              <a:rPr dirty="0" err="1"/>
              <a:t>skal</a:t>
            </a:r>
            <a:r>
              <a:rPr dirty="0"/>
              <a:t> </a:t>
            </a:r>
            <a:r>
              <a:rPr dirty="0" err="1"/>
              <a:t>eliminere</a:t>
            </a:r>
            <a:r>
              <a:rPr dirty="0"/>
              <a:t> </a:t>
            </a:r>
            <a:r>
              <a:rPr dirty="0" err="1"/>
              <a:t>denne</a:t>
            </a:r>
            <a:r>
              <a:rPr dirty="0"/>
              <a:t> </a:t>
            </a:r>
            <a:r>
              <a:rPr dirty="0" err="1"/>
              <a:t>kompleksiteten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3EA319-2B33-35E2-3FC4-B83D7D436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700" y="3429000"/>
            <a:ext cx="7340600" cy="2209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 - Test code quality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dirty="0"/>
              <a:t>Husk </a:t>
            </a:r>
            <a:r>
              <a:rPr dirty="0" err="1"/>
              <a:t>fra</a:t>
            </a:r>
            <a:r>
              <a:rPr dirty="0"/>
              <a:t> </a:t>
            </a:r>
            <a:r>
              <a:rPr dirty="0" err="1"/>
              <a:t>forrige</a:t>
            </a:r>
            <a:r>
              <a:rPr dirty="0"/>
              <a:t> gang:</a:t>
            </a:r>
          </a:p>
          <a:p>
            <a:r>
              <a:rPr dirty="0"/>
              <a:t>✅ </a:t>
            </a:r>
            <a:r>
              <a:rPr dirty="0" err="1"/>
              <a:t>Beskrivende</a:t>
            </a:r>
            <a:r>
              <a:rPr dirty="0"/>
              <a:t> test-</a:t>
            </a:r>
            <a:r>
              <a:rPr dirty="0" err="1"/>
              <a:t>navn</a:t>
            </a:r>
            <a:r>
              <a:rPr dirty="0"/>
              <a:t> (backticks)</a:t>
            </a:r>
          </a:p>
          <a:p>
            <a:r>
              <a:rPr dirty="0"/>
              <a:t>✅ AAA </a:t>
            </a:r>
            <a:r>
              <a:rPr dirty="0" err="1"/>
              <a:t>struktur</a:t>
            </a:r>
            <a:endParaRPr dirty="0"/>
          </a:p>
          <a:p>
            <a:r>
              <a:rPr dirty="0"/>
              <a:t>✅ </a:t>
            </a:r>
            <a:r>
              <a:rPr dirty="0" err="1"/>
              <a:t>Én</a:t>
            </a:r>
            <a:r>
              <a:rPr dirty="0"/>
              <a:t> ting per test</a:t>
            </a:r>
          </a:p>
          <a:p>
            <a:r>
              <a:rPr dirty="0"/>
              <a:t>✅ </a:t>
            </a:r>
            <a:r>
              <a:rPr dirty="0" err="1"/>
              <a:t>Unngå</a:t>
            </a:r>
            <a:r>
              <a:rPr dirty="0"/>
              <a:t> </a:t>
            </a:r>
            <a:r>
              <a:rPr dirty="0" err="1"/>
              <a:t>logikk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tester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time!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dirty="0"/>
              <a:t>Live demo: </a:t>
            </a:r>
            <a:r>
              <a:rPr dirty="0" err="1"/>
              <a:t>OrdreService</a:t>
            </a:r>
            <a:r>
              <a:rPr dirty="0"/>
              <a:t> med Spring Data JPA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Parprogrammering - Oppgaver Del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dirty="0"/>
              <a:t>Ordre total for </a:t>
            </a:r>
            <a:r>
              <a:rPr dirty="0" err="1"/>
              <a:t>lav</a:t>
            </a:r>
            <a:r>
              <a:rPr dirty="0"/>
              <a:t> (</a:t>
            </a:r>
            <a:r>
              <a:rPr dirty="0" err="1"/>
              <a:t>ferdig</a:t>
            </a:r>
            <a:r>
              <a:rPr dirty="0"/>
              <a:t> </a:t>
            </a:r>
            <a:r>
              <a:rPr dirty="0" err="1"/>
              <a:t>fra</a:t>
            </a:r>
            <a:r>
              <a:rPr dirty="0"/>
              <a:t> demo)</a:t>
            </a:r>
          </a:p>
          <a:p>
            <a:pPr marL="342900" indent="-342900">
              <a:buFont typeface="+mj-lt"/>
              <a:buAutoNum type="arabicPeriod"/>
            </a:pPr>
            <a:r>
              <a:rPr dirty="0"/>
              <a:t>Kunde </a:t>
            </a:r>
            <a:r>
              <a:rPr dirty="0" err="1"/>
              <a:t>ikke</a:t>
            </a:r>
            <a:r>
              <a:rPr dirty="0"/>
              <a:t> </a:t>
            </a:r>
            <a:r>
              <a:rPr dirty="0" err="1"/>
              <a:t>funnet</a:t>
            </a:r>
            <a:r>
              <a:rPr dirty="0"/>
              <a:t> (</a:t>
            </a:r>
            <a:r>
              <a:rPr dirty="0" err="1"/>
              <a:t>Optional.empty</a:t>
            </a:r>
            <a:r>
              <a:rPr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dirty="0"/>
              <a:t>Kunde </a:t>
            </a:r>
            <a:r>
              <a:rPr dirty="0" err="1"/>
              <a:t>inaktiv</a:t>
            </a:r>
            <a:r>
              <a:rPr dirty="0"/>
              <a:t> (</a:t>
            </a:r>
            <a:r>
              <a:rPr dirty="0" err="1"/>
              <a:t>Optional.of</a:t>
            </a:r>
            <a:r>
              <a:rPr dirty="0"/>
              <a:t> + </a:t>
            </a:r>
            <a:r>
              <a:rPr dirty="0" err="1"/>
              <a:t>erAktiv</a:t>
            </a:r>
            <a:r>
              <a:rPr dirty="0"/>
              <a:t>=false)</a:t>
            </a:r>
          </a:p>
          <a:p>
            <a:pPr marL="342900" indent="-342900">
              <a:buFont typeface="+mj-lt"/>
              <a:buAutoNum type="arabicPeriod"/>
            </a:pPr>
            <a:r>
              <a:rPr dirty="0" err="1"/>
              <a:t>Utsolgt</a:t>
            </a:r>
            <a:r>
              <a:rPr dirty="0"/>
              <a:t> </a:t>
            </a:r>
            <a:r>
              <a:rPr dirty="0" err="1"/>
              <a:t>produkt</a:t>
            </a:r>
            <a:r>
              <a:rPr dirty="0"/>
              <a:t> (nullable custom query)</a:t>
            </a:r>
          </a:p>
          <a:p>
            <a:pPr marL="342900" indent="-342900">
              <a:buFont typeface="+mj-lt"/>
              <a:buAutoNum type="arabicPeriod"/>
            </a:pPr>
            <a:r>
              <a:rPr dirty="0" err="1"/>
              <a:t>Kompleks</a:t>
            </a:r>
            <a:r>
              <a:rPr dirty="0"/>
              <a:t> scenario (</a:t>
            </a:r>
            <a:r>
              <a:rPr dirty="0" err="1"/>
              <a:t>kombiner</a:t>
            </a:r>
            <a:r>
              <a:rPr dirty="0"/>
              <a:t> </a:t>
            </a:r>
            <a:r>
              <a:rPr dirty="0" err="1"/>
              <a:t>flere</a:t>
            </a:r>
            <a:r>
              <a:rPr dirty="0"/>
              <a:t> dependencies)</a:t>
            </a:r>
            <a:endParaRPr lang="en-US" dirty="0"/>
          </a:p>
          <a:p>
            <a:r>
              <a:rPr lang="en-US" dirty="0"/>
              <a:t>✨ </a:t>
            </a:r>
            <a:r>
              <a:rPr lang="en-US" dirty="0" err="1"/>
              <a:t>Bonusoppgaver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Kotest</a:t>
            </a:r>
            <a:r>
              <a:rPr lang="en-US" dirty="0"/>
              <a:t> assertions (</a:t>
            </a:r>
            <a:r>
              <a:rPr lang="en-US" dirty="0" err="1"/>
              <a:t>fra</a:t>
            </a:r>
            <a:r>
              <a:rPr lang="en-US" dirty="0"/>
              <a:t> </a:t>
            </a:r>
            <a:r>
              <a:rPr lang="en-US" dirty="0" err="1"/>
              <a:t>forrige</a:t>
            </a:r>
            <a:r>
              <a:rPr lang="en-US" dirty="0"/>
              <a:t> gang!)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Refaktorer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</a:t>
            </a:r>
            <a:r>
              <a:rPr lang="en-US" dirty="0" err="1"/>
              <a:t>bedre</a:t>
            </a:r>
            <a:r>
              <a:rPr lang="en-US" dirty="0"/>
              <a:t> Object Mothers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Eksperimenter</a:t>
            </a:r>
            <a:r>
              <a:rPr lang="en-US" dirty="0"/>
              <a:t> med relaxed mocks</a:t>
            </a:r>
            <a:endParaRPr dirty="0"/>
          </a:p>
          <a:p>
            <a:r>
              <a:rPr lang="en-US" dirty="0"/>
              <a:t>🔄 </a:t>
            </a:r>
            <a:r>
              <a:rPr dirty="0"/>
              <a:t>Husk</a:t>
            </a:r>
            <a:r>
              <a:rPr lang="en-US" dirty="0"/>
              <a:t> </a:t>
            </a:r>
            <a:r>
              <a:rPr lang="en-US" dirty="0" err="1"/>
              <a:t>å</a:t>
            </a:r>
            <a:r>
              <a:rPr lang="en-US" dirty="0"/>
              <a:t> </a:t>
            </a:r>
            <a:r>
              <a:rPr lang="en-US" dirty="0" err="1"/>
              <a:t>rotere</a:t>
            </a:r>
            <a:r>
              <a:rPr lang="en-US" dirty="0"/>
              <a:t>!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Avslutning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Refleksjon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dirty="0"/>
              <a:t>• </a:t>
            </a:r>
            <a:r>
              <a:rPr dirty="0" err="1"/>
              <a:t>Hva</a:t>
            </a:r>
            <a:r>
              <a:rPr dirty="0"/>
              <a:t> </a:t>
            </a:r>
            <a:r>
              <a:rPr dirty="0" err="1"/>
              <a:t>syntes</a:t>
            </a:r>
            <a:r>
              <a:rPr dirty="0"/>
              <a:t> </a:t>
            </a:r>
            <a:r>
              <a:rPr dirty="0" err="1"/>
              <a:t>dere</a:t>
            </a:r>
            <a:r>
              <a:rPr dirty="0"/>
              <a:t> om Object Mother?</a:t>
            </a:r>
          </a:p>
          <a:p>
            <a:r>
              <a:rPr dirty="0"/>
              <a:t>• </a:t>
            </a:r>
            <a:r>
              <a:rPr dirty="0" err="1"/>
              <a:t>Forskjell</a:t>
            </a:r>
            <a:r>
              <a:rPr dirty="0"/>
              <a:t> </a:t>
            </a:r>
            <a:r>
              <a:rPr dirty="0" err="1"/>
              <a:t>på</a:t>
            </a:r>
            <a:r>
              <a:rPr dirty="0"/>
              <a:t> </a:t>
            </a:r>
            <a:r>
              <a:rPr dirty="0" err="1"/>
              <a:t>å</a:t>
            </a:r>
            <a:r>
              <a:rPr dirty="0"/>
              <a:t> teste controller vs service?</a:t>
            </a:r>
          </a:p>
          <a:p>
            <a:r>
              <a:rPr dirty="0"/>
              <a:t>• </a:t>
            </a:r>
            <a:r>
              <a:rPr dirty="0" err="1"/>
              <a:t>Sammenlignet</a:t>
            </a:r>
            <a:r>
              <a:rPr dirty="0"/>
              <a:t> med fakes </a:t>
            </a:r>
            <a:r>
              <a:rPr dirty="0" err="1"/>
              <a:t>fra</a:t>
            </a:r>
            <a:r>
              <a:rPr dirty="0"/>
              <a:t> </a:t>
            </a:r>
            <a:r>
              <a:rPr dirty="0" err="1"/>
              <a:t>forrige</a:t>
            </a:r>
            <a:r>
              <a:rPr dirty="0"/>
              <a:t> gang?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✅ Outside-in TDD driver API-design</a:t>
            </a:r>
          </a:p>
          <a:p>
            <a:r>
              <a:rPr dirty="0"/>
              <a:t>✅ @</a:t>
            </a:r>
            <a:r>
              <a:rPr dirty="0" err="1"/>
              <a:t>WebMvcTest</a:t>
            </a:r>
            <a:r>
              <a:rPr dirty="0"/>
              <a:t> → </a:t>
            </a:r>
            <a:r>
              <a:rPr dirty="0" err="1"/>
              <a:t>raske</a:t>
            </a:r>
            <a:r>
              <a:rPr dirty="0"/>
              <a:t> controller-tester</a:t>
            </a:r>
          </a:p>
          <a:p>
            <a:r>
              <a:rPr dirty="0"/>
              <a:t>✅ Sealed classes → type-safe errors</a:t>
            </a:r>
          </a:p>
          <a:p>
            <a:r>
              <a:rPr dirty="0"/>
              <a:t>✅ Object Mother → </a:t>
            </a:r>
            <a:r>
              <a:rPr dirty="0" err="1"/>
              <a:t>domene-fokusert</a:t>
            </a:r>
            <a:r>
              <a:rPr dirty="0"/>
              <a:t> </a:t>
            </a:r>
            <a:r>
              <a:rPr dirty="0" err="1"/>
              <a:t>testdata</a:t>
            </a:r>
            <a:endParaRPr dirty="0"/>
          </a:p>
          <a:p>
            <a:endParaRPr dirty="0"/>
          </a:p>
          <a:p>
            <a:r>
              <a:rPr dirty="0"/>
              <a:t>⚠️  Spring Data Optional&lt;T&gt; </a:t>
            </a:r>
            <a:r>
              <a:rPr dirty="0" err="1"/>
              <a:t>krever</a:t>
            </a:r>
            <a:r>
              <a:rPr dirty="0"/>
              <a:t> </a:t>
            </a:r>
            <a:r>
              <a:rPr dirty="0" err="1"/>
              <a:t>ekstra</a:t>
            </a:r>
            <a:r>
              <a:rPr dirty="0"/>
              <a:t> </a:t>
            </a:r>
            <a:r>
              <a:rPr dirty="0" err="1"/>
              <a:t>håndtering</a:t>
            </a:r>
            <a:endParaRPr dirty="0"/>
          </a:p>
          <a:p>
            <a:r>
              <a:rPr dirty="0"/>
              <a:t>⚠️  Repository-mocking </a:t>
            </a:r>
            <a:r>
              <a:rPr dirty="0" err="1"/>
              <a:t>mer</a:t>
            </a:r>
            <a:r>
              <a:rPr dirty="0"/>
              <a:t> </a:t>
            </a:r>
            <a:r>
              <a:rPr dirty="0" err="1"/>
              <a:t>komplekst</a:t>
            </a:r>
            <a:r>
              <a:rPr dirty="0"/>
              <a:t> </a:t>
            </a:r>
            <a:r>
              <a:rPr dirty="0" err="1"/>
              <a:t>enn</a:t>
            </a:r>
            <a:r>
              <a:rPr dirty="0"/>
              <a:t> fakes</a:t>
            </a:r>
          </a:p>
          <a:p>
            <a:r>
              <a:rPr dirty="0"/>
              <a:t>⚠️  Mye setup for </a:t>
            </a:r>
            <a:r>
              <a:rPr dirty="0" err="1"/>
              <a:t>komplekse</a:t>
            </a:r>
            <a:r>
              <a:rPr dirty="0"/>
              <a:t> scenarios</a:t>
            </a:r>
          </a:p>
          <a:p>
            <a:endParaRPr dirty="0"/>
          </a:p>
          <a:p>
            <a:r>
              <a:rPr dirty="0"/>
              <a:t>Workshop 2: </a:t>
            </a:r>
            <a:r>
              <a:rPr dirty="0" err="1"/>
              <a:t>Eliminer</a:t>
            </a:r>
            <a:r>
              <a:rPr dirty="0"/>
              <a:t> </a:t>
            </a:r>
            <a:r>
              <a:rPr dirty="0" err="1"/>
              <a:t>kompleksiteten</a:t>
            </a:r>
            <a:r>
              <a:rPr dirty="0"/>
              <a:t> med Ports &amp; Adapters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Preview Workshop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dirty="0" err="1"/>
              <a:t>Forrige</a:t>
            </a:r>
            <a:r>
              <a:rPr dirty="0"/>
              <a:t> workshop: "Fakes &gt; Mocks </a:t>
            </a:r>
            <a:r>
              <a:rPr dirty="0" err="1"/>
              <a:t>når</a:t>
            </a:r>
            <a:r>
              <a:rPr dirty="0"/>
              <a:t> </a:t>
            </a:r>
            <a:r>
              <a:rPr dirty="0" err="1"/>
              <a:t>mulig</a:t>
            </a:r>
            <a:r>
              <a:rPr dirty="0"/>
              <a:t>"</a:t>
            </a:r>
          </a:p>
          <a:p>
            <a:r>
              <a:rPr dirty="0"/>
              <a:t>Men </a:t>
            </a:r>
            <a:r>
              <a:rPr dirty="0" err="1"/>
              <a:t>hvordan</a:t>
            </a:r>
            <a:r>
              <a:rPr dirty="0"/>
              <a:t> </a:t>
            </a:r>
            <a:r>
              <a:rPr dirty="0" err="1"/>
              <a:t>unngå</a:t>
            </a:r>
            <a:r>
              <a:rPr dirty="0"/>
              <a:t> </a:t>
            </a:r>
            <a:r>
              <a:rPr dirty="0" err="1"/>
              <a:t>å</a:t>
            </a:r>
            <a:r>
              <a:rPr dirty="0"/>
              <a:t> </a:t>
            </a:r>
            <a:r>
              <a:rPr dirty="0" err="1"/>
              <a:t>mocke</a:t>
            </a:r>
            <a:r>
              <a:rPr dirty="0"/>
              <a:t> Spring Data?</a:t>
            </a:r>
          </a:p>
          <a:p>
            <a:r>
              <a:rPr dirty="0"/>
              <a:t>Problem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dag</a:t>
            </a:r>
            <a:r>
              <a:rPr dirty="0"/>
              <a:t>:</a:t>
            </a:r>
          </a:p>
          <a:p>
            <a:r>
              <a:rPr dirty="0"/>
              <a:t>❌ Mock Spring Data repositories</a:t>
            </a:r>
          </a:p>
          <a:p>
            <a:r>
              <a:rPr dirty="0"/>
              <a:t>❌ </a:t>
            </a:r>
            <a:r>
              <a:rPr dirty="0" err="1"/>
              <a:t>Optional.of</a:t>
            </a:r>
            <a:r>
              <a:rPr dirty="0"/>
              <a:t>() </a:t>
            </a:r>
            <a:r>
              <a:rPr dirty="0" err="1"/>
              <a:t>overalt</a:t>
            </a:r>
            <a:endParaRPr dirty="0"/>
          </a:p>
          <a:p>
            <a:r>
              <a:rPr dirty="0"/>
              <a:t>❌ Tett </a:t>
            </a:r>
            <a:r>
              <a:rPr dirty="0" err="1"/>
              <a:t>kobling</a:t>
            </a:r>
            <a:r>
              <a:rPr dirty="0"/>
              <a:t> </a:t>
            </a:r>
            <a:r>
              <a:rPr dirty="0" err="1"/>
              <a:t>til</a:t>
            </a:r>
            <a:r>
              <a:rPr dirty="0"/>
              <a:t> framework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dirty="0"/>
          </a:p>
          <a:p>
            <a:endParaRPr dirty="0"/>
          </a:p>
          <a:p>
            <a:r>
              <a:rPr dirty="0"/>
              <a:t>Løsning </a:t>
            </a:r>
            <a:r>
              <a:rPr dirty="0" err="1"/>
              <a:t>neste</a:t>
            </a:r>
            <a:r>
              <a:rPr dirty="0"/>
              <a:t> gang:</a:t>
            </a:r>
          </a:p>
          <a:p>
            <a:r>
              <a:rPr dirty="0"/>
              <a:t>✅ </a:t>
            </a:r>
            <a:r>
              <a:rPr dirty="0" err="1"/>
              <a:t>Egne</a:t>
            </a:r>
            <a:r>
              <a:rPr dirty="0"/>
              <a:t> port-interfaces</a:t>
            </a:r>
          </a:p>
          <a:p>
            <a:r>
              <a:rPr dirty="0"/>
              <a:t>✅ Ingen Optional!</a:t>
            </a:r>
          </a:p>
          <a:p>
            <a:r>
              <a:rPr dirty="0"/>
              <a:t>✅ Framework-agnostisk </a:t>
            </a:r>
            <a:r>
              <a:rPr dirty="0" err="1"/>
              <a:t>domene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esentasjon (master)">
  <a:themeElements>
    <a:clrScheme name="bekk-2023-fargepalett">
      <a:dk1>
        <a:srgbClr val="1F1F1F"/>
      </a:dk1>
      <a:lt1>
        <a:srgbClr val="FFFFFF"/>
      </a:lt1>
      <a:dk2>
        <a:srgbClr val="1F1F1F"/>
      </a:dk2>
      <a:lt2>
        <a:srgbClr val="0141FE"/>
      </a:lt2>
      <a:accent1>
        <a:srgbClr val="D3FF26"/>
      </a:accent1>
      <a:accent2>
        <a:srgbClr val="1F1F1F"/>
      </a:accent2>
      <a:accent3>
        <a:srgbClr val="CBB29C"/>
      </a:accent3>
      <a:accent4>
        <a:srgbClr val="909DA9"/>
      </a:accent4>
      <a:accent5>
        <a:srgbClr val="AEB7AB"/>
      </a:accent5>
      <a:accent6>
        <a:srgbClr val="CAC2B8"/>
      </a:accent6>
      <a:hlink>
        <a:srgbClr val="1F1F1F"/>
      </a:hlink>
      <a:folHlink>
        <a:srgbClr val="1F1F1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ot="0" spcFirstLastPara="0" vertOverflow="overflow" horzOverflow="overflow" vert="horz" wrap="square" lIns="180000" tIns="216000" rIns="180000" bIns="180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800"/>
          </a:spcBef>
          <a:spcAft>
            <a:spcPts val="800"/>
          </a:spcAft>
          <a:defRPr sz="1600" dirty="0" smtClean="0">
            <a:solidFill>
              <a:schemeClr val="tx1"/>
            </a:solidFill>
            <a:latin typeface="GT America Lt" pitchFamily="2" charset="77"/>
            <a:ea typeface="GT America Lt" pitchFamily="2" charset="77"/>
            <a:cs typeface="DIN OT Light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 lIns="72000" tIns="72000" rIns="72000" bIns="72000" rtlCol="0">
        <a:spAutoFit/>
      </a:bodyPr>
      <a:lstStyle>
        <a:defPPr algn="l">
          <a:spcBef>
            <a:spcPts val="800"/>
          </a:spcBef>
          <a:spcAft>
            <a:spcPts val="800"/>
          </a:spcAft>
          <a:defRPr sz="1600" dirty="0" smtClean="0">
            <a:latin typeface="GT America Lt" pitchFamily="2" charset="77"/>
            <a:ea typeface="GT America Lt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al-ppt-bekk-2023.potx" id="{0866B4EE-BD1A-F441-9F29-CAEB617BB969}" vid="{7E58F3A5-010B-5C4E-8E78-77760C646587}"/>
    </a:ext>
  </a:extLst>
</a:theme>
</file>

<file path=ppt/theme/theme2.xml><?xml version="1.0" encoding="utf-8"?>
<a:theme xmlns:a="http://schemas.openxmlformats.org/drawingml/2006/main" name="Mindre tekststørrelse / rapport / tilbud">
  <a:themeElements>
    <a:clrScheme name="bekk-2023-fargepalett">
      <a:dk1>
        <a:srgbClr val="1F1F1F"/>
      </a:dk1>
      <a:lt1>
        <a:srgbClr val="FFFFFF"/>
      </a:lt1>
      <a:dk2>
        <a:srgbClr val="1F1F1F"/>
      </a:dk2>
      <a:lt2>
        <a:srgbClr val="0141FE"/>
      </a:lt2>
      <a:accent1>
        <a:srgbClr val="C2E835"/>
      </a:accent1>
      <a:accent2>
        <a:srgbClr val="1F1F1F"/>
      </a:accent2>
      <a:accent3>
        <a:srgbClr val="CBB29C"/>
      </a:accent3>
      <a:accent4>
        <a:srgbClr val="909DA9"/>
      </a:accent4>
      <a:accent5>
        <a:srgbClr val="AEB7AB"/>
      </a:accent5>
      <a:accent6>
        <a:srgbClr val="CAC2B8"/>
      </a:accent6>
      <a:hlink>
        <a:srgbClr val="1F1F1F"/>
      </a:hlink>
      <a:folHlink>
        <a:srgbClr val="1F1F1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tIns="90000" rtlCol="0" anchor="t"/>
      <a:lstStyle>
        <a:defPPr algn="l">
          <a:defRPr sz="1600" dirty="0" smtClean="0">
            <a:solidFill>
              <a:schemeClr val="tx1"/>
            </a:solidFill>
            <a:latin typeface="GT America Lt" pitchFamily="2" charset="77"/>
            <a:ea typeface="GT America Lt" pitchFamily="2" charset="77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spcBef>
            <a:spcPts val="800"/>
          </a:spcBef>
          <a:spcAft>
            <a:spcPts val="800"/>
          </a:spcAft>
          <a:defRPr sz="1600" dirty="0" smtClean="0">
            <a:latin typeface="GT America Lt" pitchFamily="2" charset="77"/>
            <a:ea typeface="GT America Lt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al-ppt-bekk-2023.potx" id="{0866B4EE-BD1A-F441-9F29-CAEB617BB969}" vid="{42E7F8F7-2252-F142-88FA-81680DB0014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292</TotalTime>
  <Words>769</Words>
  <Application>Microsoft Macintosh PowerPoint</Application>
  <PresentationFormat>Widescreen</PresentationFormat>
  <Paragraphs>150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GT America Exp Md</vt:lpstr>
      <vt:lpstr>GT America Lt</vt:lpstr>
      <vt:lpstr>GT America Rg</vt:lpstr>
      <vt:lpstr>Presentasjon (master)</vt:lpstr>
      <vt:lpstr>Mindre tekststørrelse / rapport / tilbud</vt:lpstr>
      <vt:lpstr>Workshop 1: Test-Drevet Spring Boot API</vt:lpstr>
      <vt:lpstr>Dagens agenda</vt:lpstr>
      <vt:lpstr>Recap fra forrige gang</vt:lpstr>
      <vt:lpstr>Del 1: TDD med Spring Boot Controllers</vt:lpstr>
      <vt:lpstr>Top-down TDD</vt:lpstr>
      <vt:lpstr>Men ingen bryr seg egentlig sånn veldig..</vt:lpstr>
      <vt:lpstr>Spring Boot Test Slices</vt:lpstr>
      <vt:lpstr>MockMvc - HTTP testing</vt:lpstr>
      <vt:lpstr>Sealed classes for feilhåndtering</vt:lpstr>
      <vt:lpstr>HTTP status mapping med sealed classes</vt:lpstr>
      <vt:lpstr>Parprogrammering – tips</vt:lpstr>
      <vt:lpstr>Demo time!</vt:lpstr>
      <vt:lpstr>Parprogrammering - Oppgaver Del 1</vt:lpstr>
      <vt:lpstr>Del 2: Service-lag testing</vt:lpstr>
      <vt:lpstr>Service-lag testing</vt:lpstr>
      <vt:lpstr>Object Mother pattern</vt:lpstr>
      <vt:lpstr>Spring Data JPA som dependency</vt:lpstr>
      <vt:lpstr>Mocking Spring Data</vt:lpstr>
      <vt:lpstr>Recap - Test code quality</vt:lpstr>
      <vt:lpstr>Demo time!</vt:lpstr>
      <vt:lpstr>Parprogrammering - Oppgaver Del 2</vt:lpstr>
      <vt:lpstr>Avslutning</vt:lpstr>
      <vt:lpstr>Refleksjon</vt:lpstr>
      <vt:lpstr>Key takeaways</vt:lpstr>
      <vt:lpstr>Preview Workshop 2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Anders Christensen</dc:creator>
  <cp:keywords/>
  <dc:description/>
  <cp:lastModifiedBy>Thomas Stenberg Oddsund</cp:lastModifiedBy>
  <cp:revision>4</cp:revision>
  <dcterms:created xsi:type="dcterms:W3CDTF">2024-05-27T09:28:26Z</dcterms:created>
  <dcterms:modified xsi:type="dcterms:W3CDTF">2025-11-12T02:37:00Z</dcterms:modified>
  <cp:category/>
</cp:coreProperties>
</file>