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  <p:sldMasterId id="2147483861" r:id="rId2"/>
  </p:sldMasterIdLst>
  <p:notesMasterIdLst>
    <p:notesMasterId r:id="rId41"/>
  </p:notesMasterIdLst>
  <p:sldIdLst>
    <p:sldId id="327" r:id="rId3"/>
    <p:sldId id="670" r:id="rId4"/>
    <p:sldId id="671" r:id="rId5"/>
    <p:sldId id="672" r:id="rId6"/>
    <p:sldId id="675" r:id="rId7"/>
    <p:sldId id="677" r:id="rId8"/>
    <p:sldId id="678" r:id="rId9"/>
    <p:sldId id="680" r:id="rId10"/>
    <p:sldId id="681" r:id="rId11"/>
    <p:sldId id="683" r:id="rId12"/>
    <p:sldId id="682" r:id="rId13"/>
    <p:sldId id="679" r:id="rId14"/>
    <p:sldId id="538" r:id="rId15"/>
    <p:sldId id="685" r:id="rId16"/>
    <p:sldId id="684" r:id="rId17"/>
    <p:sldId id="686" r:id="rId18"/>
    <p:sldId id="705" r:id="rId19"/>
    <p:sldId id="706" r:id="rId20"/>
    <p:sldId id="707" r:id="rId21"/>
    <p:sldId id="711" r:id="rId22"/>
    <p:sldId id="709" r:id="rId23"/>
    <p:sldId id="710" r:id="rId24"/>
    <p:sldId id="712" r:id="rId25"/>
    <p:sldId id="713" r:id="rId26"/>
    <p:sldId id="716" r:id="rId27"/>
    <p:sldId id="715" r:id="rId28"/>
    <p:sldId id="714" r:id="rId29"/>
    <p:sldId id="717" r:id="rId30"/>
    <p:sldId id="718" r:id="rId31"/>
    <p:sldId id="708" r:id="rId32"/>
    <p:sldId id="719" r:id="rId33"/>
    <p:sldId id="720" r:id="rId34"/>
    <p:sldId id="721" r:id="rId35"/>
    <p:sldId id="722" r:id="rId36"/>
    <p:sldId id="723" r:id="rId37"/>
    <p:sldId id="724" r:id="rId38"/>
    <p:sldId id="725" r:id="rId39"/>
    <p:sldId id="726" r:id="rId40"/>
  </p:sldIdLst>
  <p:sldSz cx="12192000" cy="6858000"/>
  <p:notesSz cx="6858000" cy="91440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05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F27"/>
    <a:srgbClr val="ECECEC"/>
    <a:srgbClr val="FFFFFF"/>
    <a:srgbClr val="B8D83E"/>
    <a:srgbClr val="B4D147"/>
    <a:srgbClr val="526A00"/>
    <a:srgbClr val="5D7700"/>
    <a:srgbClr val="365303"/>
    <a:srgbClr val="FF4324"/>
    <a:srgbClr val="750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16"/>
    <p:restoredTop sz="72109"/>
  </p:normalViewPr>
  <p:slideViewPr>
    <p:cSldViewPr snapToGrid="0" snapToObjects="1" showGuides="1">
      <p:cViewPr varScale="1">
        <p:scale>
          <a:sx n="90" d="100"/>
          <a:sy n="90" d="100"/>
        </p:scale>
        <p:origin x="760" y="200"/>
      </p:cViewPr>
      <p:guideLst>
        <p:guide pos="3205"/>
        <p:guide orient="horz" pos="2160"/>
      </p:guideLst>
    </p:cSldViewPr>
  </p:slideViewPr>
  <p:outlineViewPr>
    <p:cViewPr>
      <p:scale>
        <a:sx n="33" d="100"/>
        <a:sy n="33" d="100"/>
      </p:scale>
      <p:origin x="0" y="-1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F5CCFF00-D096-6448-99A9-1B5E392E5640}" type="datetimeFigureOut">
              <a:rPr lang="nb-NO" smtClean="0"/>
              <a:pPr/>
              <a:t>08.12.2025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T America Rg" pitchFamily="2" charset="77"/>
              </a:defRPr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T America Rg" pitchFamily="2" charset="77"/>
              </a:defRPr>
            </a:lvl1pPr>
          </a:lstStyle>
          <a:p>
            <a:fld id="{1246E90B-2657-364C-8B68-BE49C2816B41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3766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1pPr>
    <a:lvl2pPr marL="457178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2pPr>
    <a:lvl3pPr marL="914354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3pPr>
    <a:lvl4pPr marL="1371532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4pPr>
    <a:lvl5pPr marL="1828709" algn="l" defTabSz="914354" rtl="0" eaLnBrk="1" latinLnBrk="0" hangingPunct="1">
      <a:defRPr sz="1200" b="0" i="0" kern="1200">
        <a:solidFill>
          <a:schemeClr val="tx1"/>
        </a:solidFill>
        <a:latin typeface="GT America Rg" pitchFamily="2" charset="77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04232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del 1 </a:t>
            </a:r>
            <a:r>
              <a:rPr lang="en-US" dirty="0" err="1"/>
              <a:t>skal</a:t>
            </a:r>
            <a:r>
              <a:rPr lang="en-US" dirty="0"/>
              <a:t> vi </a:t>
            </a:r>
            <a:r>
              <a:rPr lang="en-US" dirty="0" err="1"/>
              <a:t>bygge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for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kunne</a:t>
            </a:r>
            <a:r>
              <a:rPr lang="en-US" dirty="0"/>
              <a:t> </a:t>
            </a:r>
            <a:r>
              <a:rPr lang="en-US" dirty="0" err="1"/>
              <a:t>skrive</a:t>
            </a:r>
            <a:r>
              <a:rPr lang="en-US" dirty="0"/>
              <a:t> tester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mockk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få</a:t>
            </a:r>
            <a:r>
              <a:rPr lang="en-US" dirty="0"/>
              <a:t> et </a:t>
            </a:r>
            <a:r>
              <a:rPr lang="en-US" dirty="0" err="1"/>
              <a:t>tydeligere</a:t>
            </a:r>
            <a:r>
              <a:rPr lang="en-US" dirty="0"/>
              <a:t> </a:t>
            </a:r>
            <a:r>
              <a:rPr lang="en-US" dirty="0" err="1"/>
              <a:t>skille</a:t>
            </a:r>
            <a:r>
              <a:rPr lang="en-US" dirty="0"/>
              <a:t> </a:t>
            </a:r>
            <a:r>
              <a:rPr lang="en-US" dirty="0" err="1"/>
              <a:t>mellom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er </a:t>
            </a:r>
            <a:r>
              <a:rPr lang="en-US" dirty="0" err="1"/>
              <a:t>våre</a:t>
            </a:r>
            <a:r>
              <a:rPr lang="en-US" dirty="0"/>
              <a:t> </a:t>
            </a:r>
            <a:r>
              <a:rPr lang="en-US" dirty="0" err="1"/>
              <a:t>domeneklasser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er JPA-</a:t>
            </a:r>
            <a:r>
              <a:rPr lang="en-US" dirty="0" err="1"/>
              <a:t>klasser</a:t>
            </a:r>
            <a:r>
              <a:rPr lang="en-US" dirty="0"/>
              <a:t>.</a:t>
            </a:r>
          </a:p>
          <a:p>
            <a:r>
              <a:rPr lang="en-US" dirty="0"/>
              <a:t>I del 2 </a:t>
            </a:r>
            <a:r>
              <a:rPr lang="en-US" dirty="0" err="1"/>
              <a:t>skal</a:t>
            </a:r>
            <a:r>
              <a:rPr lang="en-US" dirty="0"/>
              <a:t> vi ta </a:t>
            </a:r>
            <a:r>
              <a:rPr lang="en-US" dirty="0" err="1"/>
              <a:t>i</a:t>
            </a:r>
            <a:r>
              <a:rPr lang="en-US" dirty="0"/>
              <a:t> bruk </a:t>
            </a:r>
            <a:r>
              <a:rPr lang="en-US" dirty="0" err="1"/>
              <a:t>denne</a:t>
            </a:r>
            <a:r>
              <a:rPr lang="en-US" dirty="0"/>
              <a:t> nye </a:t>
            </a:r>
            <a:r>
              <a:rPr lang="en-US" dirty="0" err="1"/>
              <a:t>infrastrukturen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erstatte</a:t>
            </a:r>
            <a:r>
              <a:rPr lang="en-US" dirty="0"/>
              <a:t> </a:t>
            </a:r>
            <a:r>
              <a:rPr lang="en-US" dirty="0" err="1"/>
              <a:t>mockk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testene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2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33573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Optional</a:t>
            </a:r>
          </a:p>
          <a:p>
            <a:r>
              <a:rPr lang="en-US" dirty="0"/>
              <a:t>– </a:t>
            </a:r>
            <a:r>
              <a:rPr lang="en-US" dirty="0" err="1"/>
              <a:t>Boilerplatey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Databasekode</a:t>
            </a:r>
            <a:r>
              <a:rPr lang="en-US" dirty="0"/>
              <a:t> for service-lag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38927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Optional er </a:t>
            </a:r>
            <a:r>
              <a:rPr lang="en-US" dirty="0" err="1"/>
              <a:t>borte</a:t>
            </a:r>
            <a:endParaRPr lang="en-US" dirty="0"/>
          </a:p>
          <a:p>
            <a:r>
              <a:rPr lang="en-US" dirty="0"/>
              <a:t>– </a:t>
            </a:r>
            <a:r>
              <a:rPr lang="en-US" dirty="0" err="1"/>
              <a:t>Databaselekkasje</a:t>
            </a:r>
            <a:r>
              <a:rPr lang="en-US" dirty="0"/>
              <a:t> er </a:t>
            </a:r>
            <a:r>
              <a:rPr lang="en-US" dirty="0" err="1"/>
              <a:t>tettet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Fortsatt</a:t>
            </a:r>
            <a:r>
              <a:rPr lang="en-US" dirty="0"/>
              <a:t> </a:t>
            </a:r>
            <a:r>
              <a:rPr lang="en-US" dirty="0" err="1"/>
              <a:t>litt</a:t>
            </a:r>
            <a:r>
              <a:rPr lang="en-US" dirty="0"/>
              <a:t> setup, men </a:t>
            </a:r>
            <a:r>
              <a:rPr lang="en-US" dirty="0" err="1"/>
              <a:t>mindre</a:t>
            </a:r>
            <a:r>
              <a:rPr lang="en-US" dirty="0"/>
              <a:t> </a:t>
            </a:r>
            <a:r>
              <a:rPr lang="en-US" dirty="0" err="1"/>
              <a:t>enn</a:t>
            </a:r>
            <a:r>
              <a:rPr lang="en-US" dirty="0"/>
              <a:t> med </a:t>
            </a:r>
            <a:r>
              <a:rPr lang="en-US" dirty="0" err="1"/>
              <a:t>mockks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Umerkbart</a:t>
            </a:r>
            <a:r>
              <a:rPr lang="en-US" dirty="0"/>
              <a:t>, men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raskere</a:t>
            </a:r>
            <a:endParaRPr lang="en-US" dirty="0"/>
          </a:p>
          <a:p>
            <a:r>
              <a:rPr lang="en-US" dirty="0"/>
              <a:t>– </a:t>
            </a:r>
            <a:r>
              <a:rPr lang="en-US" dirty="0" err="1"/>
              <a:t>Lettere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debugge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4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06614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var vs </a:t>
            </a:r>
            <a:r>
              <a:rPr lang="en-US" dirty="0" err="1"/>
              <a:t>val</a:t>
            </a:r>
            <a:endParaRPr lang="en-US" dirty="0"/>
          </a:p>
          <a:p>
            <a:r>
              <a:rPr lang="en-US" dirty="0"/>
              <a:t>– nullable id</a:t>
            </a:r>
          </a:p>
          <a:p>
            <a:r>
              <a:rPr lang="en-US" dirty="0"/>
              <a:t>– Database-</a:t>
            </a:r>
            <a:r>
              <a:rPr lang="en-US" dirty="0" err="1"/>
              <a:t>annotasjoner</a:t>
            </a:r>
            <a:endParaRPr lang="en-US" dirty="0"/>
          </a:p>
          <a:p>
            <a:r>
              <a:rPr lang="en-US" dirty="0"/>
              <a:t>– Ikke data class</a:t>
            </a:r>
          </a:p>
          <a:p>
            <a:r>
              <a:rPr lang="en-US" dirty="0"/>
              <a:t>- Mulig no-</a:t>
            </a:r>
            <a:r>
              <a:rPr lang="en-US" dirty="0" err="1"/>
              <a:t>arg</a:t>
            </a:r>
            <a:r>
              <a:rPr lang="en-US" dirty="0"/>
              <a:t> constructor for </a:t>
            </a:r>
            <a:r>
              <a:rPr lang="en-US" dirty="0" err="1"/>
              <a:t>jpa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6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808217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7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36324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Port </a:t>
            </a:r>
            <a:r>
              <a:rPr lang="en-US" dirty="0" err="1"/>
              <a:t>snakker</a:t>
            </a:r>
            <a:r>
              <a:rPr lang="en-US" dirty="0"/>
              <a:t> </a:t>
            </a:r>
            <a:r>
              <a:rPr lang="en-US" dirty="0" err="1"/>
              <a:t>domene</a:t>
            </a:r>
            <a:r>
              <a:rPr lang="en-US" dirty="0"/>
              <a:t> inn/</a:t>
            </a:r>
            <a:r>
              <a:rPr lang="en-US" dirty="0" err="1"/>
              <a:t>ut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Domain er </a:t>
            </a:r>
            <a:r>
              <a:rPr lang="en-US" dirty="0" err="1"/>
              <a:t>avhengig</a:t>
            </a:r>
            <a:r>
              <a:rPr lang="en-US" dirty="0"/>
              <a:t> av et interface, </a:t>
            </a:r>
            <a:r>
              <a:rPr lang="en-US" dirty="0" err="1"/>
              <a:t>bryr</a:t>
            </a:r>
            <a:r>
              <a:rPr lang="en-US" dirty="0"/>
              <a:t> seg </a:t>
            </a:r>
            <a:r>
              <a:rPr lang="en-US" dirty="0" err="1"/>
              <a:t>døyten</a:t>
            </a:r>
            <a:r>
              <a:rPr lang="en-US" dirty="0"/>
              <a:t> om </a:t>
            </a:r>
            <a:r>
              <a:rPr lang="en-US" dirty="0" err="1"/>
              <a:t>hvordan</a:t>
            </a:r>
            <a:r>
              <a:rPr lang="en-US" dirty="0"/>
              <a:t> det er </a:t>
            </a:r>
            <a:r>
              <a:rPr lang="en-US" dirty="0" err="1"/>
              <a:t>implementert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Port </a:t>
            </a:r>
            <a:r>
              <a:rPr lang="en-US" dirty="0" err="1"/>
              <a:t>kan</a:t>
            </a:r>
            <a:r>
              <a:rPr lang="en-US" dirty="0"/>
              <a:t> ha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implementasjoner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Adapters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typisk</a:t>
            </a:r>
            <a:r>
              <a:rPr lang="en-US" dirty="0"/>
              <a:t> </a:t>
            </a:r>
            <a:r>
              <a:rPr lang="en-US" dirty="0" err="1"/>
              <a:t>noen</a:t>
            </a:r>
            <a:r>
              <a:rPr lang="en-US" dirty="0"/>
              <a:t> tester, fakes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ikke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9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75843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13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9020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 form for </a:t>
            </a:r>
            <a:r>
              <a:rPr lang="en-US" dirty="0" err="1"/>
              <a:t>oversetter</a:t>
            </a:r>
            <a:endParaRPr lang="en-US" dirty="0"/>
          </a:p>
          <a:p>
            <a:r>
              <a:rPr lang="en-US" dirty="0"/>
              <a:t>- Mapping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alltid</a:t>
            </a:r>
            <a:r>
              <a:rPr lang="en-US" dirty="0"/>
              <a:t> </a:t>
            </a:r>
            <a:r>
              <a:rPr lang="en-US" dirty="0" err="1"/>
              <a:t>skje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adapterlaget</a:t>
            </a:r>
            <a:r>
              <a:rPr lang="en-US" dirty="0"/>
              <a:t> - </a:t>
            </a:r>
            <a:r>
              <a:rPr lang="en-US" dirty="0" err="1"/>
              <a:t>domenet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holdes</a:t>
            </a:r>
            <a:r>
              <a:rPr lang="en-US" dirty="0"/>
              <a:t> rent</a:t>
            </a:r>
          </a:p>
          <a:p>
            <a:r>
              <a:rPr lang="en-US" dirty="0"/>
              <a:t>- Kan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enkelt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at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oppretter</a:t>
            </a:r>
            <a:r>
              <a:rPr lang="en-US" dirty="0"/>
              <a:t> et </a:t>
            </a:r>
            <a:r>
              <a:rPr lang="en-US" dirty="0" err="1"/>
              <a:t>domeneobjekt</a:t>
            </a:r>
            <a:r>
              <a:rPr lang="en-US" dirty="0"/>
              <a:t> </a:t>
            </a:r>
            <a:r>
              <a:rPr lang="en-US" dirty="0" err="1"/>
              <a:t>rett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JDBCTemplate</a:t>
            </a:r>
            <a:r>
              <a:rPr lang="en-US" dirty="0"/>
              <a:t> sin </a:t>
            </a:r>
            <a:r>
              <a:rPr lang="en-US" dirty="0" err="1"/>
              <a:t>rowmapper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15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3645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Har vi </a:t>
            </a:r>
            <a:r>
              <a:rPr lang="en-US" dirty="0" err="1"/>
              <a:t>raske</a:t>
            </a:r>
            <a:r>
              <a:rPr lang="en-US" dirty="0"/>
              <a:t> unit tests </a:t>
            </a:r>
            <a:r>
              <a:rPr lang="en-US" dirty="0" err="1"/>
              <a:t>kan</a:t>
            </a:r>
            <a:r>
              <a:rPr lang="en-US" dirty="0"/>
              <a:t> vi ha mange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likevel</a:t>
            </a:r>
            <a:r>
              <a:rPr lang="en-US" dirty="0"/>
              <a:t> </a:t>
            </a:r>
            <a:r>
              <a:rPr lang="en-US" dirty="0" err="1"/>
              <a:t>kjøre</a:t>
            </a:r>
            <a:r>
              <a:rPr lang="en-US" dirty="0"/>
              <a:t> de </a:t>
            </a:r>
            <a:r>
              <a:rPr lang="en-US" dirty="0" err="1"/>
              <a:t>raskt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Hver</a:t>
            </a:r>
            <a:r>
              <a:rPr lang="en-US" dirty="0"/>
              <a:t> test </a:t>
            </a:r>
            <a:r>
              <a:rPr lang="en-US" dirty="0" err="1"/>
              <a:t>skal</a:t>
            </a:r>
            <a:r>
              <a:rPr lang="en-US" dirty="0"/>
              <a:t> teste </a:t>
            </a:r>
            <a:r>
              <a:rPr lang="en-US" dirty="0" err="1"/>
              <a:t>en</a:t>
            </a:r>
            <a:r>
              <a:rPr lang="en-US" dirty="0"/>
              <a:t> ting(</a:t>
            </a:r>
            <a:r>
              <a:rPr lang="en-US" dirty="0" err="1"/>
              <a:t>diffust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 den </a:t>
            </a:r>
            <a:r>
              <a:rPr lang="en-US" dirty="0" err="1"/>
              <a:t>ene</a:t>
            </a:r>
            <a:r>
              <a:rPr lang="en-US" dirty="0"/>
              <a:t> </a:t>
            </a:r>
            <a:r>
              <a:rPr lang="en-US" dirty="0" err="1"/>
              <a:t>tingen</a:t>
            </a:r>
            <a:r>
              <a:rPr lang="en-US" dirty="0"/>
              <a:t> er?)</a:t>
            </a:r>
          </a:p>
          <a:p>
            <a:r>
              <a:rPr lang="en-US" dirty="0"/>
              <a:t>- </a:t>
            </a:r>
            <a:r>
              <a:rPr lang="en-US" dirty="0" err="1"/>
              <a:t>Integrasjon</a:t>
            </a:r>
            <a:r>
              <a:rPr lang="en-US" dirty="0"/>
              <a:t> er </a:t>
            </a:r>
            <a:r>
              <a:rPr lang="en-US" dirty="0" err="1"/>
              <a:t>mest</a:t>
            </a:r>
            <a:r>
              <a:rPr lang="en-US" dirty="0"/>
              <a:t> for mapping - det er </a:t>
            </a:r>
            <a:r>
              <a:rPr lang="en-US" dirty="0" err="1"/>
              <a:t>stort</a:t>
            </a:r>
            <a:r>
              <a:rPr lang="en-US" dirty="0"/>
              <a:t> sett det vi </a:t>
            </a:r>
            <a:r>
              <a:rPr lang="en-US" dirty="0" err="1"/>
              <a:t>skal</a:t>
            </a:r>
            <a:r>
              <a:rPr lang="en-US" dirty="0"/>
              <a:t> ha der</a:t>
            </a:r>
            <a:br>
              <a:rPr lang="en-US" dirty="0"/>
            </a:br>
            <a:r>
              <a:rPr lang="en-US" dirty="0"/>
              <a:t>- Ingen regel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unntak</a:t>
            </a:r>
            <a:r>
              <a:rPr lang="en-US" dirty="0"/>
              <a:t>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16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79774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Vi tester </a:t>
            </a:r>
            <a:r>
              <a:rPr lang="en-US" dirty="0" err="1"/>
              <a:t>ikke</a:t>
            </a:r>
            <a:r>
              <a:rPr lang="en-US" dirty="0"/>
              <a:t> JPA - vi tester </a:t>
            </a:r>
            <a:r>
              <a:rPr lang="en-US" dirty="0" err="1"/>
              <a:t>vår</a:t>
            </a:r>
            <a:r>
              <a:rPr lang="en-US" dirty="0"/>
              <a:t> mapping</a:t>
            </a:r>
          </a:p>
          <a:p>
            <a:r>
              <a:rPr lang="en-US" dirty="0"/>
              <a:t>- </a:t>
            </a:r>
            <a:r>
              <a:rPr lang="en-US" dirty="0" err="1"/>
              <a:t>Tregere</a:t>
            </a:r>
            <a:r>
              <a:rPr lang="en-US" dirty="0"/>
              <a:t>, </a:t>
            </a:r>
            <a:r>
              <a:rPr lang="en-US" dirty="0" err="1"/>
              <a:t>derfor</a:t>
            </a:r>
            <a:r>
              <a:rPr lang="en-US" dirty="0"/>
              <a:t> </a:t>
            </a:r>
            <a:r>
              <a:rPr lang="en-US" dirty="0" err="1"/>
              <a:t>få</a:t>
            </a:r>
            <a:br>
              <a:rPr lang="en-US" dirty="0"/>
            </a:br>
            <a:r>
              <a:rPr lang="en-US" dirty="0"/>
              <a:t>- Setup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plass</a:t>
            </a:r>
            <a:r>
              <a:rPr lang="en-US" dirty="0"/>
              <a:t>,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fokusere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mapping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sjekk</a:t>
            </a:r>
            <a:r>
              <a:rPr lang="en-US" dirty="0"/>
              <a:t> av den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17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80029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32D8-03A2-76B6-EF86-94EEDF3A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23E9F-5E0C-D9B5-DF17-F9E2DFED7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265F5-3F0F-EEE8-B71F-9952C7894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45BCC-247D-90B1-EE8F-88E2715A1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19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71802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Teori</a:t>
            </a:r>
          </a:p>
          <a:p>
            <a:r>
              <a:rPr lang="en-US" dirty="0"/>
              <a:t>- </a:t>
            </a:r>
            <a:r>
              <a:rPr lang="en-US" dirty="0" err="1"/>
              <a:t>Kanskje</a:t>
            </a:r>
            <a:r>
              <a:rPr lang="en-US" dirty="0"/>
              <a:t> </a:t>
            </a:r>
            <a:r>
              <a:rPr lang="en-US" dirty="0" err="1"/>
              <a:t>gi</a:t>
            </a:r>
            <a:r>
              <a:rPr lang="en-US" dirty="0"/>
              <a:t> </a:t>
            </a:r>
            <a:r>
              <a:rPr lang="en-US" dirty="0" err="1"/>
              <a:t>litt</a:t>
            </a:r>
            <a:r>
              <a:rPr lang="en-US" dirty="0"/>
              <a:t> mat </a:t>
            </a:r>
            <a:r>
              <a:rPr lang="en-US" dirty="0" err="1"/>
              <a:t>rundt</a:t>
            </a:r>
            <a:r>
              <a:rPr lang="en-US" dirty="0"/>
              <a:t> </a:t>
            </a:r>
            <a:r>
              <a:rPr lang="en-US" dirty="0" err="1"/>
              <a:t>hvorfor</a:t>
            </a:r>
            <a:r>
              <a:rPr lang="en-US" dirty="0"/>
              <a:t> Ports &amp; Adapters er bra </a:t>
            </a:r>
            <a:r>
              <a:rPr lang="en-US" dirty="0" err="1"/>
              <a:t>også</a:t>
            </a:r>
            <a:r>
              <a:rPr lang="en-US" dirty="0"/>
              <a:t> for </a:t>
            </a:r>
            <a:r>
              <a:rPr lang="en-US" dirty="0" err="1"/>
              <a:t>koden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21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47727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29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891574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30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75240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31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770132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33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11283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Finnes</a:t>
            </a:r>
            <a:r>
              <a:rPr lang="en-US" dirty="0"/>
              <a:t> </a:t>
            </a:r>
            <a:r>
              <a:rPr lang="en-US" dirty="0" err="1"/>
              <a:t>nyttige</a:t>
            </a:r>
            <a:r>
              <a:rPr lang="en-US" dirty="0"/>
              <a:t> </a:t>
            </a:r>
            <a:r>
              <a:rPr lang="en-US" dirty="0" err="1"/>
              <a:t>tilfeller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6E90B-2657-364C-8B68-BE49C2816B41}" type="slidenum">
              <a:rPr lang="nb-NO" smtClean="0"/>
              <a:pPr/>
              <a:t>34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15048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53B2269-3C05-D49C-552C-A0C070895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CA54E8-7AA8-DC6F-B0FD-B41FAA0DCE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35B3026-7C1D-67E6-B3B2-462A44BD4D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1478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72716A-5D89-1ADF-33E5-1063B357AC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278E104-BC36-3390-9109-DA81872161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21507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80A32D-DA5C-7FD5-DAA1-F1C41C25E3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48E30C6-BB77-EFDF-9C6C-C25BFD9A3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74872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24000" y="339296"/>
            <a:ext cx="4944000" cy="38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[Kunde og/eller anledning]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756B9CD-B53E-F38B-F731-E8440154D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6107" y="339296"/>
            <a:ext cx="2129654" cy="384000"/>
          </a:xfrm>
          <a:prstGeom prst="rect">
            <a:avLst/>
          </a:prstGeom>
        </p:spPr>
        <p:txBody>
          <a:bodyPr rIns="18000" anchor="ctr"/>
          <a:lstStyle>
            <a:lvl1pPr marL="0" indent="0" algn="r">
              <a:buNone/>
              <a:defRPr sz="1200" b="0" i="0" baseline="0">
                <a:solidFill>
                  <a:schemeClr val="tx1"/>
                </a:solidFill>
                <a:latin typeface="GT America Lt" pitchFamily="2" charset="77"/>
                <a:ea typeface="GT America L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[Dato eller tidsperiode]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848DEE1-6E10-F276-2D5B-833A9BD91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8400" cy="3964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7E876D-AF2E-4691-0678-C60F3B73E7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049" y="3293850"/>
            <a:ext cx="8101289" cy="130708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3800" baseline="0">
                <a:solidFill>
                  <a:schemeClr val="tx1"/>
                </a:solidFill>
              </a:defRPr>
            </a:lvl1pPr>
          </a:lstStyle>
          <a:p>
            <a:r>
              <a:rPr lang="nb-NO" noProof="0" dirty="0"/>
              <a:t>[Tittel på presentasjon]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E8599DF-FCC4-D0A4-5EE3-F97695B7E4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048" y="4676172"/>
            <a:ext cx="8101289" cy="148390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spcBef>
                <a:spcPts val="400"/>
              </a:spcBef>
              <a:spcAft>
                <a:spcPts val="200"/>
              </a:spcAft>
              <a:buNone/>
              <a:defRPr sz="200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nb-NO" noProof="0" dirty="0"/>
              <a:t>[F.eks. navn på hun/han som presenterer]</a:t>
            </a:r>
          </a:p>
        </p:txBody>
      </p:sp>
    </p:spTree>
    <p:extLst>
      <p:ext uri="{BB962C8B-B14F-4D97-AF65-F5344CB8AC3E}">
        <p14:creationId xmlns:p14="http://schemas.microsoft.com/office/powerpoint/2010/main" val="328357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09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61568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1648"/>
            <a:ext cx="7345364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E2C2F1-86EE-0EED-2610-513A250FFA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7345363" cy="4535487"/>
          </a:xfrm>
        </p:spPr>
        <p:txBody>
          <a:bodyPr lIns="54000" tIns="54000" rIns="54000" bIns="54000"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021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 lIns="5400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989138"/>
            <a:ext cx="7345363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A7ADC7-A8C4-ADAE-0F9B-3301E4A11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2708275"/>
            <a:ext cx="7345363" cy="3816350"/>
          </a:xfrm>
        </p:spPr>
        <p:txBody>
          <a:bodyPr/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1]</a:t>
            </a:r>
          </a:p>
          <a:p>
            <a:pPr lvl="2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2]</a:t>
            </a:r>
          </a:p>
          <a:p>
            <a:pPr lvl="3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3]</a:t>
            </a:r>
          </a:p>
          <a:p>
            <a:pPr lvl="4"/>
            <a:r>
              <a:rPr lang="en-GB" dirty="0"/>
              <a:t>[</a:t>
            </a:r>
            <a:r>
              <a:rPr lang="en-GB" dirty="0" err="1"/>
              <a:t>Nivå</a:t>
            </a:r>
            <a:r>
              <a:rPr lang="en-GB" dirty="0"/>
              <a:t> 4]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9088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4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5" y="1989139"/>
            <a:ext cx="5400000" cy="4535486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85664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lonner: 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2708274"/>
            <a:ext cx="5400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E12F-BF1F-6025-4FE7-42EF361482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1988520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F29286-E970-58E7-4888-62B64DDB37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524" y="1989138"/>
            <a:ext cx="5400000" cy="503238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D13626-7D58-35A8-22E0-DF15D8510D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4" y="2705416"/>
            <a:ext cx="5400000" cy="3819210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631143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000" y="1989137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0525" y="1989138"/>
            <a:ext cx="3600000" cy="4535487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914629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6907" y="2889251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2340" y="2889252"/>
            <a:ext cx="3600000" cy="3635374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6906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2337" y="1989138"/>
            <a:ext cx="3600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92543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5131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825" y="1989137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617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8525" y="1989138"/>
            <a:ext cx="2682000" cy="4535489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532578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olonner: Tittel + under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355C-B2B4-BAE7-C796-5219EBDD15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3408" y="2708274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CB7D2-BB9E-1B98-C107-25D08CF81F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341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1B51A-F663-3AA2-D038-7A4FEF11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A234C49-35B4-5696-EE91-DE48D250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3407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E5B6A4-ACD1-3E42-8E82-C087193E04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5339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3F7021-6095-D04A-8FEA-65049D7AAA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7275" y="2708275"/>
            <a:ext cx="2682000" cy="3816351"/>
          </a:xfrm>
          <a:prstGeom prst="rect">
            <a:avLst/>
          </a:prstGeom>
        </p:spPr>
        <p:txBody>
          <a:bodyPr lIns="54000"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1A088E1-BA4E-D371-DE4B-BB4FC3671F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37272" y="1989138"/>
            <a:ext cx="2682000" cy="565150"/>
          </a:xfrm>
          <a:prstGeom prst="rect">
            <a:avLst/>
          </a:prstGeom>
        </p:spPr>
        <p:txBody>
          <a:bodyPr lIns="54000"/>
          <a:lstStyle>
            <a:lvl1pPr>
              <a:defRPr sz="2000" b="0" i="0"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Undertittel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7159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7345363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762896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4025" y="2079607"/>
            <a:ext cx="4226500" cy="43943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2108369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12763"/>
            <a:ext cx="6150512" cy="7068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1989138"/>
            <a:ext cx="6150511" cy="4535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2B7D1B-C200-F54B-CCF0-CAC5958B19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679079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2" y="115888"/>
            <a:ext cx="11953875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63844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e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7B7C641-9035-8537-854E-31E44A0EEE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79" y="6119121"/>
            <a:ext cx="7650359" cy="6229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09DEAD3-C0E3-A3A0-C15E-BEA9880613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11953875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1305070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8"/>
            <a:ext cx="5914800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1100" y="115888"/>
            <a:ext cx="5911838" cy="6626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</p:spTree>
    <p:extLst>
      <p:ext uri="{BB962C8B-B14F-4D97-AF65-F5344CB8AC3E}">
        <p14:creationId xmlns:p14="http://schemas.microsoft.com/office/powerpoint/2010/main" val="3082209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+ under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B47FDB-858D-F0D7-02D8-3F630ECD9F4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063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1F4DF3F-B4F3-DB59-B408-B310C5BC51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8137" y="115889"/>
            <a:ext cx="5914800" cy="5900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5140078-EBD3-B729-0CD0-4E2B307305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79" y="6120193"/>
            <a:ext cx="7650359" cy="62191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defRPr sz="1400" b="0" i="0"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</p:txBody>
      </p:sp>
    </p:spTree>
    <p:extLst>
      <p:ext uri="{BB962C8B-B14F-4D97-AF65-F5344CB8AC3E}">
        <p14:creationId xmlns:p14="http://schemas.microsoft.com/office/powerpoint/2010/main" val="2134376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65930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5" y="115889"/>
            <a:ext cx="7237412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7" y="2709996"/>
            <a:ext cx="4103688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bg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588" y="476250"/>
            <a:ext cx="933649" cy="195597"/>
          </a:xfrm>
          <a:prstGeom prst="roundRect">
            <a:avLst>
              <a:gd name="adj" fmla="val 17125"/>
            </a:avLst>
          </a:prstGeom>
          <a:solidFill>
            <a:srgbClr val="D4FF27"/>
          </a:solidFill>
          <a:ln w="6350">
            <a:noFill/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79613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044" cy="2376620"/>
          </a:xfrm>
          <a:prstGeom prst="rect">
            <a:avLst/>
          </a:prstGeom>
        </p:spPr>
        <p:txBody>
          <a:bodyPr lIns="54000"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119" y="2709996"/>
            <a:ext cx="4103044" cy="1021944"/>
          </a:xfrm>
          <a:prstGeom prst="rect">
            <a:avLst/>
          </a:prstGeom>
        </p:spPr>
        <p:txBody>
          <a:bodyPr lIns="54000"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44103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 m/bilde og kapitteltag: H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B4FA3D-7D60-EE44-56D7-0075FF9908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35524" y="115889"/>
            <a:ext cx="7237413" cy="662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bIns="756000" anchor="ctr"/>
          <a:lstStyle>
            <a:lvl1pPr algn="ctr"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4148004"/>
            <a:ext cx="4103688" cy="23766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bown fox]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2711398"/>
            <a:ext cx="4103688" cy="102194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000" b="0" i="0">
                <a:solidFill>
                  <a:schemeClr val="tx1"/>
                </a:solidFill>
                <a:latin typeface="GT America Rg" pitchFamily="2" charset="77"/>
                <a:ea typeface="GT America Rg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D96E35-1E87-3421-8040-0EE8A1585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813" y="476250"/>
            <a:ext cx="933649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72000" tIns="36000" rIns="72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kapittel</a:t>
            </a:r>
            <a:r>
              <a:rPr lang="en-GB" dirty="0"/>
              <a:t> 1]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22378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27529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Rødbru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3648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Bl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956726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foil: Grøn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1EDC-B464-1BDA-783C-6A4DD0FDE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76250"/>
            <a:ext cx="7283017" cy="1512888"/>
          </a:xfr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 dirty="0"/>
              <a:t>[</a:t>
            </a:r>
            <a:r>
              <a:rPr lang="en-GB" dirty="0" err="1"/>
              <a:t>Skillefoil</a:t>
            </a:r>
            <a:r>
              <a:rPr lang="en-GB" dirty="0"/>
              <a:t>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21747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418662-CF3A-AF76-9B54-FEB07DFB45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3393" y="4375664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[Rolle i Bekk]</a:t>
            </a:r>
            <a:endParaRPr lang="nb-NO" noProof="1">
              <a:effectLst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C063FE-5DB4-8585-C274-927FEDC262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3393" y="3727307"/>
            <a:ext cx="4142134" cy="396000"/>
          </a:xfrm>
          <a:prstGeom prst="rect">
            <a:avLst/>
          </a:prstGeom>
        </p:spPr>
        <p:txBody>
          <a:bodyPr wrap="none" anchor="ctr"/>
          <a:lstStyle>
            <a:lvl1pPr>
              <a:defRPr sz="1800" b="0" i="0">
                <a:solidFill>
                  <a:schemeClr val="bg1"/>
                </a:solidFill>
                <a:latin typeface="GT America Lt" pitchFamily="2" charset="77"/>
                <a:ea typeface="GT America Lt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Navn</a:t>
            </a:r>
            <a:r>
              <a:rPr lang="en-GB" dirty="0"/>
              <a:t>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5AB5B94-9D66-59BA-9723-92252DB75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3393" y="4711761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[+ 47 000 00 000]</a:t>
            </a:r>
            <a:endParaRPr lang="nb-NO" noProof="1">
              <a:effectLst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61A156C-5DD6-A646-E048-2D13CF349D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393" y="5047858"/>
            <a:ext cx="4142132" cy="307019"/>
          </a:xfrm>
          <a:prstGeom prst="rect">
            <a:avLst/>
          </a:prstGeom>
        </p:spPr>
        <p:txBody>
          <a:bodyPr wrap="none" anchor="ctr"/>
          <a:lstStyle>
            <a:lvl1pPr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defRPr sz="1800" u="sng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noProof="1"/>
              <a:t>[navn@bekk.no]</a:t>
            </a:r>
            <a:endParaRPr lang="nb-NO" noProof="1">
              <a:effectLst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5FE9A2-D58F-0EDF-BBDA-10DA6CC01B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457" y="214770"/>
            <a:ext cx="427936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264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1055533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E547-AE20-1A68-1188-C86F21A13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2AA49-E512-87C6-B1AF-2AE31660A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205038"/>
            <a:ext cx="8713787" cy="4319587"/>
          </a:xfrm>
        </p:spPr>
        <p:txBody>
          <a:bodyPr/>
          <a:lstStyle>
            <a:lvl1pPr>
              <a:defRPr sz="1600" b="0" i="0">
                <a:latin typeface="GT America Lt" pitchFamily="2" charset="77"/>
                <a:ea typeface="GT America Lt" pitchFamily="2" charset="77"/>
              </a:defRPr>
            </a:lvl1pPr>
            <a:lvl2pPr>
              <a:defRPr sz="1600" b="0" i="0">
                <a:latin typeface="GT America Lt" pitchFamily="2" charset="77"/>
                <a:ea typeface="GT America Lt" pitchFamily="2" charset="77"/>
              </a:defRPr>
            </a:lvl2pPr>
            <a:lvl3pPr>
              <a:defRPr sz="1600" b="0" i="0">
                <a:latin typeface="GT America Lt" pitchFamily="2" charset="77"/>
                <a:ea typeface="GT America Lt" pitchFamily="2" charset="77"/>
              </a:defRPr>
            </a:lvl3pPr>
            <a:lvl4pPr>
              <a:defRPr sz="1600" b="0" i="0">
                <a:latin typeface="GT America Lt" pitchFamily="2" charset="77"/>
                <a:ea typeface="GT America Lt" pitchFamily="2" charset="77"/>
              </a:defRPr>
            </a:lvl4pPr>
            <a:lvl5pPr>
              <a:defRPr sz="1600" b="0" i="0">
                <a:latin typeface="GT America Lt" pitchFamily="2" charset="77"/>
                <a:ea typeface="GT America Lt" pitchFamily="2" charset="77"/>
              </a:defRPr>
            </a:lvl5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4DEA6AD-178A-2B2C-0224-B5A44969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704796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</p:spTree>
    <p:extLst>
      <p:ext uri="{BB962C8B-B14F-4D97-AF65-F5344CB8AC3E}">
        <p14:creationId xmlns:p14="http://schemas.microsoft.com/office/powerpoint/2010/main" val="37056628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8353426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D3FAB-A37C-6D67-0785-847B535580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738474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76C4A4-F084-E7D2-0CF4-92D07F7EEE01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7618505" y="2289542"/>
            <a:ext cx="4248937" cy="4248000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 eller figur]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7F52FA1-3497-F343-70CA-33403D5AC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925994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20000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20000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2209550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re tekststr: Tittel + tekst + stort bilde + tema-tag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3D03-E68C-670E-4006-5B38DBFECF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2" y="728661"/>
            <a:ext cx="6175367" cy="1295402"/>
          </a:xfrm>
        </p:spPr>
        <p:txBody>
          <a:bodyPr lIns="36000" anchor="t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en-NO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7E19842-2AB0-E13A-F334-3FEF4E2933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424" y="115888"/>
            <a:ext cx="5130513" cy="6626225"/>
          </a:xfrm>
          <a:solidFill>
            <a:schemeClr val="accent5">
              <a:lumMod val="20000"/>
              <a:lumOff val="80000"/>
            </a:schemeClr>
          </a:solidFill>
        </p:spPr>
        <p:txBody>
          <a:bodyPr bIns="827999" anchor="ctr"/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dirty="0"/>
              <a:t>[Sett inn bilde]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274E0E5-4061-03BF-65C4-DB6CEB046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1" y="2205037"/>
            <a:ext cx="6175367" cy="431958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BE0DD8F-A7B3-AA10-4EA7-60D8270A64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139" y="363810"/>
            <a:ext cx="920577" cy="195597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lIns="90000" tIns="36000" rIns="90000" bIns="324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 b="0" i="0" cap="all" baseline="0">
                <a:solidFill>
                  <a:schemeClr val="tx1"/>
                </a:solidFill>
                <a:latin typeface="GT America Exp Md" pitchFamily="2" charset="77"/>
                <a:ea typeface="GT America Exp Md" pitchFamily="2" charset="77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tema</a:t>
            </a:r>
            <a:r>
              <a:rPr lang="en-GB" dirty="0"/>
              <a:t>-TAG]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870267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Overskrift +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2" y="2205038"/>
            <a:ext cx="54792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18838A7-D738-D0F5-6C03-308BA3BEF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728663"/>
            <a:ext cx="5473701" cy="1295400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rPr lang="nb-NO" noProof="1"/>
              <a:t>[Tittel]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8" y="2205038"/>
            <a:ext cx="5472000" cy="4319587"/>
          </a:xfrm>
        </p:spPr>
        <p:txBody>
          <a:bodyPr lIns="5400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pport / tilbud: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8FEDC1-B254-C6A4-B14B-321AA4762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3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5982688-1F55-5A31-EA24-F6CB155D9B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7087" y="728663"/>
            <a:ext cx="5472000" cy="5795963"/>
          </a:xfrm>
        </p:spPr>
        <p:txBody>
          <a:bodyPr lIns="54000"/>
          <a:lstStyle>
            <a:lvl1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1200"/>
            </a:lvl1pPr>
          </a:lstStyle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337671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5" y="512764"/>
            <a:ext cx="7345259" cy="721626"/>
          </a:xfrm>
          <a:prstGeom prst="rect">
            <a:avLst/>
          </a:prstGeom>
        </p:spPr>
        <p:txBody>
          <a:bodyPr vert="horz" lIns="54000" tIns="54000" rIns="54000" bIns="54000" rtlCol="0" anchor="t">
            <a:noAutofit/>
          </a:bodyPr>
          <a:lstStyle/>
          <a:p>
            <a:r>
              <a:rPr lang="nb-NO" noProof="1"/>
              <a:t>[Tittel]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6779E9-7697-5F45-133B-C722BDD2F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993897"/>
            <a:ext cx="7345259" cy="4530727"/>
          </a:xfrm>
          <a:prstGeom prst="rect">
            <a:avLst/>
          </a:prstGeom>
        </p:spPr>
        <p:txBody>
          <a:bodyPr vert="horz" lIns="54000" tIns="54000" rIns="54000" bIns="54000" rtlCol="0">
            <a:normAutofit/>
          </a:bodyPr>
          <a:lstStyle/>
          <a:p>
            <a:pPr lvl="0"/>
            <a:r>
              <a:rPr lang="en-GB" dirty="0"/>
              <a:t>[The quick brown fox jumped over the lazy dog]</a:t>
            </a:r>
          </a:p>
          <a:p>
            <a:pPr lvl="1"/>
            <a:r>
              <a:rPr lang="en-GB" dirty="0"/>
              <a:t>[The quick brown fox jumped over the lazy dog]</a:t>
            </a:r>
          </a:p>
          <a:p>
            <a:pPr lvl="2"/>
            <a:r>
              <a:rPr lang="en-GB" dirty="0"/>
              <a:t>[The quick brown fox jumped over the lazy dog]</a:t>
            </a:r>
          </a:p>
          <a:p>
            <a:pPr lvl="3"/>
            <a:r>
              <a:rPr lang="en-GB" dirty="0"/>
              <a:t>[The quick brown fox jumped over the lazy dog]</a:t>
            </a:r>
          </a:p>
          <a:p>
            <a:pPr lvl="4"/>
            <a:r>
              <a:rPr lang="en-GB" dirty="0"/>
              <a:t>[The quick brown fox jumped over the lazy dog]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2365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92" r:id="rId2"/>
    <p:sldLayoutId id="2147483899" r:id="rId3"/>
    <p:sldLayoutId id="2147483900" r:id="rId4"/>
    <p:sldLayoutId id="2147483901" r:id="rId5"/>
    <p:sldLayoutId id="2147483886" r:id="rId6"/>
    <p:sldLayoutId id="2147483877" r:id="rId7"/>
    <p:sldLayoutId id="2147483829" r:id="rId8"/>
    <p:sldLayoutId id="2147483839" r:id="rId9"/>
    <p:sldLayoutId id="2147483844" r:id="rId10"/>
    <p:sldLayoutId id="2147483850" r:id="rId11"/>
    <p:sldLayoutId id="2147483849" r:id="rId12"/>
    <p:sldLayoutId id="2147483851" r:id="rId13"/>
    <p:sldLayoutId id="2147483878" r:id="rId14"/>
    <p:sldLayoutId id="2147483855" r:id="rId15"/>
    <p:sldLayoutId id="2147483875" r:id="rId16"/>
    <p:sldLayoutId id="2147483881" r:id="rId17"/>
    <p:sldLayoutId id="2147483852" r:id="rId18"/>
    <p:sldLayoutId id="2147483858" r:id="rId19"/>
    <p:sldLayoutId id="2147483853" r:id="rId20"/>
    <p:sldLayoutId id="2147483859" r:id="rId21"/>
    <p:sldLayoutId id="2147483889" r:id="rId22"/>
    <p:sldLayoutId id="2147483845" r:id="rId23"/>
    <p:sldLayoutId id="2147483890" r:id="rId24"/>
    <p:sldLayoutId id="2147483888" r:id="rId25"/>
    <p:sldLayoutId id="2147483882" r:id="rId26"/>
    <p:sldLayoutId id="2147483848" r:id="rId27"/>
    <p:sldLayoutId id="2147483836" r:id="rId28"/>
    <p:sldLayoutId id="2147483837" r:id="rId29"/>
    <p:sldLayoutId id="2147483847" r:id="rId30"/>
  </p:sldLayoutIdLst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GT America Rg" pitchFamily="2" charset="77"/>
        </a:defRPr>
      </a:lvl1pPr>
    </p:titleStyle>
    <p:bodyStyle>
      <a:lvl1pPr marL="0" indent="0" algn="l" defTabSz="911955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1pPr>
      <a:lvl2pPr marL="311150" indent="-311150" algn="l" defTabSz="911955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2pPr>
      <a:lvl3pPr marL="622300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3pPr>
      <a:lvl4pPr marL="935038" indent="-312738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4pPr>
      <a:lvl5pPr marL="1246188" indent="-311150" algn="l" defTabSz="91195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GT America Lt" pitchFamily="2" charset="77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T America Rg" pitchFamily="2" charset="77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000000"/>
          </p15:clr>
        </p15:guide>
        <p15:guide id="6" pos="6675" userDrawn="1">
          <p15:clr>
            <a:srgbClr val="A4A3A4"/>
          </p15:clr>
        </p15:guide>
        <p15:guide id="9" orient="horz" pos="4110" userDrawn="1">
          <p15:clr>
            <a:srgbClr val="A4A3A4"/>
          </p15:clr>
        </p15:guide>
        <p15:guide id="17" pos="4634" userDrawn="1">
          <p15:clr>
            <a:srgbClr val="A4A3A4"/>
          </p15:clr>
        </p15:guide>
        <p15:guide id="18" pos="1232" userDrawn="1">
          <p15:clr>
            <a:srgbClr val="A4A3A4"/>
          </p15:clr>
        </p15:guide>
        <p15:guide id="19" pos="3727" userDrawn="1">
          <p15:clr>
            <a:srgbClr val="A4A3A4"/>
          </p15:clr>
        </p15:guide>
        <p15:guide id="21" pos="1005" userDrawn="1">
          <p15:clr>
            <a:srgbClr val="A4A3A4"/>
          </p15:clr>
        </p15:guide>
        <p15:guide id="34" pos="3953" userDrawn="1">
          <p15:clr>
            <a:srgbClr val="A4A3A4"/>
          </p15:clr>
        </p15:guide>
        <p15:guide id="35" pos="1912" userDrawn="1">
          <p15:clr>
            <a:srgbClr val="A4A3A4"/>
          </p15:clr>
        </p15:guide>
        <p15:guide id="36" pos="2139" userDrawn="1">
          <p15:clr>
            <a:srgbClr val="A4A3A4"/>
          </p15:clr>
        </p15:guide>
        <p15:guide id="37" pos="2819" userDrawn="1">
          <p15:clr>
            <a:srgbClr val="A4A3A4"/>
          </p15:clr>
        </p15:guide>
        <p15:guide id="38" pos="3046" userDrawn="1">
          <p15:clr>
            <a:srgbClr val="A4A3A4"/>
          </p15:clr>
        </p15:guide>
        <p15:guide id="39" pos="4861" userDrawn="1">
          <p15:clr>
            <a:srgbClr val="A4A3A4"/>
          </p15:clr>
        </p15:guide>
        <p15:guide id="40" pos="5541" userDrawn="1">
          <p15:clr>
            <a:srgbClr val="A4A3A4"/>
          </p15:clr>
        </p15:guide>
        <p15:guide id="41" pos="5768" userDrawn="1">
          <p15:clr>
            <a:srgbClr val="A4A3A4"/>
          </p15:clr>
        </p15:guide>
        <p15:guide id="42" pos="6448" userDrawn="1">
          <p15:clr>
            <a:srgbClr val="A4A3A4"/>
          </p15:clr>
        </p15:guide>
        <p15:guide id="47" pos="75" userDrawn="1">
          <p15:clr>
            <a:srgbClr val="A4A3A4"/>
          </p15:clr>
        </p15:guide>
        <p15:guide id="48" pos="7605" userDrawn="1">
          <p15:clr>
            <a:srgbClr val="A4A3A4"/>
          </p15:clr>
        </p15:guide>
        <p15:guide id="49" orient="horz" pos="4247" userDrawn="1">
          <p15:clr>
            <a:srgbClr val="A4A3A4"/>
          </p15:clr>
        </p15:guide>
        <p15:guide id="50" orient="horz" pos="73" userDrawn="1">
          <p15:clr>
            <a:srgbClr val="A4A3A4"/>
          </p15:clr>
        </p15:guide>
        <p15:guide id="53" pos="7446" userDrawn="1">
          <p15:clr>
            <a:srgbClr val="A4A3A4"/>
          </p15:clr>
        </p15:guide>
        <p15:guide id="55" pos="234" userDrawn="1">
          <p15:clr>
            <a:srgbClr val="A4A3A4"/>
          </p15:clr>
        </p15:guide>
        <p15:guide id="56" orient="horz" pos="323" userDrawn="1">
          <p15:clr>
            <a:srgbClr val="A4A3A4"/>
          </p15:clr>
        </p15:guide>
        <p15:guide id="57" orient="horz" pos="1253" userDrawn="1">
          <p15:clr>
            <a:srgbClr val="A4A3A4"/>
          </p15:clr>
        </p15:guide>
        <p15:guide id="58" orient="horz" pos="1706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0CE00-C160-716D-5C31-9FB3856B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728662"/>
            <a:ext cx="8713787" cy="1295401"/>
          </a:xfrm>
          <a:prstGeom prst="rect">
            <a:avLst/>
          </a:prstGeom>
        </p:spPr>
        <p:txBody>
          <a:bodyPr vert="horz" lIns="54000" tIns="45720" rIns="91440" bIns="45720" rtlCol="0" anchor="t">
            <a:noAutofit/>
          </a:bodyPr>
          <a:lstStyle/>
          <a:p>
            <a:r>
              <a:rPr lang="en-GB" dirty="0"/>
              <a:t>[</a:t>
            </a:r>
            <a:r>
              <a:rPr lang="en-GB" dirty="0" err="1"/>
              <a:t>Tittel</a:t>
            </a:r>
            <a:r>
              <a:rPr lang="en-GB" dirty="0"/>
              <a:t>]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D8A2C-D1DC-A9DD-AB09-53E570FE1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2205038"/>
            <a:ext cx="7273925" cy="4319587"/>
          </a:xfrm>
          <a:prstGeom prst="rect">
            <a:avLst/>
          </a:prstGeom>
        </p:spPr>
        <p:txBody>
          <a:bodyPr vert="horz" lIns="54000" tIns="45720" rIns="91440" bIns="45720" rtlCol="0">
            <a:noAutofit/>
          </a:bodyPr>
          <a:lstStyle/>
          <a:p>
            <a:pPr lvl="0"/>
            <a:r>
              <a:rPr lang="nb-NO" noProof="1"/>
              <a:t>[The quick brown fox jumps over the lazy dog]</a:t>
            </a:r>
          </a:p>
          <a:p>
            <a:pPr lvl="0"/>
            <a:r>
              <a:rPr lang="nb-NO" noProof="1"/>
              <a:t>[</a:t>
            </a:r>
            <a:r>
              <a:rPr lang="nb-NO" noProof="1">
                <a:effectLst/>
              </a:rPr>
              <a:t>Another quick brown fox]</a:t>
            </a:r>
          </a:p>
        </p:txBody>
      </p:sp>
    </p:spTree>
    <p:extLst>
      <p:ext uri="{BB962C8B-B14F-4D97-AF65-F5344CB8AC3E}">
        <p14:creationId xmlns:p14="http://schemas.microsoft.com/office/powerpoint/2010/main" val="418752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894" r:id="rId3"/>
    <p:sldLayoutId id="2147483904" r:id="rId4"/>
    <p:sldLayoutId id="2147483905" r:id="rId5"/>
    <p:sldLayoutId id="2147483893" r:id="rId6"/>
    <p:sldLayoutId id="2147483768" r:id="rId7"/>
    <p:sldLayoutId id="2147483860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>
          <a:solidFill>
            <a:schemeClr val="tx1"/>
          </a:solidFill>
          <a:latin typeface="GT America Rg" pitchFamily="2" charset="77"/>
          <a:ea typeface="GT America Rg" pitchFamily="2" charset="77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GT America Lt" pitchFamily="2" charset="77"/>
          <a:ea typeface="GT America Lt" pitchFamily="2" charset="77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59" userDrawn="1">
          <p15:clr>
            <a:srgbClr val="A4A3A4"/>
          </p15:clr>
        </p15:guide>
        <p15:guide id="3" pos="3840" userDrawn="1">
          <p15:clr>
            <a:srgbClr val="F26B43"/>
          </p15:clr>
        </p15:guide>
        <p15:guide id="5" pos="1005" userDrawn="1">
          <p15:clr>
            <a:srgbClr val="A4A3A4"/>
          </p15:clr>
        </p15:guide>
        <p15:guide id="8" orient="horz" pos="1389" userDrawn="1">
          <p15:clr>
            <a:srgbClr val="A4A3A4"/>
          </p15:clr>
        </p15:guide>
        <p15:guide id="9" pos="4861" userDrawn="1">
          <p15:clr>
            <a:srgbClr val="A4A3A4"/>
          </p15:clr>
        </p15:guide>
        <p15:guide id="11" orient="horz" pos="4110" userDrawn="1">
          <p15:clr>
            <a:srgbClr val="A4A3A4"/>
          </p15:clr>
        </p15:guide>
        <p15:guide id="13" pos="75" userDrawn="1">
          <p15:clr>
            <a:srgbClr val="A4A3A4"/>
          </p15:clr>
        </p15:guide>
        <p15:guide id="14" orient="horz" pos="73" userDrawn="1">
          <p15:clr>
            <a:srgbClr val="A4A3A4"/>
          </p15:clr>
        </p15:guide>
        <p15:guide id="15" pos="7605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pos="1232" userDrawn="1">
          <p15:clr>
            <a:srgbClr val="A4A3A4"/>
          </p15:clr>
        </p15:guide>
        <p15:guide id="18" pos="1912" userDrawn="1">
          <p15:clr>
            <a:srgbClr val="A4A3A4"/>
          </p15:clr>
        </p15:guide>
        <p15:guide id="19" pos="2139" userDrawn="1">
          <p15:clr>
            <a:srgbClr val="A4A3A4"/>
          </p15:clr>
        </p15:guide>
        <p15:guide id="20" pos="2819" userDrawn="1">
          <p15:clr>
            <a:srgbClr val="A4A3A4"/>
          </p15:clr>
        </p15:guide>
        <p15:guide id="21" pos="3046" userDrawn="1">
          <p15:clr>
            <a:srgbClr val="A4A3A4"/>
          </p15:clr>
        </p15:guide>
        <p15:guide id="22" pos="3727" userDrawn="1">
          <p15:clr>
            <a:srgbClr val="A4A3A4"/>
          </p15:clr>
        </p15:guide>
        <p15:guide id="23" pos="3953" userDrawn="1">
          <p15:clr>
            <a:srgbClr val="A4A3A4"/>
          </p15:clr>
        </p15:guide>
        <p15:guide id="24" pos="4634" userDrawn="1">
          <p15:clr>
            <a:srgbClr val="A4A3A4"/>
          </p15:clr>
        </p15:guide>
        <p15:guide id="26" pos="5541" userDrawn="1">
          <p15:clr>
            <a:srgbClr val="A4A3A4"/>
          </p15:clr>
        </p15:guide>
        <p15:guide id="27" pos="5768" userDrawn="1">
          <p15:clr>
            <a:srgbClr val="A4A3A4"/>
          </p15:clr>
        </p15:guide>
        <p15:guide id="28" pos="6448" userDrawn="1">
          <p15:clr>
            <a:srgbClr val="A4A3A4"/>
          </p15:clr>
        </p15:guide>
        <p15:guide id="29" pos="6675" userDrawn="1">
          <p15:clr>
            <a:srgbClr val="A4A3A4"/>
          </p15:clr>
        </p15:guide>
        <p15:guide id="30" pos="7355" userDrawn="1">
          <p15:clr>
            <a:srgbClr val="A4A3A4"/>
          </p15:clr>
        </p15:guide>
        <p15:guide id="31" pos="27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C3E85-49C4-D446-BACE-573E2E3784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Kotlin </a:t>
            </a:r>
            <a:r>
              <a:rPr lang="en-US" dirty="0" err="1"/>
              <a:t>faggruppe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6F8E5-B781-687F-ED10-434CFAB0C1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09.12.2025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22BFFC-F934-D7E8-7D20-B3E045653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Workshop 2: </a:t>
            </a:r>
            <a:r>
              <a:rPr lang="en-US" dirty="0" err="1"/>
              <a:t>Arkitektur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litt</a:t>
            </a:r>
            <a:r>
              <a:rPr lang="en-US" dirty="0"/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257FE-F46B-F35E-BF0A-B62A796211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Thomas Oddsund</a:t>
            </a:r>
          </a:p>
        </p:txBody>
      </p:sp>
    </p:spTree>
    <p:extLst>
      <p:ext uri="{BB962C8B-B14F-4D97-AF65-F5344CB8AC3E}">
        <p14:creationId xmlns:p14="http://schemas.microsoft.com/office/powerpoint/2010/main" val="81301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8D0914-AADB-694B-8814-16E31ADD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F2855E-C6AA-B6D7-452B-5232DE1ABA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 1: Ports, Domain Models </a:t>
            </a:r>
            <a:r>
              <a:rPr lang="en-US" dirty="0" err="1"/>
              <a:t>og</a:t>
            </a:r>
            <a:r>
              <a:rPr lang="en-US" dirty="0"/>
              <a:t> Fakes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 2: Adapters, </a:t>
            </a:r>
            <a:r>
              <a:rPr lang="en-US" dirty="0" err="1"/>
              <a:t>Integrasjonstester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 3: Litt om Spring 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14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292CB5-C85C-6EBC-0C26-74FB7857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Mye verbosity med </a:t>
            </a:r>
            <a:r>
              <a:rPr lang="en-US" dirty="0" err="1"/>
              <a:t>mockks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74956-308F-BC65-76B4-4120A33887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F3E83A-A775-DA9B-50D0-AE844BD992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ECD7DA-0700-4060-6536-2AFC1C716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1989139"/>
            <a:ext cx="11103824" cy="353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66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C2E3-D4BB-70A8-6359-83F008B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liten</a:t>
            </a:r>
            <a:r>
              <a:rPr lang="en-US" dirty="0"/>
              <a:t> preview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hvor</a:t>
            </a:r>
            <a:r>
              <a:rPr lang="en-US" dirty="0"/>
              <a:t> vi </a:t>
            </a:r>
            <a:r>
              <a:rPr lang="en-US" dirty="0" err="1"/>
              <a:t>skal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76780-61A2-D45D-5046-80E5A12C5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75CE3-91E2-FABE-B97B-9DAAE5FE6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813765-FBF9-C8D6-288B-C2924D0F6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474" y="1989139"/>
            <a:ext cx="9089051" cy="32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47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6748-3235-F264-511A-A2D31812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 1: Ports, Domain Models </a:t>
            </a:r>
            <a:r>
              <a:rPr lang="en-US" dirty="0" err="1"/>
              <a:t>og</a:t>
            </a:r>
            <a:r>
              <a:rPr lang="en-US" dirty="0"/>
              <a:t> Fakes</a:t>
            </a:r>
          </a:p>
        </p:txBody>
      </p:sp>
    </p:spTree>
    <p:extLst>
      <p:ext uri="{BB962C8B-B14F-4D97-AF65-F5344CB8AC3E}">
        <p14:creationId xmlns:p14="http://schemas.microsoft.com/office/powerpoint/2010/main" val="167827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4AE0-7DEF-537F-B4A5-B4FD26AE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Persistence vs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6E1F4-C8F0-E44F-4EC9-D21EE0B87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70365-B16C-05F1-ABD5-D310D54677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JPA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3C5D0-0832-E876-5A5A-42A689AE8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Domain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164738-A26E-AF2E-0D9D-A1514FAA0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613" y="3261876"/>
            <a:ext cx="3948774" cy="22540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B1F75C-42F6-8681-A322-8EF62BEF0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4" y="3076774"/>
            <a:ext cx="5400000" cy="307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2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09A7-AF4C-806E-A0D1-A7D85781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Hvorfor</a:t>
            </a:r>
            <a:r>
              <a:rPr lang="en-US" dirty="0"/>
              <a:t> </a:t>
            </a:r>
            <a:r>
              <a:rPr lang="en-US" dirty="0" err="1"/>
              <a:t>skille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2AF28-8117-3A9C-D5CD-3EDAD70FD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Mutable </a:t>
            </a:r>
            <a:r>
              <a:rPr lang="en-US" dirty="0" err="1"/>
              <a:t>felter</a:t>
            </a:r>
            <a:r>
              <a:rPr lang="en-US" dirty="0"/>
              <a:t>(var)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Database-</a:t>
            </a:r>
            <a:r>
              <a:rPr lang="en-US" dirty="0" err="1"/>
              <a:t>annotasjoner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Mulig </a:t>
            </a:r>
            <a:r>
              <a:rPr lang="en-US" dirty="0" err="1"/>
              <a:t>tett</a:t>
            </a:r>
            <a:r>
              <a:rPr lang="en-US" dirty="0"/>
              <a:t> </a:t>
            </a:r>
            <a:r>
              <a:rPr lang="en-US" dirty="0" err="1"/>
              <a:t>kobling</a:t>
            </a:r>
            <a:r>
              <a:rPr lang="en-US" dirty="0"/>
              <a:t> </a:t>
            </a:r>
            <a:r>
              <a:rPr lang="en-US" dirty="0" err="1"/>
              <a:t>mellom</a:t>
            </a:r>
            <a:r>
              <a:rPr lang="en-US" dirty="0"/>
              <a:t> </a:t>
            </a:r>
            <a:r>
              <a:rPr lang="en-US" dirty="0" err="1"/>
              <a:t>feltnavn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kolonnenavn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Tett </a:t>
            </a:r>
            <a:r>
              <a:rPr lang="en-US" dirty="0" err="1"/>
              <a:t>koblet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JPA/Hibernate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D1CD5-507F-D133-3183-DB2B7A162B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JPA </a:t>
            </a:r>
            <a:r>
              <a:rPr lang="en-US" dirty="0" err="1"/>
              <a:t>problemer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749E9-4EF6-C56A-93F5-AFA7DD9E29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Domain </a:t>
            </a:r>
            <a:r>
              <a:rPr lang="en-US" dirty="0" err="1"/>
              <a:t>løsninger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4F1CDC-5576-1996-5867-110E9AAC3C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Immutable(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Ingen </a:t>
            </a:r>
            <a:r>
              <a:rPr lang="en-US" dirty="0" err="1"/>
              <a:t>annotasjoner</a:t>
            </a:r>
            <a:r>
              <a:rPr lang="en-US" dirty="0"/>
              <a:t> – </a:t>
            </a:r>
            <a:r>
              <a:rPr lang="en-US" dirty="0" err="1"/>
              <a:t>mindre</a:t>
            </a:r>
            <a:r>
              <a:rPr lang="en-US" dirty="0"/>
              <a:t> </a:t>
            </a:r>
            <a:r>
              <a:rPr lang="en-US" dirty="0" err="1"/>
              <a:t>støy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Domenet</a:t>
            </a:r>
            <a:r>
              <a:rPr lang="en-US" dirty="0"/>
              <a:t> er </a:t>
            </a:r>
            <a:r>
              <a:rPr lang="en-US" dirty="0" err="1"/>
              <a:t>frikoblet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Domenet</a:t>
            </a:r>
            <a:r>
              <a:rPr lang="en-US" dirty="0"/>
              <a:t> er </a:t>
            </a:r>
            <a:r>
              <a:rPr lang="en-US" dirty="0" err="1"/>
              <a:t>frikoblet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persistence-lag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Tryggere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lettere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gjøre</a:t>
            </a:r>
            <a:r>
              <a:rPr lang="en-US" dirty="0"/>
              <a:t> </a:t>
            </a:r>
            <a:r>
              <a:rPr lang="en-US" dirty="0" err="1"/>
              <a:t>endringer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2A523-DF4C-04EF-939F-57FC8F7F991B}"/>
              </a:ext>
            </a:extLst>
          </p:cNvPr>
          <p:cNvSpPr/>
          <p:nvPr/>
        </p:nvSpPr>
        <p:spPr>
          <a:xfrm>
            <a:off x="978709" y="5244465"/>
            <a:ext cx="10058400" cy="1280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216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800"/>
              </a:spcBef>
              <a:spcAft>
                <a:spcPts val="800"/>
              </a:spcAft>
            </a:pPr>
            <a:endParaRPr lang="en-US" sz="1600" dirty="0">
              <a:solidFill>
                <a:schemeClr val="tx1"/>
              </a:solidFill>
              <a:latin typeface="GT America Lt" pitchFamily="2" charset="77"/>
              <a:ea typeface="GT America Lt" pitchFamily="2" charset="77"/>
              <a:cs typeface="DIN OT 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AF9BE3-CC27-3996-D6D4-5A0BE23A6FEA}"/>
              </a:ext>
            </a:extLst>
          </p:cNvPr>
          <p:cNvSpPr txBox="1"/>
          <p:nvPr/>
        </p:nvSpPr>
        <p:spPr>
          <a:xfrm>
            <a:off x="1154889" y="5148112"/>
            <a:ext cx="9822671" cy="1376513"/>
          </a:xfrm>
          <a:prstGeom prst="rect">
            <a:avLst/>
          </a:prstGeom>
        </p:spPr>
        <p:txBody>
          <a:bodyPr wrap="none" lIns="72000" tIns="72000" rIns="72000" bIns="72000" rtlCol="0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lang="en-US" sz="8000" dirty="0">
                <a:solidFill>
                  <a:schemeClr val="accent1"/>
                </a:solidFill>
                <a:latin typeface="GT America Lt" pitchFamily="2" charset="77"/>
                <a:ea typeface="GT America Lt" pitchFamily="2" charset="77"/>
              </a:rPr>
              <a:t>Separation of Concerns</a:t>
            </a:r>
          </a:p>
        </p:txBody>
      </p:sp>
    </p:spTree>
    <p:extLst>
      <p:ext uri="{BB962C8B-B14F-4D97-AF65-F5344CB8AC3E}">
        <p14:creationId xmlns:p14="http://schemas.microsoft.com/office/powerpoint/2010/main" val="222070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9" grpId="1" animBg="1"/>
      <p:bldP spid="8" grpI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0014-7E33-238A-8F59-4930215E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62" y="355601"/>
            <a:ext cx="1628775" cy="1716087"/>
          </a:xfrm>
        </p:spPr>
        <p:txBody>
          <a:bodyPr/>
          <a:lstStyle/>
          <a:p>
            <a:pPr algn="ctr"/>
            <a:r>
              <a:rPr lang="en-US" dirty="0"/>
              <a:t>Ports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dirty="0"/>
              <a:t>Adapters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37D0A2E-A478-A8B0-8DB4-3AFB82F94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0"/>
            <a:ext cx="10023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14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08B4-E4C8-1554-678B-0B71456A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Ports &amp; Adapters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BE80FC-84D8-090F-B10A-F882A0DA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286385"/>
            <a:ext cx="7772400" cy="3428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E1E06-8FA3-8E3D-4E64-77EF03ACA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2" y="3429000"/>
            <a:ext cx="4329113" cy="11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4B97-49F2-193B-24EA-9BC603D7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Mother(recap)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28C21-7218-8897-0FC0-0E544C88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350963"/>
            <a:ext cx="43434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26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7F51-5909-8721-B344-9993AE56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Alternativ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ObjectMother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C19A7-D048-1EA0-0379-78956CF60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Testdata</a:t>
            </a:r>
            <a:r>
              <a:rPr lang="en-US" dirty="0"/>
              <a:t> factory extension functions..?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BA7353-AB77-3B22-EC05-D20C1F64B4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Når</a:t>
            </a:r>
            <a:r>
              <a:rPr lang="en-US" dirty="0"/>
              <a:t> du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kontroll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klassen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Bittelitt</a:t>
            </a:r>
            <a:r>
              <a:rPr lang="en-US" dirty="0"/>
              <a:t> </a:t>
            </a:r>
            <a:r>
              <a:rPr lang="en-US" dirty="0" err="1"/>
              <a:t>tydeligere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 du </a:t>
            </a:r>
            <a:r>
              <a:rPr lang="en-US" dirty="0" err="1"/>
              <a:t>får</a:t>
            </a:r>
            <a:r>
              <a:rPr lang="en-US" dirty="0"/>
              <a:t> </a:t>
            </a:r>
            <a:r>
              <a:rPr lang="en-US" dirty="0" err="1"/>
              <a:t>ut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Krever </a:t>
            </a:r>
            <a:r>
              <a:rPr lang="en-US" dirty="0" err="1"/>
              <a:t>tomt</a:t>
            </a:r>
            <a:r>
              <a:rPr lang="en-US" dirty="0"/>
              <a:t> companion object </a:t>
            </a:r>
            <a:r>
              <a:rPr lang="en-US" dirty="0" err="1"/>
              <a:t>inntil</a:t>
            </a:r>
            <a:r>
              <a:rPr lang="en-US" dirty="0"/>
              <a:t> “static” </a:t>
            </a:r>
            <a:r>
              <a:rPr lang="en-US" dirty="0" err="1"/>
              <a:t>kommer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Bruker copy-</a:t>
            </a:r>
            <a:r>
              <a:rPr lang="en-US" dirty="0" err="1"/>
              <a:t>funksjon</a:t>
            </a:r>
            <a:r>
              <a:rPr lang="en-US" dirty="0"/>
              <a:t> </a:t>
            </a:r>
            <a:r>
              <a:rPr lang="en-US" dirty="0" err="1"/>
              <a:t>når</a:t>
            </a:r>
            <a:r>
              <a:rPr lang="en-US" dirty="0"/>
              <a:t> man </a:t>
            </a:r>
            <a:r>
              <a:rPr lang="en-US" dirty="0" err="1"/>
              <a:t>trenger</a:t>
            </a:r>
            <a:r>
              <a:rPr lang="en-US" dirty="0"/>
              <a:t> </a:t>
            </a:r>
            <a:r>
              <a:rPr lang="en-US" dirty="0" err="1"/>
              <a:t>justeringer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Mye </a:t>
            </a:r>
            <a:r>
              <a:rPr lang="en-US" dirty="0" err="1"/>
              <a:t>brukte</a:t>
            </a:r>
            <a:r>
              <a:rPr lang="en-US" dirty="0"/>
              <a:t> </a:t>
            </a:r>
            <a:r>
              <a:rPr lang="en-US" dirty="0" err="1"/>
              <a:t>tilfeller</a:t>
            </a:r>
            <a:r>
              <a:rPr lang="en-US" dirty="0"/>
              <a:t> </a:t>
            </a:r>
            <a:r>
              <a:rPr lang="en-US" dirty="0" err="1"/>
              <a:t>får</a:t>
            </a:r>
            <a:r>
              <a:rPr lang="en-US" dirty="0"/>
              <a:t> </a:t>
            </a:r>
            <a:r>
              <a:rPr lang="en-US" dirty="0" err="1"/>
              <a:t>egen</a:t>
            </a:r>
            <a:r>
              <a:rPr lang="en-US" dirty="0"/>
              <a:t> </a:t>
            </a:r>
            <a:r>
              <a:rPr lang="en-US" dirty="0" err="1"/>
              <a:t>funksjon</a:t>
            </a:r>
            <a:r>
              <a:rPr lang="en-US" dirty="0"/>
              <a:t>(</a:t>
            </a:r>
            <a:r>
              <a:rPr lang="en-US" dirty="0" err="1"/>
              <a:t>som</a:t>
            </a:r>
            <a:r>
              <a:rPr lang="en-US" dirty="0"/>
              <a:t> med </a:t>
            </a:r>
            <a:r>
              <a:rPr lang="en-US" dirty="0" err="1"/>
              <a:t>ObjectMother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B5185-9125-8D9B-AD3D-1BF89048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225" y="511648"/>
            <a:ext cx="37973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5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7A58E2-E61C-E12A-69BA-A05A76F8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Demotid</a:t>
            </a:r>
            <a:r>
              <a:rPr lang="en-US" dirty="0"/>
              <a:t>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50C6FE-F1F4-FF77-C264-335A9B1BC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kunde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KundePort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KundePortFake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145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9DFA10-0216-CC9B-BB60-E22145AF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Oppgavetid!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00A1D2-378E-F2C3-9EE8-C533BE49B0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Lag domenemodell for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nb-NO" dirty="0"/>
              <a:t>Kunde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nb-NO" dirty="0" err="1"/>
              <a:t>ProduktLager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Lag Port-</a:t>
            </a:r>
            <a:r>
              <a:rPr lang="nb-NO" dirty="0" err="1"/>
              <a:t>interface</a:t>
            </a:r>
            <a:r>
              <a:rPr lang="nb-NO" dirty="0"/>
              <a:t> for begge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Lag Adapter-</a:t>
            </a:r>
            <a:r>
              <a:rPr lang="nb-NO" dirty="0" err="1"/>
              <a:t>fake</a:t>
            </a:r>
            <a:r>
              <a:rPr lang="nb-NO" dirty="0"/>
              <a:t> for begge</a:t>
            </a:r>
          </a:p>
          <a:p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CFD294-48F6-5BE7-261E-A553F07FCF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Oppgave</a:t>
            </a:r>
            <a:r>
              <a:rPr lang="en-US" dirty="0"/>
              <a:t>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47D0B-2470-66BB-EFED-8902A6A401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Oppgave</a:t>
            </a:r>
            <a:r>
              <a:rPr lang="en-US" dirty="0"/>
              <a:t>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97E8C-D9AF-C968-9DED-D0086C3B3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Testdata</a:t>
            </a:r>
            <a:r>
              <a:rPr lang="en-US" dirty="0"/>
              <a:t> factory extension functions for </a:t>
            </a:r>
            <a:r>
              <a:rPr lang="en-US" dirty="0" err="1"/>
              <a:t>domeneklasser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Hvor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de </a:t>
            </a:r>
            <a:r>
              <a:rPr lang="en-US" dirty="0" err="1"/>
              <a:t>plasseres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74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87920C3-EAD4-9520-702F-C328272A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 2: Adapters, </a:t>
            </a:r>
            <a:r>
              <a:rPr lang="en-US" dirty="0" err="1"/>
              <a:t>Integrasjonstester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litt</a:t>
            </a:r>
            <a:r>
              <a:rPr lang="en-US" dirty="0"/>
              <a:t> om Spring DI</a:t>
            </a:r>
          </a:p>
        </p:txBody>
      </p:sp>
    </p:spTree>
    <p:extLst>
      <p:ext uri="{BB962C8B-B14F-4D97-AF65-F5344CB8AC3E}">
        <p14:creationId xmlns:p14="http://schemas.microsoft.com/office/powerpoint/2010/main" val="3041227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7972-F157-43B7-DCE3-5B707B61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4F43DD-9F5E-53AA-A4B1-7EE4BA16B9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Implementerer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port for </a:t>
            </a:r>
            <a:r>
              <a:rPr lang="en-US" dirty="0" err="1"/>
              <a:t>domenet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Kjært</a:t>
            </a:r>
            <a:r>
              <a:rPr lang="en-US" dirty="0"/>
              <a:t> barn </a:t>
            </a:r>
            <a:r>
              <a:rPr lang="en-US" dirty="0" err="1"/>
              <a:t>har</a:t>
            </a:r>
            <a:r>
              <a:rPr lang="en-US" dirty="0"/>
              <a:t> mange </a:t>
            </a:r>
            <a:r>
              <a:rPr lang="en-US" dirty="0" err="1"/>
              <a:t>navn</a:t>
            </a:r>
            <a:r>
              <a:rPr lang="en-US" dirty="0"/>
              <a:t>; Adapter, Rest, Repository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sikkert</a:t>
            </a:r>
            <a:r>
              <a:rPr lang="en-US" dirty="0"/>
              <a:t> </a:t>
            </a:r>
            <a:r>
              <a:rPr lang="en-US" dirty="0" err="1"/>
              <a:t>flere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Wrapper </a:t>
            </a:r>
            <a:r>
              <a:rPr lang="en-US" dirty="0" err="1"/>
              <a:t>ekstern</a:t>
            </a:r>
            <a:r>
              <a:rPr lang="en-US" dirty="0"/>
              <a:t> </a:t>
            </a:r>
            <a:r>
              <a:rPr lang="en-US" dirty="0" err="1"/>
              <a:t>tjeneste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Oversetter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eksternt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domene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F36CC-DE33-8257-AA3A-44B336F0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625" y="3482502"/>
            <a:ext cx="66929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3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06F9-2D4A-42D6-95A8-F3CBC064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  <a:r>
              <a:rPr lang="en-US" dirty="0" err="1"/>
              <a:t>testpyramide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7F92E4-F705-7ADA-2AA0-58EF7776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148313"/>
            <a:ext cx="7772400" cy="6561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C615CF-2DAA-DBCA-E240-426A574F35D1}"/>
              </a:ext>
            </a:extLst>
          </p:cNvPr>
          <p:cNvSpPr txBox="1"/>
          <p:nvPr/>
        </p:nvSpPr>
        <p:spPr>
          <a:xfrm>
            <a:off x="9058275" y="5600700"/>
            <a:ext cx="3016385" cy="884070"/>
          </a:xfrm>
          <a:prstGeom prst="rect">
            <a:avLst/>
          </a:prstGeom>
        </p:spPr>
        <p:txBody>
          <a:bodyPr wrap="none" lIns="72000" tIns="72000" rIns="72000" bIns="72000" rtlCol="0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lang="en-US" sz="2400" b="1" dirty="0">
                <a:latin typeface="GT America Lt" pitchFamily="2" charset="77"/>
                <a:ea typeface="GT America Lt" pitchFamily="2" charset="77"/>
              </a:rPr>
              <a:t>Masse</a:t>
            </a:r>
            <a:r>
              <a:rPr lang="en-US" sz="2400" dirty="0">
                <a:latin typeface="GT America Lt" pitchFamily="2" charset="77"/>
                <a:ea typeface="GT America Lt" pitchFamily="2" charset="77"/>
              </a:rPr>
              <a:t> - </a:t>
            </a:r>
            <a:r>
              <a:rPr lang="en-US" sz="2400" dirty="0" err="1">
                <a:latin typeface="GT America Lt" pitchFamily="2" charset="77"/>
                <a:ea typeface="GT America Lt" pitchFamily="2" charset="77"/>
              </a:rPr>
              <a:t>domenelogikk</a:t>
            </a:r>
            <a:r>
              <a:rPr lang="en-US" sz="2400" dirty="0">
                <a:latin typeface="GT America Lt" pitchFamily="2" charset="77"/>
                <a:ea typeface="GT America Lt" pitchFamily="2" charset="77"/>
              </a:rPr>
              <a:t> </a:t>
            </a:r>
            <a:br>
              <a:rPr lang="en-US" sz="2400" dirty="0">
                <a:latin typeface="GT America Lt" pitchFamily="2" charset="77"/>
                <a:ea typeface="GT America Lt" pitchFamily="2" charset="77"/>
              </a:rPr>
            </a:br>
            <a:r>
              <a:rPr lang="en-US" sz="2400" dirty="0">
                <a:latin typeface="GT America Lt" pitchFamily="2" charset="77"/>
                <a:ea typeface="GT America Lt" pitchFamily="2" charset="77"/>
              </a:rPr>
              <a:t>&amp; fakes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2C57C-C65D-2DBC-2922-A006B1C6968E}"/>
              </a:ext>
            </a:extLst>
          </p:cNvPr>
          <p:cNvSpPr txBox="1"/>
          <p:nvPr/>
        </p:nvSpPr>
        <p:spPr>
          <a:xfrm>
            <a:off x="9058275" y="3756430"/>
            <a:ext cx="2822421" cy="1622734"/>
          </a:xfrm>
          <a:prstGeom prst="rect">
            <a:avLst/>
          </a:prstGeom>
        </p:spPr>
        <p:txBody>
          <a:bodyPr wrap="none" lIns="72000" tIns="72000" rIns="72000" bIns="72000" rtlCol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400" b="1" dirty="0" err="1">
                <a:latin typeface="GT America Lt" pitchFamily="2" charset="77"/>
                <a:ea typeface="GT America Lt" pitchFamily="2" charset="77"/>
              </a:rPr>
              <a:t>Noen</a:t>
            </a:r>
            <a:r>
              <a:rPr lang="en-US" sz="2400" dirty="0">
                <a:latin typeface="GT America Lt" pitchFamily="2" charset="77"/>
                <a:ea typeface="GT America Lt" pitchFamily="2" charset="77"/>
              </a:rPr>
              <a:t> - </a:t>
            </a:r>
            <a:r>
              <a:rPr lang="en-US" sz="2400" dirty="0" err="1">
                <a:latin typeface="GT America Lt" pitchFamily="2" charset="77"/>
                <a:ea typeface="GT America Lt" pitchFamily="2" charset="77"/>
              </a:rPr>
              <a:t>adaptere</a:t>
            </a:r>
            <a:r>
              <a:rPr lang="en-US" sz="2400" dirty="0">
                <a:latin typeface="GT America Lt" pitchFamily="2" charset="77"/>
                <a:ea typeface="GT America Lt" pitchFamily="2" charset="77"/>
              </a:rPr>
              <a:t> med</a:t>
            </a:r>
            <a:br>
              <a:rPr lang="en-US" sz="2400" dirty="0">
                <a:latin typeface="GT America Lt" pitchFamily="2" charset="77"/>
                <a:ea typeface="GT America Lt" pitchFamily="2" charset="77"/>
              </a:rPr>
            </a:br>
            <a:r>
              <a:rPr lang="en-US" sz="2400" dirty="0" err="1">
                <a:latin typeface="GT America Lt" pitchFamily="2" charset="77"/>
                <a:ea typeface="GT America Lt" pitchFamily="2" charset="77"/>
              </a:rPr>
              <a:t>testcontainers</a:t>
            </a:r>
            <a:r>
              <a:rPr lang="en-US" sz="2400" dirty="0">
                <a:latin typeface="GT America Lt" pitchFamily="2" charset="77"/>
                <a:ea typeface="GT America Lt" pitchFamily="2" charset="77"/>
              </a:rPr>
              <a:t>, </a:t>
            </a:r>
            <a:br>
              <a:rPr lang="en-US" sz="2400" dirty="0">
                <a:latin typeface="GT America Lt" pitchFamily="2" charset="77"/>
                <a:ea typeface="GT America Lt" pitchFamily="2" charset="77"/>
              </a:rPr>
            </a:br>
            <a:r>
              <a:rPr lang="en-US" sz="2400" dirty="0">
                <a:latin typeface="GT America Lt" pitchFamily="2" charset="77"/>
                <a:ea typeface="GT America Lt" pitchFamily="2" charset="77"/>
              </a:rPr>
              <a:t>controllers med </a:t>
            </a:r>
            <a:br>
              <a:rPr lang="en-US" sz="2400" dirty="0">
                <a:latin typeface="GT America Lt" pitchFamily="2" charset="77"/>
                <a:ea typeface="GT America Lt" pitchFamily="2" charset="77"/>
              </a:rPr>
            </a:br>
            <a:r>
              <a:rPr lang="en-US" sz="2400" dirty="0" err="1"/>
              <a:t>WebMvcTest</a:t>
            </a:r>
            <a:endParaRPr lang="en-US" sz="2400" dirty="0">
              <a:latin typeface="GT America Lt" pitchFamily="2" charset="77"/>
              <a:ea typeface="GT America L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57A981-7C64-D07E-8143-C6B91FC5FFA4}"/>
              </a:ext>
            </a:extLst>
          </p:cNvPr>
          <p:cNvSpPr txBox="1"/>
          <p:nvPr/>
        </p:nvSpPr>
        <p:spPr>
          <a:xfrm>
            <a:off x="9058275" y="1897873"/>
            <a:ext cx="2810559" cy="884070"/>
          </a:xfrm>
          <a:prstGeom prst="rect">
            <a:avLst/>
          </a:prstGeom>
        </p:spPr>
        <p:txBody>
          <a:bodyPr wrap="none" lIns="72000" tIns="72000" rIns="72000" bIns="72000" rtlCol="0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lang="en-US" sz="2400" b="1" dirty="0" err="1">
                <a:latin typeface="GT America Lt" pitchFamily="2" charset="77"/>
                <a:ea typeface="GT America Lt" pitchFamily="2" charset="77"/>
              </a:rPr>
              <a:t>Få</a:t>
            </a:r>
            <a:r>
              <a:rPr lang="en-US" sz="2400" dirty="0">
                <a:latin typeface="GT America Lt" pitchFamily="2" charset="77"/>
                <a:ea typeface="GT America Lt" pitchFamily="2" charset="77"/>
              </a:rPr>
              <a:t> - @</a:t>
            </a:r>
            <a:r>
              <a:rPr lang="en-US" sz="2400" dirty="0" err="1">
                <a:latin typeface="GT America Lt" pitchFamily="2" charset="77"/>
                <a:ea typeface="GT America Lt" pitchFamily="2" charset="77"/>
              </a:rPr>
              <a:t>SpringBootTest</a:t>
            </a:r>
            <a:br>
              <a:rPr lang="en-US" sz="2400" dirty="0">
                <a:latin typeface="GT America Lt" pitchFamily="2" charset="77"/>
                <a:ea typeface="GT America Lt" pitchFamily="2" charset="77"/>
              </a:rPr>
            </a:br>
            <a:r>
              <a:rPr lang="en-US" sz="2400" dirty="0">
                <a:latin typeface="GT America Lt" pitchFamily="2" charset="77"/>
                <a:ea typeface="GT America Lt" pitchFamily="2" charset="77"/>
              </a:rPr>
              <a:t>hele </a:t>
            </a:r>
            <a:r>
              <a:rPr lang="en-US" sz="2400" dirty="0" err="1">
                <a:latin typeface="GT America Lt" pitchFamily="2" charset="77"/>
                <a:ea typeface="GT America Lt" pitchFamily="2" charset="77"/>
              </a:rPr>
              <a:t>greia</a:t>
            </a:r>
            <a:endParaRPr lang="en-US" sz="2400" dirty="0">
              <a:latin typeface="GT America Lt" pitchFamily="2" charset="77"/>
              <a:ea typeface="GT America L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2832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4309-165B-108B-3917-D355C9C1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Adaptere</a:t>
            </a:r>
            <a:r>
              <a:rPr lang="en-US" dirty="0"/>
              <a:t> mot database(recap)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F9307-3217-D414-DA9F-9C34EED5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Ekte</a:t>
            </a:r>
            <a:r>
              <a:rPr lang="en-US" dirty="0"/>
              <a:t>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Ingen SQL-</a:t>
            </a:r>
            <a:r>
              <a:rPr lang="en-US" dirty="0" err="1"/>
              <a:t>dialekt</a:t>
            </a:r>
            <a:r>
              <a:rPr lang="en-US" dirty="0"/>
              <a:t> </a:t>
            </a:r>
            <a:r>
              <a:rPr lang="en-US" dirty="0" err="1"/>
              <a:t>problematikk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</a:t>
            </a:r>
            <a:r>
              <a:rPr lang="en-US" dirty="0" err="1"/>
              <a:t>migrasjoner</a:t>
            </a:r>
            <a:r>
              <a:rPr lang="en-US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Prodlikt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Noe </a:t>
            </a:r>
            <a:r>
              <a:rPr lang="en-US" dirty="0" err="1"/>
              <a:t>tregere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krever</a:t>
            </a:r>
            <a:r>
              <a:rPr lang="en-US" dirty="0"/>
              <a:t> docker </a:t>
            </a:r>
            <a:r>
              <a:rPr lang="en-US" dirty="0" err="1"/>
              <a:t>installert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A74B65-40F9-4AC1-7A0A-9E7E6E541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Testcontainers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F30DCBD-713E-8893-04EB-F2832C7A15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1F0509-991D-6C5B-8156-7FECF6B19A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Krever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JVM </a:t>
            </a:r>
            <a:r>
              <a:rPr lang="en-US" dirty="0" err="1"/>
              <a:t>avhengighet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Rask!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 </a:t>
            </a:r>
            <a:r>
              <a:rPr lang="en-US" dirty="0" err="1"/>
              <a:t>avvike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SQL </a:t>
            </a:r>
            <a:r>
              <a:rPr lang="en-US" dirty="0" err="1"/>
              <a:t>dialekt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Ikke </a:t>
            </a:r>
            <a:r>
              <a:rPr lang="en-US" dirty="0" err="1"/>
              <a:t>heeeelt</a:t>
            </a:r>
            <a:r>
              <a:rPr lang="en-US" dirty="0"/>
              <a:t> </a:t>
            </a:r>
            <a:r>
              <a:rPr lang="en-US" dirty="0" err="1"/>
              <a:t>likt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prod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747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DE4A-0A0F-86AB-C186-AA713EEB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F47F25-0C51-46B0-50FC-8BF96274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Demotid</a:t>
            </a:r>
            <a:r>
              <a:rPr lang="en-US" dirty="0"/>
              <a:t>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9C0BBF-4DE3-C745-B0A1-6F305E996A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kunde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Adapter med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Testcontainer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16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F3E48-79A2-3273-9894-6FD7621DC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134601-6F30-B084-6DBE-16031431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Oppgavetid!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9D04DD-A5D1-FC37-8ABF-5739EEE972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Lag adapter for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nb-NO" dirty="0"/>
              <a:t>Kunde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nb-NO" dirty="0" err="1"/>
              <a:t>ProduktLager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Skriv tester med testcontainer eller h2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Hvor lang tid tar adapter-testene sammenlignet med de andre testene fra dere trykker start til den er ferdig?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D826CA-C475-538F-B7B7-3B8B25F700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Oppgave</a:t>
            </a:r>
            <a:r>
              <a:rPr lang="en-US" dirty="0"/>
              <a:t>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1BFEE-EF62-7A7A-1DCD-83652E36A5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Oppgave</a:t>
            </a:r>
            <a:r>
              <a:rPr lang="en-US" dirty="0"/>
              <a:t>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A579A-9D89-0E22-DDBC-92058A7A7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Refaktorer</a:t>
            </a:r>
            <a:r>
              <a:rPr lang="en-US" dirty="0"/>
              <a:t> </a:t>
            </a:r>
            <a:r>
              <a:rPr lang="en-US" dirty="0" err="1"/>
              <a:t>OrdreService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bruke</a:t>
            </a:r>
            <a:r>
              <a:rPr lang="en-US" dirty="0"/>
              <a:t> 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Erstatt</a:t>
            </a:r>
            <a:r>
              <a:rPr lang="en-US" dirty="0"/>
              <a:t> </a:t>
            </a:r>
            <a:r>
              <a:rPr lang="en-US" dirty="0" err="1"/>
              <a:t>mockks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tester med fakes</a:t>
            </a:r>
          </a:p>
        </p:txBody>
      </p:sp>
    </p:spTree>
    <p:extLst>
      <p:ext uri="{BB962C8B-B14F-4D97-AF65-F5344CB8AC3E}">
        <p14:creationId xmlns:p14="http://schemas.microsoft.com/office/powerpoint/2010/main" val="511065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597E58-1240-848F-9714-1FC7570F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Tanker?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AC2579-613A-4797-E98D-C676AFF2B4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Ble </a:t>
            </a:r>
            <a:r>
              <a:rPr lang="en-US" dirty="0" err="1"/>
              <a:t>testene</a:t>
            </a:r>
            <a:r>
              <a:rPr lang="en-US" dirty="0"/>
              <a:t> </a:t>
            </a:r>
            <a:r>
              <a:rPr lang="en-US" dirty="0" err="1"/>
              <a:t>lettere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lese?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 </a:t>
            </a:r>
            <a:r>
              <a:rPr lang="en-US" dirty="0" err="1"/>
              <a:t>testene</a:t>
            </a:r>
            <a:r>
              <a:rPr lang="en-US" dirty="0"/>
              <a:t> </a:t>
            </a:r>
            <a:r>
              <a:rPr lang="en-US" dirty="0" err="1"/>
              <a:t>forståelige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Ble </a:t>
            </a:r>
            <a:r>
              <a:rPr lang="en-US" dirty="0" err="1"/>
              <a:t>domenekode</a:t>
            </a:r>
            <a:r>
              <a:rPr lang="en-US" dirty="0"/>
              <a:t> </a:t>
            </a:r>
            <a:r>
              <a:rPr lang="en-US" dirty="0" err="1"/>
              <a:t>bedre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dårligere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alltid</a:t>
            </a:r>
            <a:r>
              <a:rPr lang="en-US" dirty="0"/>
              <a:t> </a:t>
            </a:r>
            <a:r>
              <a:rPr lang="en-US" dirty="0" err="1"/>
              <a:t>nødvendig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74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C6B2C7-D0E1-945E-E1C0-F77DC09F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 3: Spring DI</a:t>
            </a:r>
          </a:p>
        </p:txBody>
      </p:sp>
    </p:spTree>
    <p:extLst>
      <p:ext uri="{BB962C8B-B14F-4D97-AF65-F5344CB8AC3E}">
        <p14:creationId xmlns:p14="http://schemas.microsoft.com/office/powerpoint/2010/main" val="4290438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1A3D21-C172-88E3-B6A5-CA22EC9B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Hvordan</a:t>
            </a:r>
            <a:r>
              <a:rPr lang="en-US" dirty="0"/>
              <a:t> </a:t>
            </a:r>
            <a:r>
              <a:rPr lang="en-US" dirty="0" err="1"/>
              <a:t>får</a:t>
            </a:r>
            <a:r>
              <a:rPr lang="en-US" dirty="0"/>
              <a:t> </a:t>
            </a:r>
            <a:r>
              <a:rPr lang="en-US" dirty="0" err="1"/>
              <a:t>OrdreService</a:t>
            </a:r>
            <a:r>
              <a:rPr lang="en-US" dirty="0"/>
              <a:t> </a:t>
            </a:r>
            <a:r>
              <a:rPr lang="en-US" dirty="0" err="1"/>
              <a:t>Kundeport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01455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A7F319-2824-2808-399E-0914239FA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3003550"/>
            <a:ext cx="67691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7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AEB4BA-D0E6-BD8C-662B-B3EB37A9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2108200"/>
            <a:ext cx="77343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87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486B35-C474-1C4F-B4F7-5C9ED03A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231900"/>
            <a:ext cx="77343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23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7B84A-A3CB-3018-5F21-19828412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49250"/>
            <a:ext cx="7734300" cy="61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52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B58DDC-D093-9C3B-AFEB-C2D22A4F2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747" y="0"/>
            <a:ext cx="74845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16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D815-A6E9-D667-E3BC-9F74AE99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bean?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A6F39-84D1-1B6C-AAB9-D331D5306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Et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hvor</a:t>
            </a:r>
            <a:r>
              <a:rPr lang="en-US" dirty="0"/>
              <a:t> Spring Container </a:t>
            </a:r>
            <a:r>
              <a:rPr lang="en-US" dirty="0" err="1"/>
              <a:t>håndterer</a:t>
            </a:r>
            <a:r>
              <a:rPr lang="en-US" dirty="0"/>
              <a:t> </a:t>
            </a:r>
            <a:r>
              <a:rPr lang="en-US" dirty="0" err="1"/>
              <a:t>livssyklus</a:t>
            </a:r>
            <a:r>
              <a:rPr lang="en-US" dirty="0"/>
              <a:t> for </a:t>
            </a:r>
            <a:r>
              <a:rPr lang="en-US" dirty="0" err="1"/>
              <a:t>oss</a:t>
            </a:r>
            <a:r>
              <a:rPr lang="en-US" dirty="0"/>
              <a:t>(</a:t>
            </a:r>
            <a:r>
              <a:rPr lang="en-US" dirty="0" err="1"/>
              <a:t>opprettelse</a:t>
            </a:r>
            <a:r>
              <a:rPr lang="en-US" dirty="0"/>
              <a:t>, </a:t>
            </a:r>
            <a:r>
              <a:rPr lang="en-US" dirty="0" err="1"/>
              <a:t>gjenopprettelse</a:t>
            </a:r>
            <a:r>
              <a:rPr lang="en-US" dirty="0"/>
              <a:t>, </a:t>
            </a:r>
            <a:r>
              <a:rPr lang="en-US" dirty="0" err="1"/>
              <a:t>sletting</a:t>
            </a:r>
            <a:r>
              <a:rPr lang="en-US" dirty="0"/>
              <a:t>).</a:t>
            </a:r>
          </a:p>
          <a:p>
            <a:r>
              <a:rPr lang="en-US" dirty="0" err="1"/>
              <a:t>Alternativet</a:t>
            </a:r>
            <a:r>
              <a:rPr lang="en-US" dirty="0"/>
              <a:t> er at vi </a:t>
            </a:r>
            <a:r>
              <a:rPr lang="en-US" dirty="0" err="1"/>
              <a:t>manuelt</a:t>
            </a:r>
            <a:r>
              <a:rPr lang="en-US" dirty="0"/>
              <a:t> lager dependencies(”new </a:t>
            </a:r>
            <a:r>
              <a:rPr lang="en-US" dirty="0" err="1"/>
              <a:t>KundeAdapter</a:t>
            </a:r>
            <a:r>
              <a:rPr lang="en-US" dirty="0"/>
              <a:t>()”)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dytter</a:t>
            </a:r>
            <a:r>
              <a:rPr lang="en-US" dirty="0"/>
              <a:t> det inn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klassene</a:t>
            </a:r>
            <a:r>
              <a:rPr lang="en-US" dirty="0"/>
              <a:t>.</a:t>
            </a:r>
          </a:p>
          <a:p>
            <a:r>
              <a:rPr lang="en-US" dirty="0" err="1"/>
              <a:t>Obs</a:t>
            </a:r>
            <a:r>
              <a:rPr lang="en-US" dirty="0"/>
              <a:t>! Visse ting(</a:t>
            </a:r>
            <a:r>
              <a:rPr lang="en-US" dirty="0" err="1"/>
              <a:t>eksempelvis</a:t>
            </a:r>
            <a:r>
              <a:rPr lang="en-US" dirty="0"/>
              <a:t> @Transactional) </a:t>
            </a:r>
            <a:r>
              <a:rPr lang="en-US" dirty="0" err="1"/>
              <a:t>fører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det </a:t>
            </a:r>
            <a:r>
              <a:rPr lang="en-US" dirty="0" err="1"/>
              <a:t>blir</a:t>
            </a:r>
            <a:r>
              <a:rPr lang="en-US" dirty="0"/>
              <a:t> </a:t>
            </a:r>
            <a:r>
              <a:rPr lang="en-US" dirty="0" err="1"/>
              <a:t>opprettet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Proxy </a:t>
            </a:r>
            <a:r>
              <a:rPr lang="en-US" dirty="0" err="1"/>
              <a:t>som</a:t>
            </a:r>
            <a:r>
              <a:rPr lang="en-US" dirty="0"/>
              <a:t> legger seg </a:t>
            </a:r>
            <a:r>
              <a:rPr lang="en-US" dirty="0" err="1"/>
              <a:t>rundt</a:t>
            </a:r>
            <a:r>
              <a:rPr lang="en-US" dirty="0"/>
              <a:t> </a:t>
            </a:r>
            <a:r>
              <a:rPr lang="en-US" dirty="0" err="1"/>
              <a:t>klassen</a:t>
            </a:r>
            <a:r>
              <a:rPr lang="en-US" dirty="0"/>
              <a:t> - </a:t>
            </a:r>
            <a:r>
              <a:rPr lang="en-US" dirty="0" err="1"/>
              <a:t>kall</a:t>
            </a:r>
            <a:r>
              <a:rPr lang="en-US" dirty="0"/>
              <a:t> mot </a:t>
            </a:r>
            <a:r>
              <a:rPr lang="en-US" dirty="0" err="1"/>
              <a:t>klassen</a:t>
            </a:r>
            <a:r>
              <a:rPr lang="en-US" dirty="0"/>
              <a:t> </a:t>
            </a:r>
            <a:r>
              <a:rPr lang="en-US" dirty="0" err="1"/>
              <a:t>utenifra</a:t>
            </a:r>
            <a:r>
              <a:rPr lang="en-US" dirty="0"/>
              <a:t>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gå</a:t>
            </a:r>
            <a:r>
              <a:rPr lang="en-US" dirty="0"/>
              <a:t> via proxy, interne </a:t>
            </a:r>
            <a:r>
              <a:rPr lang="en-US" dirty="0" err="1"/>
              <a:t>kall</a:t>
            </a:r>
            <a:r>
              <a:rPr lang="en-US" dirty="0"/>
              <a:t> via ”this” </a:t>
            </a:r>
            <a:r>
              <a:rPr lang="en-US" dirty="0" err="1"/>
              <a:t>går</a:t>
            </a:r>
            <a:r>
              <a:rPr lang="en-US" dirty="0"/>
              <a:t> </a:t>
            </a:r>
            <a:r>
              <a:rPr lang="en-US" dirty="0" err="1"/>
              <a:t>direkte</a:t>
            </a:r>
            <a:r>
              <a:rPr lang="en-US" dirty="0"/>
              <a:t> mot </a:t>
            </a:r>
            <a:r>
              <a:rPr lang="en-US" dirty="0" err="1"/>
              <a:t>klassen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316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F6E5-B8CC-A873-B88C-60488171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Hvordan</a:t>
            </a:r>
            <a:r>
              <a:rPr lang="en-US" dirty="0"/>
              <a:t> </a:t>
            </a:r>
            <a:r>
              <a:rPr lang="en-US" dirty="0" err="1"/>
              <a:t>opprette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bean?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486BC0-6211-9CEA-7FA9-A0E580498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4" y="4872037"/>
            <a:ext cx="5400000" cy="1652587"/>
          </a:xfrm>
        </p:spPr>
        <p:txBody>
          <a:bodyPr/>
          <a:lstStyle/>
          <a:p>
            <a:r>
              <a:rPr lang="en-US" dirty="0" err="1"/>
              <a:t>Foretrukket</a:t>
            </a:r>
            <a:r>
              <a:rPr lang="en-US" dirty="0"/>
              <a:t> </a:t>
            </a:r>
            <a:r>
              <a:rPr lang="en-US" dirty="0" err="1"/>
              <a:t>når</a:t>
            </a:r>
            <a:r>
              <a:rPr lang="en-US" dirty="0"/>
              <a:t> vi </a:t>
            </a:r>
            <a:r>
              <a:rPr lang="en-US" dirty="0" err="1"/>
              <a:t>eier</a:t>
            </a:r>
            <a:r>
              <a:rPr lang="en-US" dirty="0"/>
              <a:t> </a:t>
            </a:r>
            <a:r>
              <a:rPr lang="en-US" dirty="0" err="1"/>
              <a:t>klassen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50937-8C40-D4F7-2BC2-7C86649E7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 err="1"/>
              <a:t>Stereotyper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83BBEB-02DD-F57D-5E99-980FA87A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en-US" dirty="0" err="1"/>
              <a:t>Manuelt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022A90-54B3-92C1-7371-CFB72E037D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0524" y="4872036"/>
            <a:ext cx="5400000" cy="1652589"/>
          </a:xfrm>
        </p:spPr>
        <p:txBody>
          <a:bodyPr/>
          <a:lstStyle/>
          <a:p>
            <a:r>
              <a:rPr lang="en-US" dirty="0"/>
              <a:t>Mer </a:t>
            </a:r>
            <a:r>
              <a:rPr lang="en-US" dirty="0" err="1"/>
              <a:t>kontroll</a:t>
            </a:r>
            <a:r>
              <a:rPr lang="en-US" dirty="0"/>
              <a:t>, </a:t>
            </a:r>
            <a:r>
              <a:rPr lang="en-US" dirty="0" err="1"/>
              <a:t>avhengigheter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er </a:t>
            </a:r>
            <a:r>
              <a:rPr lang="en-US" dirty="0" err="1"/>
              <a:t>annotert</a:t>
            </a:r>
            <a:r>
              <a:rPr lang="en-US" dirty="0"/>
              <a:t>, conditional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12C39-56A4-4832-E19A-AF75F95B4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6" y="2705416"/>
            <a:ext cx="4229100" cy="1028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2EF7C6-D1C3-A67A-9017-67EA5F97D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824" y="2633821"/>
            <a:ext cx="43434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3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6" grpId="0" build="p"/>
      <p:bldP spid="7" grpId="0" build="p"/>
      <p:bldP spid="1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E8C9-ED86-8D83-DE68-B2665422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Hvordan</a:t>
            </a:r>
            <a:r>
              <a:rPr lang="en-US" dirty="0"/>
              <a:t> </a:t>
            </a:r>
            <a:r>
              <a:rPr lang="en-US" dirty="0" err="1"/>
              <a:t>få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bean?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8B7C2-EDA7-8D45-6A5A-444D500DAF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Foretrukket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Immutable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Trenger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Spring for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Tydelig</a:t>
            </a:r>
            <a:r>
              <a:rPr lang="en-US" dirty="0"/>
              <a:t> </a:t>
            </a:r>
            <a:r>
              <a:rPr lang="en-US" dirty="0" err="1"/>
              <a:t>hvilke</a:t>
            </a:r>
            <a:r>
              <a:rPr lang="en-US" dirty="0"/>
              <a:t> dependencies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trengs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E2C04-4FB7-5584-DBA6-79B71A8E46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Constructor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2AB40-51CA-6989-02DA-A735145D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Field injection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AB7C54-D1EF-A9B9-CF55-C8A399952D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Trenger</a:t>
            </a:r>
            <a:r>
              <a:rPr lang="en-US" dirty="0"/>
              <a:t> Spring for </a:t>
            </a:r>
            <a:r>
              <a:rPr lang="en-US" dirty="0" err="1"/>
              <a:t>å</a:t>
            </a:r>
            <a:r>
              <a:rPr lang="en-US" dirty="0"/>
              <a:t> teste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Litt </a:t>
            </a:r>
            <a:r>
              <a:rPr lang="en-US" dirty="0" err="1"/>
              <a:t>skjulte</a:t>
            </a:r>
            <a:r>
              <a:rPr lang="en-US" dirty="0"/>
              <a:t> dependencies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37C98D-314B-3A20-53CE-BADC6791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4789487"/>
            <a:ext cx="4343400" cy="149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CA000F-842C-31E8-B144-944D87863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60" y="4548187"/>
            <a:ext cx="53086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8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5" grpId="0" build="p"/>
      <p:bldP spid="6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D766-8237-25EB-50F5-6D614768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</a:t>
            </a:r>
            <a:r>
              <a:rPr lang="en-US" dirty="0"/>
              <a:t> er Spring Context?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D57807-E45E-8DA7-F41B-D00A996F9A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Lager beans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Lifecycle for beans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Dependency injection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C60428-7224-86F8-E2D5-4D5C74652F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 ha </a:t>
            </a:r>
            <a:r>
              <a:rPr lang="en-US" dirty="0" err="1"/>
              <a:t>flere</a:t>
            </a:r>
            <a:r>
              <a:rPr lang="en-US" dirty="0"/>
              <a:t>(</a:t>
            </a:r>
            <a:r>
              <a:rPr lang="en-US" dirty="0" err="1"/>
              <a:t>en</a:t>
            </a:r>
            <a:r>
              <a:rPr lang="en-US" dirty="0"/>
              <a:t> for </a:t>
            </a:r>
            <a:r>
              <a:rPr lang="en-US" dirty="0" err="1"/>
              <a:t>hver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stor</a:t>
            </a:r>
            <a:r>
              <a:rPr lang="en-US" dirty="0"/>
              <a:t> </a:t>
            </a:r>
            <a:r>
              <a:rPr lang="en-US" dirty="0" err="1"/>
              <a:t>applikasjon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ApplicationEvents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ApplicationListener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Hente </a:t>
            </a:r>
            <a:r>
              <a:rPr lang="en-US" dirty="0" err="1"/>
              <a:t>tekster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properties filer </a:t>
            </a:r>
            <a:r>
              <a:rPr lang="en-US" dirty="0" err="1"/>
              <a:t>i</a:t>
            </a:r>
            <a:r>
              <a:rPr lang="en-US" dirty="0"/>
              <a:t> resources </a:t>
            </a:r>
            <a:r>
              <a:rPr lang="en-US" dirty="0" err="1"/>
              <a:t>mappa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20391E-62AF-E47E-C013-7529BA532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Beans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2762E2-F00F-50CA-3C2D-E56BB96C90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Annet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B9C6CE-7F5D-EAEC-8636-66B01366D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0" y="2271713"/>
            <a:ext cx="3587223" cy="363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7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  <p:bldP spid="11" grpId="0" build="p"/>
      <p:bldP spid="1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Spring Boot </a:t>
            </a:r>
            <a:r>
              <a:rPr lang="en-US" dirty="0"/>
              <a:t>(Test)</a:t>
            </a:r>
            <a:r>
              <a:rPr dirty="0"/>
              <a:t> Slices</a:t>
            </a:r>
            <a:r>
              <a:rPr lang="en-US" dirty="0"/>
              <a:t>(recap)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6C06E9-6CCB-5A4C-AC6B-A06E9FB3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Starter </a:t>
            </a:r>
            <a:r>
              <a:rPr lang="en-US" dirty="0" err="1"/>
              <a:t>opp</a:t>
            </a:r>
            <a:r>
              <a:rPr lang="en-US" dirty="0"/>
              <a:t> </a:t>
            </a:r>
            <a:r>
              <a:rPr lang="en-US" dirty="0" err="1"/>
              <a:t>forskjellige</a:t>
            </a:r>
            <a:r>
              <a:rPr lang="en-US" dirty="0"/>
              <a:t> </a:t>
            </a:r>
            <a:r>
              <a:rPr lang="en-US" dirty="0" err="1"/>
              <a:t>deler</a:t>
            </a:r>
            <a:r>
              <a:rPr lang="en-US" dirty="0"/>
              <a:t> av </a:t>
            </a:r>
            <a:r>
              <a:rPr lang="en-US" dirty="0" err="1"/>
              <a:t>applikasjonen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SpringBootApplication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SpringBootTest</a:t>
            </a:r>
            <a:r>
              <a:rPr lang="en-US" dirty="0"/>
              <a:t> – hele </a:t>
            </a:r>
            <a:r>
              <a:rPr lang="en-US" dirty="0" err="1"/>
              <a:t>appen</a:t>
            </a:r>
            <a:r>
              <a:rPr lang="en-US" dirty="0"/>
              <a:t>, </a:t>
            </a:r>
            <a:r>
              <a:rPr lang="en-US" dirty="0" err="1"/>
              <a:t>treig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WebMvcTest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web-</a:t>
            </a:r>
            <a:r>
              <a:rPr lang="en-US" dirty="0" err="1"/>
              <a:t>laget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DataJpaTest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JPA-ting for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@</a:t>
            </a:r>
            <a:r>
              <a:rPr lang="en-US" dirty="0" err="1"/>
              <a:t>DataJdbcTest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JDBC-ting(</a:t>
            </a:r>
            <a:r>
              <a:rPr lang="en-US" dirty="0" err="1"/>
              <a:t>datasource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Og </a:t>
            </a:r>
            <a:r>
              <a:rPr lang="en-US" dirty="0" err="1"/>
              <a:t>enda</a:t>
            </a:r>
            <a:r>
              <a:rPr lang="en-US" dirty="0"/>
              <a:t> </a:t>
            </a:r>
            <a:r>
              <a:rPr lang="en-US" dirty="0" err="1"/>
              <a:t>flere</a:t>
            </a:r>
            <a:r>
              <a:rPr lang="en-US" dirty="0"/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Minste</a:t>
            </a:r>
            <a:r>
              <a:rPr lang="en-US" dirty="0"/>
              <a:t> </a:t>
            </a:r>
            <a:r>
              <a:rPr lang="en-US" dirty="0" err="1"/>
              <a:t>typen</a:t>
            </a:r>
            <a:r>
              <a:rPr lang="en-US" dirty="0"/>
              <a:t> – </a:t>
            </a:r>
            <a:r>
              <a:rPr lang="en-US" dirty="0" err="1"/>
              <a:t>raskere</a:t>
            </a:r>
            <a:r>
              <a:rPr lang="en-US" dirty="0"/>
              <a:t> tester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8706-A85F-C36E-EDAB-C30E44B1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Nå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vi </a:t>
            </a:r>
            <a:r>
              <a:rPr lang="en-US" dirty="0" err="1"/>
              <a:t>har</a:t>
            </a:r>
            <a:r>
              <a:rPr lang="en-US" dirty="0"/>
              <a:t> fakes.. </a:t>
            </a:r>
            <a:r>
              <a:rPr lang="en-US" dirty="0" err="1"/>
              <a:t>Hva</a:t>
            </a:r>
            <a:r>
              <a:rPr lang="en-US" dirty="0"/>
              <a:t> med </a:t>
            </a:r>
            <a:r>
              <a:rPr lang="en-US" dirty="0" err="1"/>
              <a:t>MockkBean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01553-6915-2C08-B990-178007B8D0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22168" y="2557463"/>
            <a:ext cx="347663" cy="3714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6A08-A29A-40AC-8415-961F5B47D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972468"/>
            <a:ext cx="5214938" cy="1526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4E9FBA-EA2F-C267-437E-69212ED55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586" y="1638300"/>
            <a:ext cx="4876800" cy="220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4CB7FF-59D0-794E-1B21-A33F51D73A10}"/>
              </a:ext>
            </a:extLst>
          </p:cNvPr>
          <p:cNvSpPr txBox="1"/>
          <p:nvPr/>
        </p:nvSpPr>
        <p:spPr>
          <a:xfrm>
            <a:off x="557213" y="4200525"/>
            <a:ext cx="4403303" cy="1868955"/>
          </a:xfrm>
          <a:prstGeom prst="rect">
            <a:avLst/>
          </a:prstGeom>
        </p:spPr>
        <p:txBody>
          <a:bodyPr wrap="none" lIns="72000" tIns="72000" rIns="72000" bIns="72000" rtlCol="0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lang="en-US" dirty="0" err="1">
                <a:latin typeface="GT America Lt" pitchFamily="2" charset="77"/>
                <a:ea typeface="GT America Lt" pitchFamily="2" charset="77"/>
              </a:rPr>
              <a:t>Fristende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, men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reflekter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over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disse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;</a:t>
            </a:r>
          </a:p>
          <a:p>
            <a:pPr marL="285750" indent="-285750" algn="l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GT America Lt" pitchFamily="2" charset="77"/>
                <a:ea typeface="GT America Lt" pitchFamily="2" charset="77"/>
              </a:rPr>
              <a:t>Hva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er controller-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testens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ansvar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?</a:t>
            </a:r>
          </a:p>
          <a:p>
            <a:pPr marL="285750" indent="-285750" algn="l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GT America Lt" pitchFamily="2" charset="77"/>
                <a:ea typeface="GT America Lt" pitchFamily="2" charset="77"/>
              </a:rPr>
              <a:t>Hvor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bør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feil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i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forretningslogikk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 </a:t>
            </a:r>
            <a:r>
              <a:rPr lang="en-US" dirty="0" err="1">
                <a:latin typeface="GT America Lt" pitchFamily="2" charset="77"/>
                <a:ea typeface="GT America Lt" pitchFamily="2" charset="77"/>
              </a:rPr>
              <a:t>oppdages</a:t>
            </a:r>
            <a:r>
              <a:rPr lang="en-US" dirty="0">
                <a:latin typeface="GT America Lt" pitchFamily="2" charset="77"/>
                <a:ea typeface="GT America Lt" pitchFamily="2" charset="77"/>
              </a:rPr>
              <a:t>?</a:t>
            </a:r>
          </a:p>
          <a:p>
            <a:pPr marL="285750" indent="-285750" algn="l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>
              <a:latin typeface="GT America Lt" pitchFamily="2" charset="77"/>
              <a:ea typeface="GT America L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7846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9247-F2EF-7B5F-1EF3-57C4463F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</a:t>
            </a:r>
            <a:r>
              <a:rPr lang="en-US" dirty="0"/>
              <a:t> med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implementasjoner</a:t>
            </a:r>
            <a:r>
              <a:rPr lang="en-US" dirty="0"/>
              <a:t> av </a:t>
            </a:r>
            <a:r>
              <a:rPr lang="en-US" dirty="0" err="1"/>
              <a:t>en</a:t>
            </a:r>
            <a:r>
              <a:rPr lang="en-US" dirty="0"/>
              <a:t> Port?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E6A11-9CFA-94A7-3DBC-1E2E302DAE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 </a:t>
            </a:r>
            <a:r>
              <a:rPr lang="en-US" dirty="0" err="1"/>
              <a:t>har</a:t>
            </a:r>
            <a:r>
              <a:rPr lang="en-US" dirty="0"/>
              <a:t> bare adapter </a:t>
            </a:r>
            <a:r>
              <a:rPr lang="en-US" dirty="0" err="1"/>
              <a:t>i</a:t>
            </a:r>
            <a:r>
              <a:rPr lang="en-US" dirty="0"/>
              <a:t> “prod” </a:t>
            </a:r>
            <a:r>
              <a:rPr lang="en-US" dirty="0" err="1"/>
              <a:t>og</a:t>
            </a:r>
            <a:r>
              <a:rPr lang="en-US" dirty="0"/>
              <a:t> fake </a:t>
            </a:r>
            <a:r>
              <a:rPr lang="en-US" dirty="0" err="1"/>
              <a:t>i</a:t>
            </a:r>
            <a:r>
              <a:rPr lang="en-US" dirty="0"/>
              <a:t> test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Så</a:t>
            </a:r>
            <a:r>
              <a:rPr lang="en-US" dirty="0"/>
              <a:t> vi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aldri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konflikt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Kan ha </a:t>
            </a:r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implementasjoner</a:t>
            </a:r>
            <a:r>
              <a:rPr lang="en-US" dirty="0"/>
              <a:t> av </a:t>
            </a:r>
            <a:r>
              <a:rPr lang="en-US" dirty="0" err="1"/>
              <a:t>en</a:t>
            </a:r>
            <a:r>
              <a:rPr lang="en-US" dirty="0"/>
              <a:t> port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samme</a:t>
            </a:r>
            <a:r>
              <a:rPr lang="en-US" dirty="0"/>
              <a:t>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Eksempelvis</a:t>
            </a:r>
            <a:r>
              <a:rPr lang="en-US" dirty="0"/>
              <a:t> </a:t>
            </a:r>
            <a:r>
              <a:rPr lang="en-US" dirty="0" err="1"/>
              <a:t>overgang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Eller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filagringstjeneste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Eller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meldingstjeneste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Eller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gammel</a:t>
            </a:r>
            <a:r>
              <a:rPr lang="en-US" dirty="0"/>
              <a:t> cache </a:t>
            </a:r>
            <a:r>
              <a:rPr lang="en-US" dirty="0" err="1"/>
              <a:t>instans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ny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Eller </a:t>
            </a:r>
            <a:r>
              <a:rPr lang="en-US" dirty="0" err="1"/>
              <a:t>objectmapper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er </a:t>
            </a:r>
            <a:r>
              <a:rPr lang="en-US" dirty="0" err="1"/>
              <a:t>konfigurert</a:t>
            </a:r>
            <a:r>
              <a:rPr lang="en-US" dirty="0"/>
              <a:t> </a:t>
            </a:r>
            <a:r>
              <a:rPr lang="en-US" dirty="0" err="1"/>
              <a:t>forskjellig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Foretrekk</a:t>
            </a:r>
            <a:r>
              <a:rPr lang="en-US" dirty="0"/>
              <a:t> at </a:t>
            </a:r>
            <a:r>
              <a:rPr lang="en-US" dirty="0" err="1"/>
              <a:t>miljøer</a:t>
            </a:r>
            <a:r>
              <a:rPr lang="en-US" dirty="0"/>
              <a:t> er </a:t>
            </a:r>
            <a:r>
              <a:rPr lang="en-US" dirty="0" err="1"/>
              <a:t>konfigurasjonsbasert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forskjellige</a:t>
            </a:r>
            <a:r>
              <a:rPr lang="en-US" dirty="0"/>
              <a:t> beans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E9CCA-20EB-0339-5097-53C14865D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60579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2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75112-6011-9136-D7DC-840C4BFB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Avslutning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55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896986-9C86-60F4-A37F-B23DCF72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Refleksjoner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9B9FE-CC1D-968B-4FB7-F205037B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Ble </a:t>
            </a:r>
            <a:r>
              <a:rPr lang="en-US" dirty="0" err="1"/>
              <a:t>testene</a:t>
            </a:r>
            <a:r>
              <a:rPr lang="en-US" dirty="0"/>
              <a:t> </a:t>
            </a:r>
            <a:r>
              <a:rPr lang="en-US" dirty="0" err="1"/>
              <a:t>påvirket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positive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negativ</a:t>
            </a:r>
            <a:r>
              <a:rPr lang="en-US" dirty="0"/>
              <a:t> grad av fakes?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Hvilke</a:t>
            </a:r>
            <a:r>
              <a:rPr lang="en-US" dirty="0"/>
              <a:t> tester tar </a:t>
            </a:r>
            <a:r>
              <a:rPr lang="en-US" dirty="0" err="1"/>
              <a:t>lengst</a:t>
            </a:r>
            <a:r>
              <a:rPr lang="en-US" dirty="0"/>
              <a:t> </a:t>
            </a:r>
            <a:r>
              <a:rPr lang="en-US" dirty="0" err="1"/>
              <a:t>tid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Hva</a:t>
            </a:r>
            <a:r>
              <a:rPr lang="en-US" dirty="0"/>
              <a:t> </a:t>
            </a:r>
            <a:r>
              <a:rPr lang="en-US" dirty="0" err="1"/>
              <a:t>trenger</a:t>
            </a:r>
            <a:r>
              <a:rPr lang="en-US" dirty="0"/>
              <a:t> vi </a:t>
            </a:r>
            <a:r>
              <a:rPr lang="en-US" dirty="0" err="1"/>
              <a:t>å</a:t>
            </a:r>
            <a:r>
              <a:rPr lang="en-US" dirty="0"/>
              <a:t> teste </a:t>
            </a:r>
            <a:r>
              <a:rPr lang="en-US" dirty="0" err="1"/>
              <a:t>utenfor</a:t>
            </a:r>
            <a:r>
              <a:rPr lang="en-US" dirty="0"/>
              <a:t> </a:t>
            </a:r>
            <a:r>
              <a:rPr lang="en-US" dirty="0" err="1"/>
              <a:t>domenelogikk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Når</a:t>
            </a:r>
            <a:r>
              <a:rPr lang="en-US" dirty="0"/>
              <a:t> er det overkill med ports &amp; adapters?</a:t>
            </a:r>
          </a:p>
          <a:p>
            <a:pPr marL="596900" lvl="1" indent="-285750">
              <a:buFont typeface="Arial" panose="020B0604020202020204" pitchFamily="34" charset="0"/>
              <a:buChar char="•"/>
            </a:pPr>
            <a:r>
              <a:rPr lang="en-US" dirty="0"/>
              <a:t>Er ren ports &amp; adapters </a:t>
            </a:r>
            <a:r>
              <a:rPr lang="en-US" dirty="0" err="1"/>
              <a:t>alltid</a:t>
            </a:r>
            <a:r>
              <a:rPr lang="en-US" dirty="0"/>
              <a:t> </a:t>
            </a:r>
            <a:r>
              <a:rPr lang="en-US" dirty="0" err="1"/>
              <a:t>å</a:t>
            </a:r>
            <a:r>
              <a:rPr lang="en-US" dirty="0"/>
              <a:t> </a:t>
            </a:r>
            <a:r>
              <a:rPr lang="en-US" dirty="0" err="1"/>
              <a:t>foretrekke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442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0408-54E0-FBB6-9DF9-32A18C88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Noen</a:t>
            </a:r>
            <a:r>
              <a:rPr lang="en-US" dirty="0"/>
              <a:t>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4757A-57FF-3DA1-6BAB-2D9F7E51E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Separer</a:t>
            </a:r>
            <a:r>
              <a:rPr lang="en-US" dirty="0"/>
              <a:t> </a:t>
            </a:r>
            <a:r>
              <a:rPr lang="en-US" dirty="0" err="1"/>
              <a:t>domene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ikke-domene</a:t>
            </a:r>
            <a:r>
              <a:rPr lang="en-US" dirty="0"/>
              <a:t>(</a:t>
            </a:r>
            <a:r>
              <a:rPr lang="en-US" dirty="0" err="1"/>
              <a:t>Dto</a:t>
            </a:r>
            <a:r>
              <a:rPr lang="en-US" dirty="0"/>
              <a:t>/</a:t>
            </a:r>
            <a:r>
              <a:rPr lang="en-US" dirty="0" err="1"/>
              <a:t>innkommende</a:t>
            </a:r>
            <a:r>
              <a:rPr lang="en-US" dirty="0"/>
              <a:t>, Entity/persistence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Ports </a:t>
            </a:r>
            <a:r>
              <a:rPr lang="en-US" dirty="0" err="1"/>
              <a:t>hører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domene</a:t>
            </a:r>
            <a:r>
              <a:rPr lang="en-US" dirty="0"/>
              <a:t>, adapters </a:t>
            </a:r>
            <a:r>
              <a:rPr lang="en-US" dirty="0" err="1"/>
              <a:t>hører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utenfor</a:t>
            </a:r>
            <a:r>
              <a:rPr lang="en-US" dirty="0"/>
              <a:t> </a:t>
            </a:r>
            <a:r>
              <a:rPr lang="en-US" dirty="0" err="1"/>
              <a:t>domene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Adapters </a:t>
            </a:r>
            <a:r>
              <a:rPr lang="en-US" dirty="0" err="1"/>
              <a:t>oversetter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deres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/</a:t>
            </a:r>
            <a:r>
              <a:rPr lang="en-US" dirty="0" err="1"/>
              <a:t>fra</a:t>
            </a:r>
            <a:r>
              <a:rPr lang="en-US" dirty="0"/>
              <a:t> “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eksternt</a:t>
            </a:r>
            <a:r>
              <a:rPr lang="en-US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Dytt</a:t>
            </a:r>
            <a:r>
              <a:rPr lang="en-US" dirty="0"/>
              <a:t> </a:t>
            </a:r>
            <a:r>
              <a:rPr lang="en-US" dirty="0" err="1"/>
              <a:t>logikk</a:t>
            </a:r>
            <a:r>
              <a:rPr lang="en-US" dirty="0"/>
              <a:t> inn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domene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langt</a:t>
            </a:r>
            <a:r>
              <a:rPr lang="en-US" dirty="0"/>
              <a:t> det </a:t>
            </a:r>
            <a:r>
              <a:rPr lang="en-US" dirty="0" err="1"/>
              <a:t>gir</a:t>
            </a:r>
            <a:r>
              <a:rPr lang="en-US" dirty="0"/>
              <a:t> </a:t>
            </a:r>
            <a:r>
              <a:rPr lang="en-US" dirty="0" err="1"/>
              <a:t>mening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ObjectMother</a:t>
            </a:r>
            <a:r>
              <a:rPr lang="en-US" dirty="0"/>
              <a:t> vs extension for </a:t>
            </a:r>
            <a:r>
              <a:rPr lang="en-US" dirty="0" err="1"/>
              <a:t>testdata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C54E9-0C60-3A3A-27FE-05A04B0015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Controller/Adapters - mapping,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mye</a:t>
            </a:r>
            <a:r>
              <a:rPr lang="en-US" dirty="0"/>
              <a:t> </a:t>
            </a:r>
            <a:r>
              <a:rPr lang="en-US" dirty="0" err="1"/>
              <a:t>mer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Domene - god </a:t>
            </a:r>
            <a:r>
              <a:rPr lang="en-US" dirty="0" err="1"/>
              <a:t>kandidat</a:t>
            </a:r>
            <a:r>
              <a:rPr lang="en-US" dirty="0"/>
              <a:t> for </a:t>
            </a:r>
            <a:r>
              <a:rPr lang="en-US" dirty="0" err="1"/>
              <a:t>enhetstester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Unngå</a:t>
            </a:r>
            <a:r>
              <a:rPr lang="en-US" dirty="0"/>
              <a:t> Spring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tunge</a:t>
            </a:r>
            <a:r>
              <a:rPr lang="en-US" dirty="0"/>
              <a:t> ting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enhetstester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11E77-83B3-0137-7029-F3BF2ED20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Hva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Bean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Hva</a:t>
            </a:r>
            <a:r>
              <a:rPr lang="en-US" dirty="0"/>
              <a:t> er Spring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Mulig </a:t>
            </a:r>
            <a:r>
              <a:rPr lang="en-US" dirty="0" err="1"/>
              <a:t>å</a:t>
            </a:r>
            <a:r>
              <a:rPr lang="en-US" dirty="0"/>
              <a:t> ha </a:t>
            </a:r>
            <a:r>
              <a:rPr lang="en-US" dirty="0" err="1"/>
              <a:t>forskjellige</a:t>
            </a:r>
            <a:r>
              <a:rPr lang="en-US" dirty="0"/>
              <a:t> </a:t>
            </a:r>
            <a:r>
              <a:rPr lang="en-US" dirty="0" err="1"/>
              <a:t>implementasjoner</a:t>
            </a:r>
            <a:r>
              <a:rPr lang="en-US" dirty="0"/>
              <a:t> av </a:t>
            </a:r>
            <a:r>
              <a:rPr lang="en-US" dirty="0" err="1"/>
              <a:t>samme</a:t>
            </a:r>
            <a:r>
              <a:rPr lang="en-US" dirty="0"/>
              <a:t> ting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samme</a:t>
            </a:r>
            <a:r>
              <a:rPr lang="en-US" dirty="0"/>
              <a:t>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F7BBCB-6C66-6ED5-7A79-7FB6714A6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Arkitektur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D11A42-88AF-0000-3C12-6A324A7B11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EBB888-2DDE-A239-A17F-93B0DA10E5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Spring</a:t>
            </a:r>
          </a:p>
        </p:txBody>
      </p:sp>
    </p:spTree>
    <p:extLst>
      <p:ext uri="{BB962C8B-B14F-4D97-AF65-F5344CB8AC3E}">
        <p14:creationId xmlns:p14="http://schemas.microsoft.com/office/powerpoint/2010/main" val="18496297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484F89F-1760-8BC3-B297-4934D1E4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737" y="2606675"/>
            <a:ext cx="6486526" cy="1644650"/>
          </a:xfrm>
        </p:spPr>
        <p:txBody>
          <a:bodyPr/>
          <a:lstStyle/>
          <a:p>
            <a:r>
              <a:rPr lang="en-US" sz="9600" dirty="0" err="1"/>
              <a:t>Takk</a:t>
            </a:r>
            <a:r>
              <a:rPr lang="en-US" sz="9600" dirty="0"/>
              <a:t> for </a:t>
            </a:r>
            <a:r>
              <a:rPr lang="en-US" sz="9600" dirty="0" err="1"/>
              <a:t>i</a:t>
            </a:r>
            <a:r>
              <a:rPr lang="en-US" sz="9600" dirty="0"/>
              <a:t> </a:t>
            </a:r>
            <a:r>
              <a:rPr lang="en-US" sz="9600" dirty="0" err="1"/>
              <a:t>år</a:t>
            </a:r>
            <a:r>
              <a:rPr lang="en-US" sz="9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6421030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sjon (master)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D3FF26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180000" tIns="216000" rIns="180000" bIns="180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800"/>
          </a:spcBef>
          <a:spcAft>
            <a:spcPts val="800"/>
          </a:spcAft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  <a:cs typeface="DIN OT Light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72000" tIns="72000" rIns="72000" bIns="72000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7E58F3A5-010B-5C4E-8E78-77760C646587}"/>
    </a:ext>
  </a:extLst>
</a:theme>
</file>

<file path=ppt/theme/theme2.xml><?xml version="1.0" encoding="utf-8"?>
<a:theme xmlns:a="http://schemas.openxmlformats.org/drawingml/2006/main" name="Mindre tekststørrelse / rapport / tilbud">
  <a:themeElements>
    <a:clrScheme name="bekk-2023-fargepalett">
      <a:dk1>
        <a:srgbClr val="1F1F1F"/>
      </a:dk1>
      <a:lt1>
        <a:srgbClr val="FFFFFF"/>
      </a:lt1>
      <a:dk2>
        <a:srgbClr val="1F1F1F"/>
      </a:dk2>
      <a:lt2>
        <a:srgbClr val="0141FE"/>
      </a:lt2>
      <a:accent1>
        <a:srgbClr val="C2E835"/>
      </a:accent1>
      <a:accent2>
        <a:srgbClr val="1F1F1F"/>
      </a:accent2>
      <a:accent3>
        <a:srgbClr val="CBB29C"/>
      </a:accent3>
      <a:accent4>
        <a:srgbClr val="909DA9"/>
      </a:accent4>
      <a:accent5>
        <a:srgbClr val="AEB7AB"/>
      </a:accent5>
      <a:accent6>
        <a:srgbClr val="CAC2B8"/>
      </a:accent6>
      <a:hlink>
        <a:srgbClr val="1F1F1F"/>
      </a:hlink>
      <a:folHlink>
        <a:srgbClr val="1F1F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tIns="90000" rtlCol="0" anchor="t"/>
      <a:lstStyle>
        <a:defPPr algn="l">
          <a:defRPr sz="1600" dirty="0" smtClean="0">
            <a:solidFill>
              <a:schemeClr val="tx1"/>
            </a:solidFill>
            <a:latin typeface="GT America Lt" pitchFamily="2" charset="77"/>
            <a:ea typeface="GT America Lt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spcBef>
            <a:spcPts val="800"/>
          </a:spcBef>
          <a:spcAft>
            <a:spcPts val="800"/>
          </a:spcAft>
          <a:defRPr sz="1600" dirty="0" smtClean="0">
            <a:latin typeface="GT America Lt" pitchFamily="2" charset="77"/>
            <a:ea typeface="GT America L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l-ppt-bekk-2023.potx" id="{0866B4EE-BD1A-F441-9F29-CAEB617BB969}" vid="{42E7F8F7-2252-F142-88FA-81680DB0014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Presentasjon (master)</Template>
  <TotalTime>869</TotalTime>
  <Words>1186</Words>
  <Application>Microsoft Macintosh PowerPoint</Application>
  <PresentationFormat>Widescreen</PresentationFormat>
  <Paragraphs>220</Paragraphs>
  <Slides>38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GT America Exp Md</vt:lpstr>
      <vt:lpstr>GT America Lt</vt:lpstr>
      <vt:lpstr>GT America Rg</vt:lpstr>
      <vt:lpstr>Presentasjon (master)</vt:lpstr>
      <vt:lpstr>Mindre tekststørrelse / rapport / tilbud</vt:lpstr>
      <vt:lpstr>Workshop 2: Arkitektur og litt Spring</vt:lpstr>
      <vt:lpstr>Agenda</vt:lpstr>
      <vt:lpstr>Mye verbosity med mockks</vt:lpstr>
      <vt:lpstr>En liten preview på hvor vi skal</vt:lpstr>
      <vt:lpstr>Del 1: Ports, Domain Models og Fakes</vt:lpstr>
      <vt:lpstr>Persistence vs Domain</vt:lpstr>
      <vt:lpstr>Hvorfor skille?</vt:lpstr>
      <vt:lpstr>Ports &amp; Adapters</vt:lpstr>
      <vt:lpstr>Ports &amp; Adapters</vt:lpstr>
      <vt:lpstr>Object Mother(recap)</vt:lpstr>
      <vt:lpstr>Alternativ til ObjectMother</vt:lpstr>
      <vt:lpstr>Demotid!</vt:lpstr>
      <vt:lpstr>Oppgavetid!</vt:lpstr>
      <vt:lpstr>Del 2: Adapters, Integrasjonstester og litt om Spring DI</vt:lpstr>
      <vt:lpstr>Adapter</vt:lpstr>
      <vt:lpstr>Recap testpyramide</vt:lpstr>
      <vt:lpstr>Adaptere mot database(recap)</vt:lpstr>
      <vt:lpstr>Demotid!</vt:lpstr>
      <vt:lpstr>Oppgavetid!</vt:lpstr>
      <vt:lpstr>Tanker?</vt:lpstr>
      <vt:lpstr>Del 3: Spring DI</vt:lpstr>
      <vt:lpstr>Hvordan får OrdreService Kundeport?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Hva er en bean?</vt:lpstr>
      <vt:lpstr>Hvordan opprette en bean?</vt:lpstr>
      <vt:lpstr>Hvordan få tak i en bean?</vt:lpstr>
      <vt:lpstr>Hva er Spring Context?</vt:lpstr>
      <vt:lpstr>Spring Boot (Test) Slices(recap)</vt:lpstr>
      <vt:lpstr>Nå som vi har fakes.. Hva med MockkBean?</vt:lpstr>
      <vt:lpstr>Hva med flere implementasjoner av en Port?</vt:lpstr>
      <vt:lpstr>Avslutning</vt:lpstr>
      <vt:lpstr>Refleksjoner</vt:lpstr>
      <vt:lpstr>Noen takeaways</vt:lpstr>
      <vt:lpstr>Takk for i år!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Thomas Stenberg Oddsund</dc:creator>
  <cp:keywords/>
  <dc:description/>
  <cp:lastModifiedBy>Thomas Stenberg Oddsund</cp:lastModifiedBy>
  <cp:revision>2</cp:revision>
  <dcterms:created xsi:type="dcterms:W3CDTF">2025-12-08T21:27:34Z</dcterms:created>
  <dcterms:modified xsi:type="dcterms:W3CDTF">2025-12-09T11:56:51Z</dcterms:modified>
  <cp:category/>
</cp:coreProperties>
</file>