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  <p:sldMasterId id="2147483861" r:id="rId2"/>
  </p:sldMasterIdLst>
  <p:notesMasterIdLst>
    <p:notesMasterId r:id="rId46"/>
  </p:notesMasterIdLst>
  <p:sldIdLst>
    <p:sldId id="327" r:id="rId3"/>
    <p:sldId id="538" r:id="rId4"/>
    <p:sldId id="670" r:id="rId5"/>
    <p:sldId id="671" r:id="rId6"/>
    <p:sldId id="672" r:id="rId7"/>
    <p:sldId id="673" r:id="rId8"/>
    <p:sldId id="674" r:id="rId9"/>
    <p:sldId id="675" r:id="rId10"/>
    <p:sldId id="676" r:id="rId11"/>
    <p:sldId id="677" r:id="rId12"/>
    <p:sldId id="678" r:id="rId13"/>
    <p:sldId id="679" r:id="rId14"/>
    <p:sldId id="680" r:id="rId15"/>
    <p:sldId id="681" r:id="rId16"/>
    <p:sldId id="682" r:id="rId17"/>
    <p:sldId id="683" r:id="rId18"/>
    <p:sldId id="684" r:id="rId19"/>
    <p:sldId id="685" r:id="rId20"/>
    <p:sldId id="686" r:id="rId21"/>
    <p:sldId id="687" r:id="rId22"/>
    <p:sldId id="688" r:id="rId23"/>
    <p:sldId id="689" r:id="rId24"/>
    <p:sldId id="690" r:id="rId25"/>
    <p:sldId id="691" r:id="rId26"/>
    <p:sldId id="692" r:id="rId27"/>
    <p:sldId id="693" r:id="rId28"/>
    <p:sldId id="694" r:id="rId29"/>
    <p:sldId id="695" r:id="rId30"/>
    <p:sldId id="696" r:id="rId31"/>
    <p:sldId id="697" r:id="rId32"/>
    <p:sldId id="698" r:id="rId33"/>
    <p:sldId id="699" r:id="rId34"/>
    <p:sldId id="700" r:id="rId35"/>
    <p:sldId id="702" r:id="rId36"/>
    <p:sldId id="703" r:id="rId37"/>
    <p:sldId id="705" r:id="rId38"/>
    <p:sldId id="706" r:id="rId39"/>
    <p:sldId id="708" r:id="rId40"/>
    <p:sldId id="709" r:id="rId41"/>
    <p:sldId id="710" r:id="rId42"/>
    <p:sldId id="711" r:id="rId43"/>
    <p:sldId id="712" r:id="rId44"/>
    <p:sldId id="713" r:id="rId45"/>
  </p:sldIdLst>
  <p:sldSz cx="12192000" cy="6858000"/>
  <p:notesSz cx="6858000" cy="91440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05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FF27"/>
    <a:srgbClr val="ECECEC"/>
    <a:srgbClr val="FFFFFF"/>
    <a:srgbClr val="B8D83E"/>
    <a:srgbClr val="B4D147"/>
    <a:srgbClr val="526A00"/>
    <a:srgbClr val="5D7700"/>
    <a:srgbClr val="365303"/>
    <a:srgbClr val="FF4324"/>
    <a:srgbClr val="750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96"/>
    <p:restoredTop sz="69728"/>
  </p:normalViewPr>
  <p:slideViewPr>
    <p:cSldViewPr snapToGrid="0" snapToObjects="1" showGuides="1">
      <p:cViewPr varScale="1">
        <p:scale>
          <a:sx n="41" d="100"/>
          <a:sy n="41" d="100"/>
        </p:scale>
        <p:origin x="192" y="1176"/>
      </p:cViewPr>
      <p:guideLst>
        <p:guide pos="3205"/>
        <p:guide orient="horz" pos="2160"/>
      </p:guideLst>
    </p:cSldViewPr>
  </p:slideViewPr>
  <p:outlineViewPr>
    <p:cViewPr>
      <p:scale>
        <a:sx n="33" d="100"/>
        <a:sy n="33" d="100"/>
      </p:scale>
      <p:origin x="0" y="-1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T America Rg" pitchFamily="2" charset="77"/>
              </a:defRPr>
            </a:lvl1pPr>
          </a:lstStyle>
          <a:p>
            <a:endParaRPr lang="nb-NO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T America Rg" pitchFamily="2" charset="77"/>
              </a:defRPr>
            </a:lvl1pPr>
          </a:lstStyle>
          <a:p>
            <a:fld id="{F5CCFF00-D096-6448-99A9-1B5E392E5640}" type="datetimeFigureOut">
              <a:rPr lang="nb-NO" smtClean="0"/>
              <a:pPr/>
              <a:t>24.01.2026</a:t>
            </a:fld>
            <a:endParaRPr lang="nb-NO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b-N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T America Rg" pitchFamily="2" charset="77"/>
              </a:defRPr>
            </a:lvl1pPr>
          </a:lstStyle>
          <a:p>
            <a:endParaRPr lang="nb-N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T America Rg" pitchFamily="2" charset="77"/>
              </a:defRPr>
            </a:lvl1pPr>
          </a:lstStyle>
          <a:p>
            <a:fld id="{1246E90B-2657-364C-8B68-BE49C2816B41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037668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1pPr>
    <a:lvl2pPr marL="457178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2pPr>
    <a:lvl3pPr marL="914354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3pPr>
    <a:lvl4pPr marL="1371532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4pPr>
    <a:lvl5pPr marL="1828709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1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704232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Dere </a:t>
            </a:r>
            <a:r>
              <a:rPr lang="en-US" dirty="0" err="1"/>
              <a:t>trenger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forstå</a:t>
            </a:r>
            <a:r>
              <a:rPr lang="en-US" dirty="0"/>
              <a:t> coroutines </a:t>
            </a:r>
            <a:r>
              <a:rPr lang="en-US" dirty="0" err="1"/>
              <a:t>dypt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dag</a:t>
            </a:r>
            <a:r>
              <a:rPr lang="en-US" dirty="0"/>
              <a:t>. Bare vit at suspend </a:t>
            </a:r>
            <a:r>
              <a:rPr lang="en-US" dirty="0" err="1"/>
              <a:t>betyr</a:t>
            </a:r>
            <a:r>
              <a:rPr lang="en-US" dirty="0"/>
              <a:t> at </a:t>
            </a:r>
            <a:r>
              <a:rPr lang="en-US" dirty="0" err="1"/>
              <a:t>funksjonen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vente </a:t>
            </a:r>
            <a:r>
              <a:rPr lang="en-US" dirty="0" err="1"/>
              <a:t>på</a:t>
            </a:r>
            <a:r>
              <a:rPr lang="en-US" dirty="0"/>
              <a:t> I/O </a:t>
            </a:r>
            <a:r>
              <a:rPr lang="en-US" dirty="0" err="1"/>
              <a:t>uten</a:t>
            </a:r>
            <a:r>
              <a:rPr lang="en-US" dirty="0"/>
              <a:t>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blokkere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3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388668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Ingen annotations, </a:t>
            </a:r>
            <a:r>
              <a:rPr lang="en-US" dirty="0" err="1"/>
              <a:t>ingen</a:t>
            </a:r>
            <a:r>
              <a:rPr lang="en-US" dirty="0"/>
              <a:t> magi, bare </a:t>
            </a:r>
            <a:r>
              <a:rPr lang="en-US" dirty="0" err="1"/>
              <a:t>eksplisitt</a:t>
            </a:r>
            <a:r>
              <a:rPr lang="en-US" dirty="0"/>
              <a:t> Kotlin </a:t>
            </a:r>
            <a:r>
              <a:rPr lang="en-US" dirty="0" err="1"/>
              <a:t>kode</a:t>
            </a:r>
            <a:endParaRPr lang="en-US" dirty="0"/>
          </a:p>
          <a:p>
            <a:r>
              <a:rPr lang="en-US" b="1" dirty="0" err="1"/>
              <a:t>embeddedServer</a:t>
            </a:r>
            <a:r>
              <a:rPr lang="en-US" b="1" dirty="0"/>
              <a:t>(Netty, port = 8080)</a:t>
            </a:r>
          </a:p>
          <a:p>
            <a:r>
              <a:rPr lang="en-US" dirty="0" err="1"/>
              <a:t>Oppretter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server med Netty </a:t>
            </a:r>
            <a:r>
              <a:rPr lang="en-US" dirty="0" err="1"/>
              <a:t>som</a:t>
            </a:r>
            <a:r>
              <a:rPr lang="en-US" dirty="0"/>
              <a:t> engine</a:t>
            </a:r>
          </a:p>
          <a:p>
            <a:r>
              <a:rPr lang="en-US" dirty="0"/>
              <a:t>Lytter </a:t>
            </a:r>
            <a:r>
              <a:rPr lang="en-US" dirty="0" err="1"/>
              <a:t>på</a:t>
            </a:r>
            <a:r>
              <a:rPr lang="en-US" dirty="0"/>
              <a:t> port 8080</a:t>
            </a:r>
          </a:p>
          <a:p>
            <a:r>
              <a:rPr lang="en-US" b="1" dirty="0"/>
              <a:t>install(</a:t>
            </a:r>
            <a:r>
              <a:rPr lang="en-US" b="1" dirty="0" err="1"/>
              <a:t>ContentNegotiation</a:t>
            </a:r>
            <a:r>
              <a:rPr lang="en-US" b="1" dirty="0"/>
              <a:t>) { </a:t>
            </a:r>
            <a:r>
              <a:rPr lang="en-US" b="1" dirty="0" err="1"/>
              <a:t>json</a:t>
            </a:r>
            <a:r>
              <a:rPr lang="en-US" b="1" dirty="0"/>
              <a:t>() }</a:t>
            </a:r>
          </a:p>
          <a:p>
            <a:r>
              <a:rPr lang="en-US" dirty="0" err="1"/>
              <a:t>Installerer</a:t>
            </a:r>
            <a:r>
              <a:rPr lang="en-US" dirty="0"/>
              <a:t> content negotiation-plugin</a:t>
            </a:r>
          </a:p>
          <a:p>
            <a:r>
              <a:rPr lang="en-US" dirty="0" err="1"/>
              <a:t>Konfigurerer</a:t>
            </a:r>
            <a:r>
              <a:rPr lang="en-US" dirty="0"/>
              <a:t> JSON-</a:t>
            </a:r>
            <a:r>
              <a:rPr lang="en-US" dirty="0" err="1"/>
              <a:t>serialisering</a:t>
            </a:r>
            <a:r>
              <a:rPr lang="en-US" dirty="0"/>
              <a:t> (</a:t>
            </a:r>
            <a:r>
              <a:rPr lang="en-US" dirty="0" err="1"/>
              <a:t>sannsynligvis</a:t>
            </a:r>
            <a:r>
              <a:rPr lang="en-US" dirty="0"/>
              <a:t> </a:t>
            </a:r>
            <a:r>
              <a:rPr lang="en-US" dirty="0" err="1"/>
              <a:t>kotlinx.serialization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Jackson)</a:t>
            </a:r>
          </a:p>
          <a:p>
            <a:r>
              <a:rPr lang="en-US" b="1" dirty="0"/>
              <a:t>routing { get("/health") { ... } }</a:t>
            </a:r>
          </a:p>
          <a:p>
            <a:r>
              <a:rPr lang="en-US" dirty="0" err="1"/>
              <a:t>Definerer</a:t>
            </a:r>
            <a:r>
              <a:rPr lang="en-US" dirty="0"/>
              <a:t> routing</a:t>
            </a:r>
          </a:p>
          <a:p>
            <a:r>
              <a:rPr lang="en-US" dirty="0"/>
              <a:t>GET /health </a:t>
            </a:r>
            <a:r>
              <a:rPr lang="en-US" dirty="0" err="1"/>
              <a:t>returnerer</a:t>
            </a:r>
            <a:r>
              <a:rPr lang="en-US" dirty="0"/>
              <a:t> plain text "OK"</a:t>
            </a:r>
          </a:p>
          <a:p>
            <a:r>
              <a:rPr lang="en-US" b="1" dirty="0"/>
              <a:t>.start(wait = true)</a:t>
            </a:r>
          </a:p>
          <a:p>
            <a:r>
              <a:rPr lang="en-US" dirty="0"/>
              <a:t>Starter </a:t>
            </a:r>
            <a:r>
              <a:rPr lang="en-US" dirty="0" err="1"/>
              <a:t>serveren</a:t>
            </a:r>
            <a:endParaRPr lang="en-US" dirty="0"/>
          </a:p>
          <a:p>
            <a:r>
              <a:rPr lang="en-US" dirty="0"/>
              <a:t>wait = true </a:t>
            </a:r>
            <a:r>
              <a:rPr lang="en-US" dirty="0" err="1"/>
              <a:t>blokkerer</a:t>
            </a:r>
            <a:r>
              <a:rPr lang="en-US" dirty="0"/>
              <a:t> main-</a:t>
            </a:r>
            <a:r>
              <a:rPr lang="en-US" dirty="0" err="1"/>
              <a:t>tråden</a:t>
            </a:r>
            <a:r>
              <a:rPr lang="en-US" dirty="0"/>
              <a:t> </a:t>
            </a:r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programmet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avslutter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6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460088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GET 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/</a:t>
            </a:r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kunder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/{id}</a:t>
            </a:r>
            <a:endParaRPr lang="en-US" dirty="0"/>
          </a:p>
          <a:p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call.parameters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["id"]</a:t>
            </a:r>
            <a:r>
              <a:rPr lang="en-US" dirty="0"/>
              <a:t> </a:t>
            </a:r>
            <a:r>
              <a:rPr lang="en-US" dirty="0" err="1"/>
              <a:t>henter</a:t>
            </a:r>
            <a:r>
              <a:rPr lang="en-US" dirty="0"/>
              <a:t> path parameter </a:t>
            </a:r>
            <a:r>
              <a:rPr lang="en-US" dirty="0" err="1"/>
              <a:t>som</a:t>
            </a:r>
            <a:r>
              <a:rPr lang="en-US" dirty="0"/>
              <a:t> String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return@get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call.respond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(</a:t>
            </a:r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HttpStatusCode.BadRequest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)</a:t>
            </a:r>
            <a:r>
              <a:rPr lang="en-US" dirty="0"/>
              <a:t> - </a:t>
            </a:r>
            <a:r>
              <a:rPr lang="en-US" dirty="0" err="1"/>
              <a:t>elvis</a:t>
            </a:r>
            <a:r>
              <a:rPr lang="en-US" dirty="0"/>
              <a:t> operator </a:t>
            </a:r>
            <a:r>
              <a:rPr lang="en-US" dirty="0" err="1"/>
              <a:t>returnerer</a:t>
            </a:r>
            <a:r>
              <a:rPr lang="en-US" dirty="0"/>
              <a:t> 400 </a:t>
            </a:r>
            <a:r>
              <a:rPr lang="en-US" dirty="0" err="1"/>
              <a:t>hvis</a:t>
            </a:r>
            <a:r>
              <a:rPr lang="en-US" dirty="0"/>
              <a:t> id er null/</a:t>
            </a:r>
            <a:r>
              <a:rPr lang="en-US" dirty="0" err="1"/>
              <a:t>ugyldig</a:t>
            </a:r>
            <a:endParaRPr lang="en-US" dirty="0"/>
          </a:p>
          <a:p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kunde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?.let { </a:t>
            </a:r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call.respond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(it) }</a:t>
            </a:r>
            <a:r>
              <a:rPr lang="en-US" dirty="0"/>
              <a:t> - responder med </a:t>
            </a:r>
            <a:r>
              <a:rPr lang="en-US" dirty="0" err="1"/>
              <a:t>kunde</a:t>
            </a:r>
            <a:r>
              <a:rPr lang="en-US" dirty="0"/>
              <a:t> </a:t>
            </a:r>
            <a:r>
              <a:rPr lang="en-US" dirty="0" err="1"/>
              <a:t>hvis</a:t>
            </a:r>
            <a:r>
              <a:rPr lang="en-US" dirty="0"/>
              <a:t> </a:t>
            </a:r>
            <a:r>
              <a:rPr lang="en-US" dirty="0" err="1"/>
              <a:t>funnet</a:t>
            </a:r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?: </a:t>
            </a:r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call.respond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(</a:t>
            </a:r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HttpStatusCode.NotFound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)</a:t>
            </a:r>
            <a:r>
              <a:rPr lang="en-US" dirty="0"/>
              <a:t> - </a:t>
            </a:r>
            <a:r>
              <a:rPr lang="en-US" dirty="0" err="1"/>
              <a:t>ellers</a:t>
            </a:r>
            <a:r>
              <a:rPr lang="en-US" dirty="0"/>
              <a:t> 404</a:t>
            </a:r>
          </a:p>
          <a:p>
            <a:br>
              <a:rPr lang="en-US" b="1" dirty="0"/>
            </a:br>
            <a:r>
              <a:rPr lang="en-US" b="1" dirty="0"/>
              <a:t>POST 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/</a:t>
            </a:r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api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/</a:t>
            </a:r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ordrer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/</a:t>
            </a:r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valider</a:t>
            </a:r>
            <a:endParaRPr lang="en-US" dirty="0"/>
          </a:p>
          <a:p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call.receive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&lt;</a:t>
            </a:r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OrdreRequest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&gt;()</a:t>
            </a:r>
            <a:r>
              <a:rPr lang="en-US" b="1" dirty="0"/>
              <a:t> </a:t>
            </a:r>
            <a:r>
              <a:rPr lang="en-US" dirty="0" err="1"/>
              <a:t>deserialiserer</a:t>
            </a:r>
            <a:r>
              <a:rPr lang="en-US" dirty="0"/>
              <a:t> request body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OrdreRequest</a:t>
            </a:r>
            <a:r>
              <a:rPr lang="en-US" dirty="0"/>
              <a:t> (</a:t>
            </a:r>
            <a:r>
              <a:rPr lang="en-US" dirty="0" err="1"/>
              <a:t>bruker</a:t>
            </a:r>
            <a:r>
              <a:rPr lang="en-US" dirty="0"/>
              <a:t> </a:t>
            </a:r>
            <a:r>
              <a:rPr lang="en-US" dirty="0" err="1"/>
              <a:t>ContentNegotiation</a:t>
            </a:r>
            <a:r>
              <a:rPr lang="en-US" dirty="0"/>
              <a:t>-plugin)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call.respond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(</a:t>
            </a:r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HttpStatusCode.OK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resultat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)</a:t>
            </a:r>
            <a:r>
              <a:rPr lang="en-US" dirty="0"/>
              <a:t> </a:t>
            </a:r>
            <a:r>
              <a:rPr lang="en-US" dirty="0" err="1"/>
              <a:t>returnerer</a:t>
            </a:r>
            <a:r>
              <a:rPr lang="en-US" dirty="0"/>
              <a:t> 200 med </a:t>
            </a: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resultat</a:t>
            </a:r>
            <a:r>
              <a:rPr lang="en-US" dirty="0" err="1"/>
              <a:t>-objekt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JSON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7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24656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Dette 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Ktor</a:t>
            </a:r>
            <a:r>
              <a:rPr lang="en-US" dirty="0"/>
              <a:t>-test med </a:t>
            </a: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testApplication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!</a:t>
            </a:r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@Test -</a:t>
            </a:r>
            <a:r>
              <a:rPr lang="en-US" dirty="0"/>
              <a:t>JUnit test-</a:t>
            </a:r>
            <a:r>
              <a:rPr lang="en-US" dirty="0" err="1"/>
              <a:t>annotasjon</a:t>
            </a:r>
            <a:endParaRPr lang="en-US" dirty="0"/>
          </a:p>
          <a:p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testApplication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 { ... }</a:t>
            </a:r>
            <a:endParaRPr lang="en-US" dirty="0"/>
          </a:p>
          <a:p>
            <a:r>
              <a:rPr lang="en-US" dirty="0" err="1"/>
              <a:t>Ktor</a:t>
            </a:r>
            <a:r>
              <a:rPr lang="en-US" dirty="0"/>
              <a:t> sin </a:t>
            </a:r>
            <a:r>
              <a:rPr lang="en-US" dirty="0" err="1"/>
              <a:t>testhelper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starter </a:t>
            </a:r>
            <a:r>
              <a:rPr lang="en-US" dirty="0" err="1"/>
              <a:t>en</a:t>
            </a:r>
            <a:r>
              <a:rPr lang="en-US" dirty="0"/>
              <a:t> in-memory test-</a:t>
            </a:r>
            <a:r>
              <a:rPr lang="en-US" dirty="0" err="1"/>
              <a:t>applikasjon</a:t>
            </a:r>
            <a:endParaRPr lang="en-US" dirty="0"/>
          </a:p>
          <a:p>
            <a:r>
              <a:rPr lang="en-US" dirty="0"/>
              <a:t>Gir </a:t>
            </a:r>
            <a:r>
              <a:rPr lang="en-US" dirty="0" err="1"/>
              <a:t>tilgang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client</a:t>
            </a:r>
            <a:r>
              <a:rPr lang="en-US" dirty="0"/>
              <a:t> for HTTP-</a:t>
            </a:r>
            <a:r>
              <a:rPr lang="en-US" dirty="0" err="1"/>
              <a:t>kall</a:t>
            </a:r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application { </a:t>
            </a:r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configureRouting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(</a:t>
            </a:r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fakeDependencies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) }</a:t>
            </a:r>
            <a:endParaRPr lang="en-US" dirty="0"/>
          </a:p>
          <a:p>
            <a:r>
              <a:rPr lang="en-US" dirty="0" err="1"/>
              <a:t>Konfigurerer</a:t>
            </a:r>
            <a:r>
              <a:rPr lang="en-US" dirty="0"/>
              <a:t> test-</a:t>
            </a:r>
            <a:r>
              <a:rPr lang="en-US" dirty="0" err="1"/>
              <a:t>applikasjonen</a:t>
            </a:r>
            <a:br>
              <a:rPr lang="en-US" dirty="0"/>
            </a:br>
            <a:r>
              <a:rPr lang="en-US" dirty="0" err="1"/>
              <a:t>configureRouting</a:t>
            </a:r>
            <a:r>
              <a:rPr lang="en-US" dirty="0"/>
              <a:t> 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funksjon</a:t>
            </a:r>
            <a:r>
              <a:rPr lang="en-US" dirty="0"/>
              <a:t> med din </a:t>
            </a:r>
            <a:r>
              <a:rPr lang="en-US" dirty="0" err="1"/>
              <a:t>routingdefinisjon</a:t>
            </a:r>
            <a:endParaRPr lang="en-US" dirty="0"/>
          </a:p>
          <a:p>
            <a:r>
              <a:rPr lang="en-US" dirty="0"/>
              <a:t>Setter </a:t>
            </a:r>
            <a:r>
              <a:rPr lang="en-US" dirty="0" err="1"/>
              <a:t>opp</a:t>
            </a:r>
            <a:r>
              <a:rPr lang="en-US" dirty="0"/>
              <a:t> routing med fake/mock dependencies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client.get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("/health")</a:t>
            </a:r>
            <a:endParaRPr lang="en-US" dirty="0"/>
          </a:p>
          <a:p>
            <a:r>
              <a:rPr lang="en-US" dirty="0"/>
              <a:t>HTTP GET-request mot 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/health</a:t>
            </a:r>
            <a:r>
              <a:rPr lang="en-US" dirty="0"/>
              <a:t> endpoint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client</a:t>
            </a:r>
            <a:r>
              <a:rPr lang="en-US" dirty="0"/>
              <a:t> er </a:t>
            </a:r>
            <a:r>
              <a:rPr lang="en-US" dirty="0" err="1"/>
              <a:t>tilgjengelig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testApplication</a:t>
            </a:r>
            <a:r>
              <a:rPr lang="en-US" dirty="0"/>
              <a:t>-scope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response.status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shouldBe</a:t>
            </a:r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HttpStatusCode.OK</a:t>
            </a:r>
            <a:endParaRPr lang="en-US" dirty="0"/>
          </a:p>
          <a:p>
            <a:r>
              <a:rPr lang="en-US" dirty="0" err="1"/>
              <a:t>Kotest</a:t>
            </a:r>
            <a:r>
              <a:rPr lang="en-US" dirty="0"/>
              <a:t> assertion </a:t>
            </a:r>
            <a:r>
              <a:rPr lang="en-US" dirty="0" err="1"/>
              <a:t>verifiserer</a:t>
            </a:r>
            <a:r>
              <a:rPr lang="en-US" dirty="0"/>
              <a:t> at </a:t>
            </a:r>
            <a:r>
              <a:rPr lang="en-US" dirty="0" err="1"/>
              <a:t>statuskode</a:t>
            </a:r>
            <a:r>
              <a:rPr lang="en-US" dirty="0"/>
              <a:t> er 200 OK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9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719048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Fiks</a:t>
            </a:r>
            <a:r>
              <a:rPr lang="en-US" dirty="0"/>
              <a:t> GET health </a:t>
            </a:r>
            <a:r>
              <a:rPr lang="en-US" dirty="0" err="1"/>
              <a:t>returnerer</a:t>
            </a:r>
            <a:r>
              <a:rPr lang="en-US" dirty="0"/>
              <a:t> OK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Fiks</a:t>
            </a:r>
            <a:r>
              <a:rPr lang="en-US" dirty="0"/>
              <a:t> </a:t>
            </a:r>
            <a:r>
              <a:rPr lang="en-US" dirty="0" err="1"/>
              <a:t>enkel</a:t>
            </a:r>
            <a:r>
              <a:rPr lang="en-US" dirty="0"/>
              <a:t> POST med 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10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957616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DSL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- Table("</a:t>
            </a: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kunde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")</a:t>
            </a:r>
            <a:r>
              <a:rPr lang="en-US" dirty="0"/>
              <a:t> - mapper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tabellnavn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databasen</a:t>
            </a:r>
            <a:r>
              <a:rPr lang="en-US" dirty="0"/>
              <a:t>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Hver</a:t>
            </a:r>
            <a:r>
              <a:rPr lang="en-US" dirty="0"/>
              <a:t> property (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id</a:t>
            </a:r>
            <a:r>
              <a:rPr lang="en-US" dirty="0"/>
              <a:t>, </a:t>
            </a: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navn</a:t>
            </a:r>
            <a:r>
              <a:rPr lang="en-US" dirty="0"/>
              <a:t>, </a:t>
            </a: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erAktiv</a:t>
            </a:r>
            <a:r>
              <a:rPr lang="en-US" dirty="0"/>
              <a:t>) </a:t>
            </a:r>
            <a:r>
              <a:rPr lang="en-US" dirty="0" err="1"/>
              <a:t>representerer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kolonne</a:t>
            </a:r>
            <a:r>
              <a:rPr lang="en-US" dirty="0"/>
              <a:t> </a:t>
            </a:r>
          </a:p>
          <a:p>
            <a:pPr marL="171450" indent="-171450">
              <a:buFontTx/>
              <a:buChar char="-"/>
            </a:pPr>
            <a:r>
              <a:rPr lang="en-US" dirty="0"/>
              <a:t>Du </a:t>
            </a:r>
            <a:r>
              <a:rPr lang="en-US" dirty="0" err="1"/>
              <a:t>må</a:t>
            </a:r>
            <a:r>
              <a:rPr lang="en-US" dirty="0"/>
              <a:t> </a:t>
            </a:r>
            <a:r>
              <a:rPr lang="en-US" dirty="0" err="1"/>
              <a:t>definere</a:t>
            </a:r>
            <a:r>
              <a:rPr lang="en-US" dirty="0"/>
              <a:t> alt </a:t>
            </a:r>
            <a:r>
              <a:rPr lang="en-US" dirty="0" err="1"/>
              <a:t>eksplisitt</a:t>
            </a:r>
            <a:r>
              <a:rPr lang="en-US" dirty="0"/>
              <a:t>: type, </a:t>
            </a:r>
            <a:r>
              <a:rPr lang="en-US" dirty="0" err="1"/>
              <a:t>kolonnenavn</a:t>
            </a:r>
            <a:r>
              <a:rPr lang="en-US" dirty="0"/>
              <a:t>, constraints 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autoIncrement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primaryKey</a:t>
            </a:r>
            <a:r>
              <a:rPr lang="en-US" dirty="0"/>
              <a:t> </a:t>
            </a:r>
            <a:r>
              <a:rPr lang="en-US" dirty="0" err="1"/>
              <a:t>håndteres</a:t>
            </a:r>
            <a:r>
              <a:rPr lang="en-US" dirty="0"/>
              <a:t> </a:t>
            </a:r>
            <a:r>
              <a:rPr lang="en-US" dirty="0" err="1"/>
              <a:t>manuelt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select { }</a:t>
            </a:r>
            <a:r>
              <a:rPr lang="en-US" dirty="0"/>
              <a:t> - </a:t>
            </a:r>
            <a:r>
              <a:rPr lang="en-US" dirty="0" err="1"/>
              <a:t>bygger</a:t>
            </a:r>
            <a:r>
              <a:rPr lang="en-US" dirty="0"/>
              <a:t> SQL WHERE-clause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Returnerer</a:t>
            </a:r>
            <a:r>
              <a:rPr lang="en-US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Query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gir</a:t>
            </a:r>
            <a:r>
              <a:rPr lang="en-US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ResultRow</a:t>
            </a:r>
            <a:r>
              <a:rPr lang="en-US" dirty="0" err="1"/>
              <a:t>-objekter</a:t>
            </a:r>
            <a:r>
              <a:rPr lang="en-US" dirty="0"/>
              <a:t> 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it[</a:t>
            </a: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Kunder.navn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]</a:t>
            </a:r>
            <a:r>
              <a:rPr lang="en-US" dirty="0"/>
              <a:t> - </a:t>
            </a:r>
            <a:r>
              <a:rPr lang="en-US" dirty="0" err="1"/>
              <a:t>må</a:t>
            </a:r>
            <a:r>
              <a:rPr lang="en-US" dirty="0"/>
              <a:t> </a:t>
            </a:r>
            <a:r>
              <a:rPr lang="en-US" dirty="0" err="1"/>
              <a:t>aksessere</a:t>
            </a:r>
            <a:r>
              <a:rPr lang="en-US" dirty="0"/>
              <a:t> </a:t>
            </a:r>
            <a:r>
              <a:rPr lang="en-US" dirty="0" err="1"/>
              <a:t>kolonner</a:t>
            </a:r>
            <a:r>
              <a:rPr lang="en-US" dirty="0"/>
              <a:t> </a:t>
            </a:r>
            <a:r>
              <a:rPr lang="en-US" dirty="0" err="1"/>
              <a:t>eksplisitt</a:t>
            </a:r>
            <a:r>
              <a:rPr lang="en-US" dirty="0"/>
              <a:t> med bracket-</a:t>
            </a:r>
            <a:r>
              <a:rPr lang="en-US" dirty="0" err="1"/>
              <a:t>notasjon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Resultatet</a:t>
            </a:r>
            <a:r>
              <a:rPr lang="en-US" dirty="0"/>
              <a:t> er bare </a:t>
            </a:r>
            <a:r>
              <a:rPr lang="en-US" dirty="0" err="1"/>
              <a:t>verdier</a:t>
            </a:r>
            <a:r>
              <a:rPr lang="en-US" dirty="0"/>
              <a:t> (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String</a:t>
            </a:r>
            <a:r>
              <a:rPr lang="en-US" dirty="0"/>
              <a:t>, 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Boolean</a:t>
            </a:r>
            <a:r>
              <a:rPr lang="en-US" dirty="0"/>
              <a:t>, etc.) - </a:t>
            </a:r>
            <a:r>
              <a:rPr lang="en-US" dirty="0" err="1"/>
              <a:t>ingen</a:t>
            </a:r>
            <a:r>
              <a:rPr lang="en-US" dirty="0"/>
              <a:t> </a:t>
            </a:r>
            <a:r>
              <a:rPr lang="en-US" dirty="0" err="1"/>
              <a:t>objekter</a:t>
            </a: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b="1" dirty="0"/>
              <a:t>DAO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LongIdTable</a:t>
            </a:r>
            <a:r>
              <a:rPr lang="en-US" dirty="0"/>
              <a:t> - </a:t>
            </a:r>
            <a:r>
              <a:rPr lang="en-US" dirty="0" err="1"/>
              <a:t>gir</a:t>
            </a:r>
            <a:r>
              <a:rPr lang="en-US" dirty="0"/>
              <a:t> </a:t>
            </a:r>
            <a:r>
              <a:rPr lang="en-US" dirty="0" err="1"/>
              <a:t>automatisk</a:t>
            </a:r>
            <a:r>
              <a:rPr lang="en-US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id: Long</a:t>
            </a:r>
            <a:r>
              <a:rPr lang="en-US" dirty="0"/>
              <a:t> </a:t>
            </a:r>
            <a:r>
              <a:rPr lang="en-US" dirty="0" err="1"/>
              <a:t>kolonne</a:t>
            </a:r>
            <a:r>
              <a:rPr lang="en-US" dirty="0"/>
              <a:t> med auto-increment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Du </a:t>
            </a:r>
            <a:r>
              <a:rPr lang="en-US" dirty="0" err="1"/>
              <a:t>definerer</a:t>
            </a:r>
            <a:r>
              <a:rPr lang="en-US" dirty="0"/>
              <a:t> bare "</a:t>
            </a:r>
            <a:r>
              <a:rPr lang="en-US" dirty="0" err="1"/>
              <a:t>ekstra</a:t>
            </a:r>
            <a:r>
              <a:rPr lang="en-US" dirty="0"/>
              <a:t>" </a:t>
            </a:r>
            <a:r>
              <a:rPr lang="en-US" dirty="0" err="1"/>
              <a:t>kolonner</a:t>
            </a:r>
            <a:r>
              <a:rPr lang="en-US" dirty="0"/>
              <a:t> </a:t>
            </a:r>
            <a:r>
              <a:rPr lang="en-US" dirty="0" err="1"/>
              <a:t>utover</a:t>
            </a:r>
            <a:r>
              <a:rPr lang="en-US" dirty="0"/>
              <a:t> 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Mindre</a:t>
            </a:r>
            <a:r>
              <a:rPr lang="en-US" dirty="0"/>
              <a:t> boilerplate </a:t>
            </a:r>
            <a:r>
              <a:rPr lang="en-US" dirty="0" err="1"/>
              <a:t>enn</a:t>
            </a:r>
            <a:r>
              <a:rPr lang="en-US" dirty="0"/>
              <a:t> DSL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Entity-</a:t>
            </a:r>
            <a:r>
              <a:rPr lang="en-US" dirty="0" err="1"/>
              <a:t>klasse</a:t>
            </a:r>
            <a:r>
              <a:rPr lang="en-US" dirty="0"/>
              <a:t> </a:t>
            </a:r>
            <a:r>
              <a:rPr lang="en-US" dirty="0" err="1"/>
              <a:t>representerer</a:t>
            </a:r>
            <a:r>
              <a:rPr lang="en-US" dirty="0"/>
              <a:t> </a:t>
            </a:r>
            <a:r>
              <a:rPr lang="en-US" dirty="0" err="1"/>
              <a:t>én</a:t>
            </a:r>
            <a:r>
              <a:rPr lang="en-US" dirty="0"/>
              <a:t> rad </a:t>
            </a:r>
            <a:r>
              <a:rPr lang="en-US" dirty="0" err="1"/>
              <a:t>som</a:t>
            </a:r>
            <a:r>
              <a:rPr lang="en-US" dirty="0"/>
              <a:t> object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by</a:t>
            </a:r>
            <a:r>
              <a:rPr lang="en-US" dirty="0"/>
              <a:t> - Kotlin delegated properties </a:t>
            </a:r>
            <a:r>
              <a:rPr lang="en-US" dirty="0" err="1"/>
              <a:t>kobler</a:t>
            </a:r>
            <a:r>
              <a:rPr lang="en-US" dirty="0"/>
              <a:t> properties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kolonner</a:t>
            </a:r>
            <a:r>
              <a:rPr lang="en-US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companion object</a:t>
            </a:r>
            <a:r>
              <a:rPr lang="en-US" dirty="0"/>
              <a:t> - </a:t>
            </a:r>
            <a:r>
              <a:rPr lang="en-US" dirty="0" err="1"/>
              <a:t>gir</a:t>
            </a:r>
            <a:r>
              <a:rPr lang="en-US" dirty="0"/>
              <a:t> </a:t>
            </a:r>
            <a:r>
              <a:rPr lang="en-US" dirty="0" err="1"/>
              <a:t>statiske</a:t>
            </a:r>
            <a:r>
              <a:rPr lang="en-US" dirty="0"/>
              <a:t> </a:t>
            </a:r>
            <a:r>
              <a:rPr lang="en-US" dirty="0" err="1"/>
              <a:t>metoder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find()</a:t>
            </a:r>
            <a:r>
              <a:rPr lang="en-US" dirty="0"/>
              <a:t>, 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all()</a:t>
            </a:r>
            <a:r>
              <a:rPr lang="en-US" dirty="0"/>
              <a:t>, etc.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find { }</a:t>
            </a:r>
            <a:r>
              <a:rPr lang="en-US" dirty="0"/>
              <a:t> - </a:t>
            </a:r>
            <a:r>
              <a:rPr lang="en-US" dirty="0" err="1"/>
              <a:t>returnerer</a:t>
            </a:r>
            <a:r>
              <a:rPr lang="en-US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Kunde</a:t>
            </a:r>
            <a:r>
              <a:rPr lang="en-US" dirty="0"/>
              <a:t>-</a:t>
            </a:r>
            <a:r>
              <a:rPr lang="en-US" dirty="0" err="1"/>
              <a:t>objekter</a:t>
            </a:r>
            <a:r>
              <a:rPr lang="en-US" dirty="0"/>
              <a:t> (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ResultRow</a:t>
            </a:r>
            <a:r>
              <a:rPr lang="en-US" dirty="0"/>
              <a:t>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it.navn</a:t>
            </a:r>
            <a:r>
              <a:rPr lang="en-US" dirty="0"/>
              <a:t> - </a:t>
            </a:r>
            <a:r>
              <a:rPr lang="en-US" dirty="0" err="1"/>
              <a:t>aksesserer</a:t>
            </a:r>
            <a:r>
              <a:rPr lang="en-US" dirty="0"/>
              <a:t> properties </a:t>
            </a:r>
            <a:r>
              <a:rPr lang="en-US" dirty="0" err="1"/>
              <a:t>direkte</a:t>
            </a:r>
            <a:r>
              <a:rPr lang="en-US" dirty="0"/>
              <a:t>, </a:t>
            </a:r>
            <a:r>
              <a:rPr lang="en-US" dirty="0" err="1"/>
              <a:t>ikke</a:t>
            </a:r>
            <a:r>
              <a:rPr lang="en-US" dirty="0"/>
              <a:t> via brackets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Mer </a:t>
            </a:r>
            <a:r>
              <a:rPr lang="en-US" dirty="0" err="1"/>
              <a:t>objekt-orientert</a:t>
            </a:r>
            <a:r>
              <a:rPr lang="en-US" dirty="0"/>
              <a:t>: jobber med 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Kunde</a:t>
            </a:r>
            <a:r>
              <a:rPr lang="en-US" dirty="0"/>
              <a:t>-</a:t>
            </a:r>
            <a:r>
              <a:rPr lang="en-US" dirty="0" err="1"/>
              <a:t>instanser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16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89513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newSuspendedTransaction</a:t>
            </a:r>
            <a:r>
              <a:rPr lang="en-US" dirty="0"/>
              <a:t> </a:t>
            </a:r>
            <a:r>
              <a:rPr lang="en-US" dirty="0" err="1"/>
              <a:t>håndterer</a:t>
            </a:r>
            <a:r>
              <a:rPr lang="en-US" dirty="0"/>
              <a:t> coroutines </a:t>
            </a:r>
          </a:p>
          <a:p>
            <a:r>
              <a:rPr lang="en-US" dirty="0" err="1"/>
              <a:t>Frigjør</a:t>
            </a:r>
            <a:r>
              <a:rPr lang="en-US" dirty="0"/>
              <a:t> </a:t>
            </a:r>
            <a:r>
              <a:rPr lang="en-US" dirty="0" err="1"/>
              <a:t>tråden</a:t>
            </a:r>
            <a:r>
              <a:rPr lang="en-US" dirty="0"/>
              <a:t> </a:t>
            </a:r>
            <a:r>
              <a:rPr lang="en-US" dirty="0" err="1"/>
              <a:t>mens</a:t>
            </a:r>
            <a:r>
              <a:rPr lang="en-US" dirty="0"/>
              <a:t> vi venter </a:t>
            </a:r>
            <a:r>
              <a:rPr lang="en-US" dirty="0" err="1"/>
              <a:t>på</a:t>
            </a:r>
            <a:r>
              <a:rPr lang="en-US" dirty="0"/>
              <a:t> database </a:t>
            </a:r>
          </a:p>
          <a:p>
            <a:r>
              <a:rPr lang="en-US" dirty="0"/>
              <a:t>Alt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blokken</a:t>
            </a:r>
            <a:r>
              <a:rPr lang="en-US" dirty="0"/>
              <a:t> </a:t>
            </a:r>
            <a:r>
              <a:rPr lang="en-US" dirty="0" err="1"/>
              <a:t>kjører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samme</a:t>
            </a:r>
            <a:r>
              <a:rPr lang="en-US" dirty="0"/>
              <a:t> </a:t>
            </a:r>
            <a:r>
              <a:rPr lang="en-US" dirty="0" err="1"/>
              <a:t>transaksjon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17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401647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SchemaUtils</a:t>
            </a:r>
            <a:r>
              <a:rPr lang="en-US" dirty="0"/>
              <a:t> er </a:t>
            </a:r>
            <a:r>
              <a:rPr lang="en-US" dirty="0" err="1"/>
              <a:t>praktisk</a:t>
            </a:r>
            <a:r>
              <a:rPr lang="en-US" dirty="0"/>
              <a:t> for </a:t>
            </a:r>
            <a:r>
              <a:rPr lang="en-US" dirty="0" err="1"/>
              <a:t>utvikling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tester. </a:t>
            </a:r>
          </a:p>
          <a:p>
            <a:r>
              <a:rPr lang="en-US" dirty="0"/>
              <a:t>I </a:t>
            </a:r>
            <a:r>
              <a:rPr lang="en-US" dirty="0" err="1"/>
              <a:t>produksjon</a:t>
            </a:r>
            <a:r>
              <a:rPr lang="en-US" dirty="0"/>
              <a:t> </a:t>
            </a:r>
            <a:r>
              <a:rPr lang="en-US" dirty="0" err="1"/>
              <a:t>anbefaler</a:t>
            </a:r>
            <a:r>
              <a:rPr lang="en-US" dirty="0"/>
              <a:t> </a:t>
            </a:r>
            <a:r>
              <a:rPr lang="en-US" dirty="0" err="1"/>
              <a:t>jeg</a:t>
            </a:r>
            <a:r>
              <a:rPr lang="en-US" dirty="0"/>
              <a:t> heller Flyway </a:t>
            </a:r>
            <a:r>
              <a:rPr lang="en-US" dirty="0" err="1"/>
              <a:t>eller</a:t>
            </a:r>
            <a:r>
              <a:rPr lang="en-US" dirty="0"/>
              <a:t> Liquibase for </a:t>
            </a:r>
            <a:r>
              <a:rPr lang="en-US" dirty="0" err="1"/>
              <a:t>skikkelig</a:t>
            </a:r>
            <a:r>
              <a:rPr lang="en-US" dirty="0"/>
              <a:t> </a:t>
            </a:r>
            <a:r>
              <a:rPr lang="en-US" dirty="0" err="1"/>
              <a:t>migreringshåndtering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20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80504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Ktor</a:t>
            </a:r>
            <a:r>
              <a:rPr lang="en-US" dirty="0"/>
              <a:t> DI 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mellomting</a:t>
            </a:r>
            <a:r>
              <a:rPr lang="en-US" dirty="0"/>
              <a:t> - slipper prop-drilling </a:t>
            </a:r>
            <a:r>
              <a:rPr lang="en-US" dirty="0" err="1"/>
              <a:t>som</a:t>
            </a:r>
            <a:r>
              <a:rPr lang="en-US" dirty="0"/>
              <a:t> med </a:t>
            </a:r>
            <a:r>
              <a:rPr lang="en-US" dirty="0" err="1"/>
              <a:t>manuell</a:t>
            </a:r>
            <a:r>
              <a:rPr lang="en-US" dirty="0"/>
              <a:t>, men </a:t>
            </a:r>
            <a:r>
              <a:rPr lang="en-US" dirty="0" err="1"/>
              <a:t>uten</a:t>
            </a:r>
            <a:r>
              <a:rPr lang="en-US" dirty="0"/>
              <a:t> </a:t>
            </a:r>
            <a:r>
              <a:rPr lang="en-US" dirty="0" err="1"/>
              <a:t>ekstra</a:t>
            </a:r>
            <a:r>
              <a:rPr lang="en-US" dirty="0"/>
              <a:t> </a:t>
            </a:r>
            <a:r>
              <a:rPr lang="en-US" dirty="0" err="1"/>
              <a:t>bibliotek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Koin.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33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951806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B4C3-5666-D4DB-A8C3-CD38CF9AC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6799D-2E55-5FF5-B001-2C905EA43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0E611-F6E8-7F43-69EA-F912C618E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Ktor</a:t>
            </a:r>
            <a:r>
              <a:rPr lang="en-US" dirty="0"/>
              <a:t> DI 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mellomting</a:t>
            </a:r>
            <a:r>
              <a:rPr lang="en-US" dirty="0"/>
              <a:t> - slipper prop-drilling </a:t>
            </a:r>
            <a:r>
              <a:rPr lang="en-US" dirty="0" err="1"/>
              <a:t>som</a:t>
            </a:r>
            <a:r>
              <a:rPr lang="en-US" dirty="0"/>
              <a:t> med </a:t>
            </a:r>
            <a:r>
              <a:rPr lang="en-US" dirty="0" err="1"/>
              <a:t>manuell</a:t>
            </a:r>
            <a:r>
              <a:rPr lang="en-US" dirty="0"/>
              <a:t>, men </a:t>
            </a:r>
            <a:r>
              <a:rPr lang="en-US" dirty="0" err="1"/>
              <a:t>uten</a:t>
            </a:r>
            <a:r>
              <a:rPr lang="en-US" dirty="0"/>
              <a:t> </a:t>
            </a:r>
            <a:r>
              <a:rPr lang="en-US" dirty="0" err="1"/>
              <a:t>ekstra</a:t>
            </a:r>
            <a:r>
              <a:rPr lang="en-US" dirty="0"/>
              <a:t> </a:t>
            </a:r>
            <a:r>
              <a:rPr lang="en-US" dirty="0" err="1"/>
              <a:t>bibliotek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Koin.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64AD8-E81D-C94E-7F47-B89936BC2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36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60787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38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68814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bg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bg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53B2269-3C05-D49C-552C-A0C070895F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7936" cy="39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H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48DEE1-6E10-F276-2D5B-833A9BD91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8400" cy="3964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CA54E8-7AA8-DC6F-B0FD-B41FAA0DCE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35B3026-7C1D-67E6-B3B2-462A44BD4D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</p:spTree>
    <p:extLst>
      <p:ext uri="{BB962C8B-B14F-4D97-AF65-F5344CB8AC3E}">
        <p14:creationId xmlns:p14="http://schemas.microsoft.com/office/powerpoint/2010/main" val="3214781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Rødbru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48DEE1-6E10-F276-2D5B-833A9BD91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8400" cy="3964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272716A-5D89-1ADF-33E5-1063B357AC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278E104-BC36-3390-9109-DA81872161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</p:spTree>
    <p:extLst>
      <p:ext uri="{BB962C8B-B14F-4D97-AF65-F5344CB8AC3E}">
        <p14:creationId xmlns:p14="http://schemas.microsoft.com/office/powerpoint/2010/main" val="21507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Bl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48DEE1-6E10-F276-2D5B-833A9BD91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8400" cy="3964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780A32D-DA5C-7FD5-DAA1-F1C41C25E3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48E30C6-BB77-EFDF-9C6C-C25BFD9A37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</p:spTree>
    <p:extLst>
      <p:ext uri="{BB962C8B-B14F-4D97-AF65-F5344CB8AC3E}">
        <p14:creationId xmlns:p14="http://schemas.microsoft.com/office/powerpoint/2010/main" val="748721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Grøn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48DEE1-6E10-F276-2D5B-833A9BD91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8400" cy="3964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47E876D-AF2E-4691-0678-C60F3B73E70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E8599DF-FCC4-D0A4-5EE3-F97695B7E4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</p:spTree>
    <p:extLst>
      <p:ext uri="{BB962C8B-B14F-4D97-AF65-F5344CB8AC3E}">
        <p14:creationId xmlns:p14="http://schemas.microsoft.com/office/powerpoint/2010/main" val="3283574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094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 lIns="5400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615687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1648"/>
            <a:ext cx="7345364" cy="706875"/>
          </a:xfrm>
        </p:spPr>
        <p:txBody>
          <a:bodyPr lIns="5400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E2C2F1-86EE-0EED-2610-513A250FFA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8"/>
            <a:ext cx="7345363" cy="4535487"/>
          </a:xfrm>
        </p:spPr>
        <p:txBody>
          <a:bodyPr lIns="54000" tIns="54000" rIns="54000" bIns="54000"/>
          <a:lstStyle/>
          <a:p>
            <a:pPr lvl="0"/>
            <a:r>
              <a:rPr lang="en-GB" dirty="0"/>
              <a:t>[The quick brown fox jumped over the lazy dog]</a:t>
            </a:r>
          </a:p>
          <a:p>
            <a:pPr lvl="1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1]</a:t>
            </a:r>
          </a:p>
          <a:p>
            <a:pPr lvl="2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2]</a:t>
            </a:r>
          </a:p>
          <a:p>
            <a:pPr lvl="3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3]</a:t>
            </a:r>
          </a:p>
          <a:p>
            <a:pPr lvl="4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4]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021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 + under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 lIns="5400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2E12F-BF1F-6025-4FE7-42EF361482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1989138"/>
            <a:ext cx="7345363" cy="503238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A7ADC7-A8C4-ADAE-0F9B-3301E4A11A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2708275"/>
            <a:ext cx="7345363" cy="3816350"/>
          </a:xfrm>
        </p:spPr>
        <p:txBody>
          <a:bodyPr/>
          <a:lstStyle/>
          <a:p>
            <a:pPr lvl="0"/>
            <a:r>
              <a:rPr lang="en-GB" dirty="0"/>
              <a:t>[The quick brown fox jumped over the lazy dog]</a:t>
            </a:r>
          </a:p>
          <a:p>
            <a:pPr lvl="1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1]</a:t>
            </a:r>
          </a:p>
          <a:p>
            <a:pPr lvl="2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2]</a:t>
            </a:r>
          </a:p>
          <a:p>
            <a:pPr lvl="3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3]</a:t>
            </a:r>
          </a:p>
          <a:p>
            <a:pPr lvl="4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4]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99088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lonner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4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1989139"/>
            <a:ext cx="5400000" cy="4535486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5" y="1989139"/>
            <a:ext cx="5400000" cy="4535486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1856641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lonner: Tittel + under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2708274"/>
            <a:ext cx="5400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2E12F-BF1F-6025-4FE7-42EF361482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6" y="1988520"/>
            <a:ext cx="5400000" cy="503238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F29286-E970-58E7-4888-62B64DDB37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20524" y="1989138"/>
            <a:ext cx="5400000" cy="503238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D13626-7D58-35A8-22E0-DF15D8510D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524" y="2705416"/>
            <a:ext cx="5400000" cy="3819210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631143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olonner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7"/>
            <a:ext cx="3600000" cy="4535487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96000" y="1989137"/>
            <a:ext cx="3600000" cy="4535487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CB7D2-BB9E-1B98-C107-25D08CF81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0525" y="1989138"/>
            <a:ext cx="3600000" cy="4535487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3914629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olonner: Tittel + under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2889251"/>
            <a:ext cx="3600000" cy="3635374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96907" y="2889251"/>
            <a:ext cx="3600000" cy="3635374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CB7D2-BB9E-1B98-C107-25D08CF81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2340" y="2889252"/>
            <a:ext cx="3600000" cy="3635374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1B51A-F663-3AA2-D038-7A4FEF111E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1989138"/>
            <a:ext cx="3600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A234C49-35B4-5696-EE91-DE48D250A5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6906" y="1989138"/>
            <a:ext cx="3600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8E5B6A4-ACD1-3E42-8E82-C087193E04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2337" y="1989138"/>
            <a:ext cx="3600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92543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olonner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5131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7"/>
            <a:ext cx="2682000" cy="4535489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93825" y="1989137"/>
            <a:ext cx="2682000" cy="4535489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CB7D2-BB9E-1B98-C107-25D08CF81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6175" y="1989138"/>
            <a:ext cx="2682000" cy="4535489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83F7021-6095-D04A-8FEA-65049D7AAA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38525" y="1989138"/>
            <a:ext cx="2682000" cy="4535489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1532578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olonner: Tittel + under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2708274"/>
            <a:ext cx="2682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93408" y="2708274"/>
            <a:ext cx="2682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CB7D2-BB9E-1B98-C107-25D08CF81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5341" y="2708275"/>
            <a:ext cx="2682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1B51A-F663-3AA2-D038-7A4FEF111E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1989138"/>
            <a:ext cx="2682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A234C49-35B4-5696-EE91-DE48D250A5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93407" y="1989138"/>
            <a:ext cx="2682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8E5B6A4-ACD1-3E42-8E82-C087193E04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5339" y="1989138"/>
            <a:ext cx="2682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83F7021-6095-D04A-8FEA-65049D7AAA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37275" y="2708275"/>
            <a:ext cx="2682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1A088E1-BA4E-D371-DE4B-BB4FC3671F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37272" y="1989138"/>
            <a:ext cx="2682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71592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 + tekst +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8"/>
            <a:ext cx="6762896" cy="45354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2B7D1B-C200-F54B-CCF0-CAC5958B19E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94025" y="2079607"/>
            <a:ext cx="4226500" cy="43943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 eller figur]</a:t>
            </a:r>
          </a:p>
        </p:txBody>
      </p:sp>
    </p:spTree>
    <p:extLst>
      <p:ext uri="{BB962C8B-B14F-4D97-AF65-F5344CB8AC3E}">
        <p14:creationId xmlns:p14="http://schemas.microsoft.com/office/powerpoint/2010/main" val="21083694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 + tekst + stort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6150512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8"/>
            <a:ext cx="6150511" cy="45354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2B7D1B-C200-F54B-CCF0-CAC5958B19E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42424" y="115888"/>
            <a:ext cx="5130513" cy="6626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</p:spTree>
    <p:extLst>
      <p:ext uri="{BB962C8B-B14F-4D97-AF65-F5344CB8AC3E}">
        <p14:creationId xmlns:p14="http://schemas.microsoft.com/office/powerpoint/2010/main" val="679079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062" y="115888"/>
            <a:ext cx="11953875" cy="6626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</p:spTree>
    <p:extLst>
      <p:ext uri="{BB962C8B-B14F-4D97-AF65-F5344CB8AC3E}">
        <p14:creationId xmlns:p14="http://schemas.microsoft.com/office/powerpoint/2010/main" val="163844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e + under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77B7C641-9035-8537-854E-31E44A0EEE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79" y="6119121"/>
            <a:ext cx="7650359" cy="62299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defRPr sz="1400" b="0" i="0">
                <a:latin typeface="GT America Lt" pitchFamily="2" charset="77"/>
                <a:ea typeface="GT America Lt" pitchFamily="2" charset="77"/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109DEAD3-C0E3-A3A0-C15E-BEA9880613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063" y="115889"/>
            <a:ext cx="11953875" cy="59005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</p:spTree>
    <p:extLst>
      <p:ext uri="{BB962C8B-B14F-4D97-AF65-F5344CB8AC3E}">
        <p14:creationId xmlns:p14="http://schemas.microsoft.com/office/powerpoint/2010/main" val="13050702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B47FDB-858D-F0D7-02D8-3F630ECD9F4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063" y="115888"/>
            <a:ext cx="5914800" cy="6626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1F4DF3F-B4F3-DB59-B408-B310C5BC51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1100" y="115888"/>
            <a:ext cx="5911838" cy="6626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</p:spTree>
    <p:extLst>
      <p:ext uri="{BB962C8B-B14F-4D97-AF65-F5344CB8AC3E}">
        <p14:creationId xmlns:p14="http://schemas.microsoft.com/office/powerpoint/2010/main" val="3082209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+ under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B47FDB-858D-F0D7-02D8-3F630ECD9F4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063" y="115889"/>
            <a:ext cx="5914800" cy="59005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1F4DF3F-B4F3-DB59-B408-B310C5BC51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58137" y="115889"/>
            <a:ext cx="5914800" cy="59005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5140078-EBD3-B729-0CD0-4E2B307305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479" y="6120193"/>
            <a:ext cx="7650359" cy="62191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defRPr sz="1400" b="0" i="0">
                <a:latin typeface="GT America Lt" pitchFamily="2" charset="77"/>
                <a:ea typeface="GT America Lt" pitchFamily="2" charset="77"/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</p:txBody>
      </p:sp>
    </p:spTree>
    <p:extLst>
      <p:ext uri="{BB962C8B-B14F-4D97-AF65-F5344CB8AC3E}">
        <p14:creationId xmlns:p14="http://schemas.microsoft.com/office/powerpoint/2010/main" val="21343761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 m/bilde: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5525" y="115889"/>
            <a:ext cx="7237412" cy="662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756000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4148004"/>
            <a:ext cx="4103688" cy="2376620"/>
          </a:xfrm>
          <a:prstGeom prst="rect">
            <a:avLst/>
          </a:prstGeom>
        </p:spPr>
        <p:txBody>
          <a:bodyPr lIns="54000"/>
          <a:lstStyle>
            <a:lvl1pPr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bown fox]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7" y="2709996"/>
            <a:ext cx="4103688" cy="1021944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000" b="0" i="0">
                <a:solidFill>
                  <a:schemeClr val="bg1"/>
                </a:solidFill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965930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 m/bilde og kapitteltag: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5525" y="115889"/>
            <a:ext cx="7237412" cy="662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756000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4148004"/>
            <a:ext cx="4103688" cy="2376620"/>
          </a:xfrm>
          <a:prstGeom prst="rect">
            <a:avLst/>
          </a:prstGeom>
        </p:spPr>
        <p:txBody>
          <a:bodyPr lIns="54000"/>
          <a:lstStyle>
            <a:lvl1pPr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bown fox]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7" y="2709996"/>
            <a:ext cx="4103688" cy="1021944"/>
          </a:xfrm>
          <a:prstGeom prst="rect">
            <a:avLst/>
          </a:prstGeom>
        </p:spPr>
        <p:txBody>
          <a:bodyPr lIns="54000" anchor="b"/>
          <a:lstStyle>
            <a:lvl1pPr>
              <a:lnSpc>
                <a:spcPct val="100000"/>
              </a:lnSpc>
              <a:defRPr sz="3000" b="0" i="0">
                <a:solidFill>
                  <a:schemeClr val="bg1"/>
                </a:solidFill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D96E35-1E87-3421-8040-0EE8A1585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588" y="476250"/>
            <a:ext cx="933649" cy="195597"/>
          </a:xfrm>
          <a:prstGeom prst="roundRect">
            <a:avLst>
              <a:gd name="adj" fmla="val 17125"/>
            </a:avLst>
          </a:prstGeom>
          <a:solidFill>
            <a:srgbClr val="D4FF27"/>
          </a:solidFill>
          <a:ln w="6350">
            <a:noFill/>
          </a:ln>
        </p:spPr>
        <p:txBody>
          <a:bodyPr wrap="none" lIns="72000" tIns="36000" rIns="72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kapittel</a:t>
            </a:r>
            <a:r>
              <a:rPr lang="en-GB" dirty="0"/>
              <a:t> 1]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9796139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 m/bilde: H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5524" y="115889"/>
            <a:ext cx="7237413" cy="662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756000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4148004"/>
            <a:ext cx="4103044" cy="2376620"/>
          </a:xfrm>
          <a:prstGeom prst="rect">
            <a:avLst/>
          </a:prstGeom>
        </p:spPr>
        <p:txBody>
          <a:bodyPr lIns="54000"/>
          <a:lstStyle>
            <a:lvl1pPr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bown fox]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119" y="2709996"/>
            <a:ext cx="4103044" cy="1021944"/>
          </a:xfrm>
          <a:prstGeom prst="rect">
            <a:avLst/>
          </a:prstGeom>
        </p:spPr>
        <p:txBody>
          <a:bodyPr lIns="54000" anchor="b"/>
          <a:lstStyle>
            <a:lvl1pPr>
              <a:lnSpc>
                <a:spcPct val="100000"/>
              </a:lnSpc>
              <a:defRPr sz="3000" b="0" i="0">
                <a:solidFill>
                  <a:schemeClr val="tx1"/>
                </a:solidFill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5441035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 m/bilde og kapitteltag: H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5524" y="115889"/>
            <a:ext cx="7237413" cy="662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756000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4148004"/>
            <a:ext cx="4103688" cy="23766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bown fox]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2711398"/>
            <a:ext cx="4103688" cy="1021944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000" b="0" i="0">
                <a:solidFill>
                  <a:schemeClr val="tx1"/>
                </a:solidFill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D96E35-1E87-3421-8040-0EE8A1585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813" y="476250"/>
            <a:ext cx="933649" cy="195597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lIns="72000" tIns="36000" rIns="72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kapittel</a:t>
            </a:r>
            <a:r>
              <a:rPr lang="en-GB" dirty="0"/>
              <a:t> 1]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223787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: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EDC-B464-1BDA-783C-6A4DD0FDE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76250"/>
            <a:ext cx="7283017" cy="1512888"/>
          </a:xfrm>
        </p:spPr>
        <p:txBody>
          <a:bodyPr/>
          <a:lstStyle>
            <a:lvl1pPr>
              <a:lnSpc>
                <a:spcPct val="100000"/>
              </a:lnSpc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[</a:t>
            </a:r>
            <a:r>
              <a:rPr lang="en-GB" dirty="0" err="1"/>
              <a:t>Skillefoil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8275291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: Rødbru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EDC-B464-1BDA-783C-6A4DD0FDE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76250"/>
            <a:ext cx="7283017" cy="1512888"/>
          </a:xfrm>
        </p:spPr>
        <p:txBody>
          <a:bodyPr/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GB" dirty="0"/>
              <a:t>[</a:t>
            </a:r>
            <a:r>
              <a:rPr lang="en-GB" dirty="0" err="1"/>
              <a:t>Skillefoil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36480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: Bl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EDC-B464-1BDA-783C-6A4DD0FDE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76250"/>
            <a:ext cx="7283017" cy="1512888"/>
          </a:xfrm>
        </p:spPr>
        <p:txBody>
          <a:bodyPr/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GB" dirty="0"/>
              <a:t>[</a:t>
            </a:r>
            <a:r>
              <a:rPr lang="en-GB" dirty="0" err="1"/>
              <a:t>Skillefoil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0956726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: Grøn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EDC-B464-1BDA-783C-6A4DD0FDE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76250"/>
            <a:ext cx="7283017" cy="1512888"/>
          </a:xfrm>
        </p:spPr>
        <p:txBody>
          <a:bodyPr/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GB" dirty="0"/>
              <a:t>[</a:t>
            </a:r>
            <a:r>
              <a:rPr lang="en-GB" dirty="0" err="1"/>
              <a:t>Skillefoil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21747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3393" y="4375664"/>
            <a:ext cx="4142132" cy="307019"/>
          </a:xfrm>
          <a:prstGeom prst="rect">
            <a:avLst/>
          </a:prstGeom>
        </p:spPr>
        <p:txBody>
          <a:bodyPr wrap="none" anchor="ctr"/>
          <a:lstStyle>
            <a:lvl1pPr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[Rolle i Bekk]</a:t>
            </a:r>
            <a:endParaRPr lang="nb-NO" noProof="1">
              <a:effectLst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3393" y="3727307"/>
            <a:ext cx="4142134" cy="396000"/>
          </a:xfrm>
          <a:prstGeom prst="rect">
            <a:avLst/>
          </a:prstGeom>
        </p:spPr>
        <p:txBody>
          <a:bodyPr wrap="none" anchor="ctr"/>
          <a:lstStyle>
            <a:lvl1pPr>
              <a:defRPr sz="1800" b="0" i="0">
                <a:solidFill>
                  <a:schemeClr val="bg1"/>
                </a:solidFill>
                <a:latin typeface="GT America Lt" pitchFamily="2" charset="77"/>
                <a:ea typeface="GT America Lt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Navn</a:t>
            </a:r>
            <a:r>
              <a:rPr lang="en-GB" dirty="0"/>
              <a:t>]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5AB5B94-9D66-59BA-9723-92252DB758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3393" y="4711761"/>
            <a:ext cx="4142132" cy="307019"/>
          </a:xfrm>
          <a:prstGeom prst="rect">
            <a:avLst/>
          </a:prstGeom>
        </p:spPr>
        <p:txBody>
          <a:bodyPr wrap="none" anchor="ctr"/>
          <a:lstStyle>
            <a:lvl1pPr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defRPr sz="1800" u="sng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[+ 47 000 00 000]</a:t>
            </a:r>
            <a:endParaRPr lang="nb-NO" noProof="1">
              <a:effectLst/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61A156C-5DD6-A646-E048-2D13CF349D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3393" y="5047858"/>
            <a:ext cx="4142132" cy="307019"/>
          </a:xfrm>
          <a:prstGeom prst="rect">
            <a:avLst/>
          </a:prstGeom>
        </p:spPr>
        <p:txBody>
          <a:bodyPr wrap="none" anchor="ctr"/>
          <a:lstStyle>
            <a:lvl1pPr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defRPr sz="1800" u="sng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[navn@bekk.no]</a:t>
            </a:r>
            <a:endParaRPr lang="nb-NO" noProof="1">
              <a:effectLst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5FE9A2-D58F-0EDF-BBDA-10DA6CC01B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7936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264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E547-AE20-1A68-1188-C86F21A13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2AA49-E512-87C6-B1AF-2AE31660A8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2205038"/>
            <a:ext cx="8713787" cy="4319587"/>
          </a:xfrm>
        </p:spPr>
        <p:txBody>
          <a:bodyPr/>
          <a:lstStyle>
            <a:lvl1pPr>
              <a:defRPr sz="1600" b="0" i="0">
                <a:latin typeface="GT America Lt" pitchFamily="2" charset="77"/>
                <a:ea typeface="GT America Lt" pitchFamily="2" charset="77"/>
              </a:defRPr>
            </a:lvl1pPr>
            <a:lvl2pPr>
              <a:defRPr sz="1600" b="0" i="0">
                <a:latin typeface="GT America Lt" pitchFamily="2" charset="77"/>
                <a:ea typeface="GT America Lt" pitchFamily="2" charset="77"/>
              </a:defRPr>
            </a:lvl2pPr>
            <a:lvl3pPr>
              <a:defRPr sz="1600" b="0" i="0">
                <a:latin typeface="GT America Lt" pitchFamily="2" charset="77"/>
                <a:ea typeface="GT America Lt" pitchFamily="2" charset="77"/>
              </a:defRPr>
            </a:lvl3pPr>
            <a:lvl4pPr>
              <a:defRPr sz="1600" b="0" i="0">
                <a:latin typeface="GT America Lt" pitchFamily="2" charset="77"/>
                <a:ea typeface="GT America Lt" pitchFamily="2" charset="77"/>
              </a:defRPr>
            </a:lvl4pPr>
            <a:lvl5pPr>
              <a:defRPr sz="1600" b="0" i="0">
                <a:latin typeface="GT America Lt" pitchFamily="2" charset="77"/>
                <a:ea typeface="GT America Lt" pitchFamily="2" charset="77"/>
              </a:defRPr>
            </a:lvl5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10555334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tema-tag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E547-AE20-1A68-1188-C86F21A13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2AA49-E512-87C6-B1AF-2AE31660A8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2205038"/>
            <a:ext cx="8713787" cy="4319587"/>
          </a:xfrm>
        </p:spPr>
        <p:txBody>
          <a:bodyPr/>
          <a:lstStyle>
            <a:lvl1pPr>
              <a:defRPr sz="1600" b="0" i="0">
                <a:latin typeface="GT America Lt" pitchFamily="2" charset="77"/>
                <a:ea typeface="GT America Lt" pitchFamily="2" charset="77"/>
              </a:defRPr>
            </a:lvl1pPr>
            <a:lvl2pPr>
              <a:defRPr sz="1600" b="0" i="0">
                <a:latin typeface="GT America Lt" pitchFamily="2" charset="77"/>
                <a:ea typeface="GT America Lt" pitchFamily="2" charset="77"/>
              </a:defRPr>
            </a:lvl2pPr>
            <a:lvl3pPr>
              <a:defRPr sz="1600" b="0" i="0">
                <a:latin typeface="GT America Lt" pitchFamily="2" charset="77"/>
                <a:ea typeface="GT America Lt" pitchFamily="2" charset="77"/>
              </a:defRPr>
            </a:lvl3pPr>
            <a:lvl4pPr>
              <a:defRPr sz="1600" b="0" i="0">
                <a:latin typeface="GT America Lt" pitchFamily="2" charset="77"/>
                <a:ea typeface="GT America Lt" pitchFamily="2" charset="77"/>
              </a:defRPr>
            </a:lvl4pPr>
            <a:lvl5pPr>
              <a:defRPr sz="1600" b="0" i="0">
                <a:latin typeface="GT America Lt" pitchFamily="2" charset="77"/>
                <a:ea typeface="GT America Lt" pitchFamily="2" charset="77"/>
              </a:defRPr>
            </a:lvl5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4DEA6AD-178A-2B2C-0224-B5A44969DF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139" y="363810"/>
            <a:ext cx="920577" cy="195597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lIns="90000" tIns="36000" rIns="90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tema</a:t>
            </a:r>
            <a:r>
              <a:rPr lang="en-GB" dirty="0"/>
              <a:t>-TAG]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1704796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728661"/>
            <a:ext cx="8353426" cy="1295402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1" y="2205037"/>
            <a:ext cx="6738474" cy="431958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E76C4A4-F084-E7D2-0CF4-92D07F7EEE01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7618505" y="2289542"/>
            <a:ext cx="4248937" cy="4248000"/>
          </a:xfr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 eller figur]</a:t>
            </a:r>
          </a:p>
        </p:txBody>
      </p:sp>
    </p:spTree>
    <p:extLst>
      <p:ext uri="{BB962C8B-B14F-4D97-AF65-F5344CB8AC3E}">
        <p14:creationId xmlns:p14="http://schemas.microsoft.com/office/powerpoint/2010/main" val="37056628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bilde + tema-tag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728661"/>
            <a:ext cx="8353426" cy="1295402"/>
          </a:xfrm>
        </p:spPr>
        <p:txBody>
          <a:bodyPr lIns="36000"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1" y="2205037"/>
            <a:ext cx="6738474" cy="431958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E76C4A4-F084-E7D2-0CF4-92D07F7EEE01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7618505" y="2289542"/>
            <a:ext cx="4248937" cy="4248000"/>
          </a:xfr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 eller figur]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17F52FA1-3497-F343-70CA-33403D5AC1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139" y="363810"/>
            <a:ext cx="920577" cy="195597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lIns="90000" tIns="36000" rIns="90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tema</a:t>
            </a:r>
            <a:r>
              <a:rPr lang="en-GB" dirty="0"/>
              <a:t>-TAG]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925994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stort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728661"/>
            <a:ext cx="6120000" cy="1295402"/>
          </a:xfrm>
        </p:spPr>
        <p:txBody>
          <a:bodyPr lIns="36000"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7E19842-2AB0-E13A-F334-3FEF4E2933B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42424" y="115888"/>
            <a:ext cx="5130513" cy="6626225"/>
          </a:xfr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274E0E5-4061-03BF-65C4-DB6CEB046E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1" y="2205037"/>
            <a:ext cx="6120000" cy="431958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22095507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stort bilde + tema-tag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728661"/>
            <a:ext cx="6175367" cy="1295402"/>
          </a:xfrm>
        </p:spPr>
        <p:txBody>
          <a:bodyPr lIns="36000"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7E19842-2AB0-E13A-F334-3FEF4E2933B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42424" y="115888"/>
            <a:ext cx="5130513" cy="6626225"/>
          </a:xfr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274E0E5-4061-03BF-65C4-DB6CEB046E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1" y="2205037"/>
            <a:ext cx="6175367" cy="431958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BE0DD8F-A7B3-AA10-4EA7-60D8270A64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139" y="363810"/>
            <a:ext cx="920577" cy="195597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lIns="90000" tIns="36000" rIns="90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tema</a:t>
            </a:r>
            <a:r>
              <a:rPr lang="en-GB" dirty="0"/>
              <a:t>-TAG]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870267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pport / tilbud: Overskrift +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B8FEDC1-B254-C6A4-B14B-321AA47629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2" y="2205038"/>
            <a:ext cx="5479200" cy="4319587"/>
          </a:xfrm>
        </p:spPr>
        <p:txBody>
          <a:bodyPr lIns="5400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18838A7-D738-D0F5-6C03-308BA3BEFB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728663"/>
            <a:ext cx="5473701" cy="1295400"/>
          </a:xfrm>
          <a:prstGeom prst="rect">
            <a:avLst/>
          </a:prstGeom>
        </p:spPr>
        <p:txBody>
          <a:bodyPr vert="horz" lIns="54000" tIns="54000" rIns="54000" bIns="54000" rtlCol="0" anchor="t">
            <a:noAutofit/>
          </a:bodyPr>
          <a:lstStyle>
            <a:lvl1pPr>
              <a:lnSpc>
                <a:spcPct val="100000"/>
              </a:lnSpc>
              <a:defRPr sz="2200"/>
            </a:lvl1pPr>
          </a:lstStyle>
          <a:p>
            <a:r>
              <a:rPr lang="nb-NO" noProof="1"/>
              <a:t>[Tittel]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5982688-1F55-5A31-EA24-F6CB155D9B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7088" y="2205038"/>
            <a:ext cx="5472000" cy="4319587"/>
          </a:xfrm>
        </p:spPr>
        <p:txBody>
          <a:bodyPr lIns="5400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pport / tilbud: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B8FEDC1-B254-C6A4-B14B-321AA47629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728663"/>
            <a:ext cx="5472000" cy="5795963"/>
          </a:xfrm>
        </p:spPr>
        <p:txBody>
          <a:bodyPr lIns="54000"/>
          <a:lstStyle>
            <a:lvl1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12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5982688-1F55-5A31-EA24-F6CB155D9B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7087" y="728663"/>
            <a:ext cx="5472000" cy="5795963"/>
          </a:xfrm>
        </p:spPr>
        <p:txBody>
          <a:bodyPr lIns="54000"/>
          <a:lstStyle>
            <a:lvl1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12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3376715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475" y="512764"/>
            <a:ext cx="7345259" cy="721626"/>
          </a:xfrm>
          <a:prstGeom prst="rect">
            <a:avLst/>
          </a:prstGeom>
        </p:spPr>
        <p:txBody>
          <a:bodyPr vert="horz" lIns="54000" tIns="54000" rIns="54000" bIns="54000" rtlCol="0" anchor="t">
            <a:noAutofit/>
          </a:bodyPr>
          <a:lstStyle/>
          <a:p>
            <a:r>
              <a:rPr lang="nb-NO" noProof="1"/>
              <a:t>[Tittel]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6779E9-7697-5F45-133B-C722BDD2F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1993897"/>
            <a:ext cx="7345259" cy="4530727"/>
          </a:xfrm>
          <a:prstGeom prst="rect">
            <a:avLst/>
          </a:prstGeom>
        </p:spPr>
        <p:txBody>
          <a:bodyPr vert="horz" lIns="54000" tIns="54000" rIns="54000" bIns="54000" rtlCol="0">
            <a:normAutofit/>
          </a:bodyPr>
          <a:lstStyle/>
          <a:p>
            <a:pPr lvl="0"/>
            <a:r>
              <a:rPr lang="en-GB" dirty="0"/>
              <a:t>[The quick brown fox jumped over the lazy dog]</a:t>
            </a:r>
          </a:p>
          <a:p>
            <a:pPr lvl="1"/>
            <a:r>
              <a:rPr lang="en-GB" dirty="0"/>
              <a:t>[The quick brown fox jumped over the lazy dog]</a:t>
            </a:r>
          </a:p>
          <a:p>
            <a:pPr lvl="2"/>
            <a:r>
              <a:rPr lang="en-GB" dirty="0"/>
              <a:t>[The quick brown fox jumped over the lazy dog]</a:t>
            </a:r>
          </a:p>
          <a:p>
            <a:pPr lvl="3"/>
            <a:r>
              <a:rPr lang="en-GB" dirty="0"/>
              <a:t>[The quick brown fox jumped over the lazy dog]</a:t>
            </a:r>
          </a:p>
          <a:p>
            <a:pPr lvl="4"/>
            <a:r>
              <a:rPr lang="en-GB" dirty="0"/>
              <a:t>[The quick brown fox jumped over the lazy dog]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2365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892" r:id="rId2"/>
    <p:sldLayoutId id="2147483899" r:id="rId3"/>
    <p:sldLayoutId id="2147483900" r:id="rId4"/>
    <p:sldLayoutId id="2147483901" r:id="rId5"/>
    <p:sldLayoutId id="2147483886" r:id="rId6"/>
    <p:sldLayoutId id="2147483877" r:id="rId7"/>
    <p:sldLayoutId id="2147483829" r:id="rId8"/>
    <p:sldLayoutId id="2147483839" r:id="rId9"/>
    <p:sldLayoutId id="2147483844" r:id="rId10"/>
    <p:sldLayoutId id="2147483850" r:id="rId11"/>
    <p:sldLayoutId id="2147483849" r:id="rId12"/>
    <p:sldLayoutId id="2147483851" r:id="rId13"/>
    <p:sldLayoutId id="2147483878" r:id="rId14"/>
    <p:sldLayoutId id="2147483855" r:id="rId15"/>
    <p:sldLayoutId id="2147483875" r:id="rId16"/>
    <p:sldLayoutId id="2147483881" r:id="rId17"/>
    <p:sldLayoutId id="2147483852" r:id="rId18"/>
    <p:sldLayoutId id="2147483858" r:id="rId19"/>
    <p:sldLayoutId id="2147483853" r:id="rId20"/>
    <p:sldLayoutId id="2147483859" r:id="rId21"/>
    <p:sldLayoutId id="2147483889" r:id="rId22"/>
    <p:sldLayoutId id="2147483845" r:id="rId23"/>
    <p:sldLayoutId id="2147483890" r:id="rId24"/>
    <p:sldLayoutId id="2147483888" r:id="rId25"/>
    <p:sldLayoutId id="2147483882" r:id="rId26"/>
    <p:sldLayoutId id="2147483848" r:id="rId27"/>
    <p:sldLayoutId id="2147483836" r:id="rId28"/>
    <p:sldLayoutId id="2147483837" r:id="rId29"/>
    <p:sldLayoutId id="2147483847" r:id="rId30"/>
  </p:sldLayoutIdLst>
  <p:txStyles>
    <p:titleStyle>
      <a:lvl1pPr algn="l" defTabSz="914354" rtl="0" eaLnBrk="1" latinLnBrk="0" hangingPunct="1">
        <a:lnSpc>
          <a:spcPct val="100000"/>
        </a:lnSpc>
        <a:spcBef>
          <a:spcPct val="0"/>
        </a:spcBef>
        <a:buNone/>
        <a:defRPr sz="3000" b="0" i="0" kern="1200">
          <a:solidFill>
            <a:schemeClr val="tx1"/>
          </a:solidFill>
          <a:latin typeface="GT America Rg" pitchFamily="2" charset="77"/>
          <a:ea typeface="GT America Rg" pitchFamily="2" charset="77"/>
          <a:cs typeface="GT America Rg" pitchFamily="2" charset="77"/>
        </a:defRPr>
      </a:lvl1pPr>
    </p:titleStyle>
    <p:bodyStyle>
      <a:lvl1pPr marL="0" indent="0" algn="l" defTabSz="911955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1pPr>
      <a:lvl2pPr marL="311150" indent="-311150" algn="l" defTabSz="911955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charset="0"/>
        <a:buChar char="•"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2pPr>
      <a:lvl3pPr marL="622300" indent="-311150" algn="l" defTabSz="911955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3pPr>
      <a:lvl4pPr marL="935038" indent="-312738" algn="l" defTabSz="911955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4pPr>
      <a:lvl5pPr marL="1246188" indent="-311150" algn="l" defTabSz="911955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T America Rg" pitchFamily="2" charset="77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000000"/>
          </p15:clr>
        </p15:guide>
        <p15:guide id="6" pos="6675" userDrawn="1">
          <p15:clr>
            <a:srgbClr val="A4A3A4"/>
          </p15:clr>
        </p15:guide>
        <p15:guide id="9" orient="horz" pos="4110" userDrawn="1">
          <p15:clr>
            <a:srgbClr val="A4A3A4"/>
          </p15:clr>
        </p15:guide>
        <p15:guide id="17" pos="4634" userDrawn="1">
          <p15:clr>
            <a:srgbClr val="A4A3A4"/>
          </p15:clr>
        </p15:guide>
        <p15:guide id="18" pos="1232" userDrawn="1">
          <p15:clr>
            <a:srgbClr val="A4A3A4"/>
          </p15:clr>
        </p15:guide>
        <p15:guide id="19" pos="3727" userDrawn="1">
          <p15:clr>
            <a:srgbClr val="A4A3A4"/>
          </p15:clr>
        </p15:guide>
        <p15:guide id="21" pos="1005" userDrawn="1">
          <p15:clr>
            <a:srgbClr val="A4A3A4"/>
          </p15:clr>
        </p15:guide>
        <p15:guide id="34" pos="3953" userDrawn="1">
          <p15:clr>
            <a:srgbClr val="A4A3A4"/>
          </p15:clr>
        </p15:guide>
        <p15:guide id="35" pos="1912" userDrawn="1">
          <p15:clr>
            <a:srgbClr val="A4A3A4"/>
          </p15:clr>
        </p15:guide>
        <p15:guide id="36" pos="2139" userDrawn="1">
          <p15:clr>
            <a:srgbClr val="A4A3A4"/>
          </p15:clr>
        </p15:guide>
        <p15:guide id="37" pos="2819" userDrawn="1">
          <p15:clr>
            <a:srgbClr val="A4A3A4"/>
          </p15:clr>
        </p15:guide>
        <p15:guide id="38" pos="3046" userDrawn="1">
          <p15:clr>
            <a:srgbClr val="A4A3A4"/>
          </p15:clr>
        </p15:guide>
        <p15:guide id="39" pos="4861" userDrawn="1">
          <p15:clr>
            <a:srgbClr val="A4A3A4"/>
          </p15:clr>
        </p15:guide>
        <p15:guide id="40" pos="5541" userDrawn="1">
          <p15:clr>
            <a:srgbClr val="A4A3A4"/>
          </p15:clr>
        </p15:guide>
        <p15:guide id="41" pos="5768" userDrawn="1">
          <p15:clr>
            <a:srgbClr val="A4A3A4"/>
          </p15:clr>
        </p15:guide>
        <p15:guide id="42" pos="6448" userDrawn="1">
          <p15:clr>
            <a:srgbClr val="A4A3A4"/>
          </p15:clr>
        </p15:guide>
        <p15:guide id="47" pos="75" userDrawn="1">
          <p15:clr>
            <a:srgbClr val="A4A3A4"/>
          </p15:clr>
        </p15:guide>
        <p15:guide id="48" pos="7605" userDrawn="1">
          <p15:clr>
            <a:srgbClr val="A4A3A4"/>
          </p15:clr>
        </p15:guide>
        <p15:guide id="49" orient="horz" pos="4247" userDrawn="1">
          <p15:clr>
            <a:srgbClr val="A4A3A4"/>
          </p15:clr>
        </p15:guide>
        <p15:guide id="50" orient="horz" pos="73" userDrawn="1">
          <p15:clr>
            <a:srgbClr val="A4A3A4"/>
          </p15:clr>
        </p15:guide>
        <p15:guide id="53" pos="7446" userDrawn="1">
          <p15:clr>
            <a:srgbClr val="A4A3A4"/>
          </p15:clr>
        </p15:guide>
        <p15:guide id="55" pos="234" userDrawn="1">
          <p15:clr>
            <a:srgbClr val="A4A3A4"/>
          </p15:clr>
        </p15:guide>
        <p15:guide id="56" orient="horz" pos="323" userDrawn="1">
          <p15:clr>
            <a:srgbClr val="A4A3A4"/>
          </p15:clr>
        </p15:guide>
        <p15:guide id="57" orient="horz" pos="1253" userDrawn="1">
          <p15:clr>
            <a:srgbClr val="A4A3A4"/>
          </p15:clr>
        </p15:guide>
        <p15:guide id="58" orient="horz" pos="1706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20CE00-C160-716D-5C31-9FB3856B6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728662"/>
            <a:ext cx="8713787" cy="1295401"/>
          </a:xfrm>
          <a:prstGeom prst="rect">
            <a:avLst/>
          </a:prstGeom>
        </p:spPr>
        <p:txBody>
          <a:bodyPr vert="horz" lIns="54000" tIns="45720" rIns="91440" bIns="45720" rtlCol="0" anchor="t">
            <a:noAutofit/>
          </a:bodyPr>
          <a:lstStyle/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D8A2C-D1DC-A9DD-AB09-53E570FE1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2205038"/>
            <a:ext cx="7273925" cy="4319587"/>
          </a:xfrm>
          <a:prstGeom prst="rect">
            <a:avLst/>
          </a:prstGeom>
        </p:spPr>
        <p:txBody>
          <a:bodyPr vert="horz" lIns="54000" tIns="45720" rIns="91440" bIns="45720" rtlCol="0">
            <a:noAutofit/>
          </a:bodyPr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418752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894" r:id="rId3"/>
    <p:sldLayoutId id="2147483904" r:id="rId4"/>
    <p:sldLayoutId id="2147483905" r:id="rId5"/>
    <p:sldLayoutId id="2147483893" r:id="rId6"/>
    <p:sldLayoutId id="2147483768" r:id="rId7"/>
    <p:sldLayoutId id="2147483860" r:id="rId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0" i="0" kern="1200">
          <a:solidFill>
            <a:schemeClr val="tx1"/>
          </a:solidFill>
          <a:latin typeface="GT America Rg" pitchFamily="2" charset="77"/>
          <a:ea typeface="GT America Rg" pitchFamily="2" charset="77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459" userDrawn="1">
          <p15:clr>
            <a:srgbClr val="A4A3A4"/>
          </p15:clr>
        </p15:guide>
        <p15:guide id="3" pos="3840" userDrawn="1">
          <p15:clr>
            <a:srgbClr val="F26B43"/>
          </p15:clr>
        </p15:guide>
        <p15:guide id="5" pos="1005" userDrawn="1">
          <p15:clr>
            <a:srgbClr val="A4A3A4"/>
          </p15:clr>
        </p15:guide>
        <p15:guide id="8" orient="horz" pos="1389" userDrawn="1">
          <p15:clr>
            <a:srgbClr val="A4A3A4"/>
          </p15:clr>
        </p15:guide>
        <p15:guide id="9" pos="4861" userDrawn="1">
          <p15:clr>
            <a:srgbClr val="A4A3A4"/>
          </p15:clr>
        </p15:guide>
        <p15:guide id="11" orient="horz" pos="4110" userDrawn="1">
          <p15:clr>
            <a:srgbClr val="A4A3A4"/>
          </p15:clr>
        </p15:guide>
        <p15:guide id="13" pos="75" userDrawn="1">
          <p15:clr>
            <a:srgbClr val="A4A3A4"/>
          </p15:clr>
        </p15:guide>
        <p15:guide id="14" orient="horz" pos="73" userDrawn="1">
          <p15:clr>
            <a:srgbClr val="A4A3A4"/>
          </p15:clr>
        </p15:guide>
        <p15:guide id="15" pos="7605" userDrawn="1">
          <p15:clr>
            <a:srgbClr val="A4A3A4"/>
          </p15:clr>
        </p15:guide>
        <p15:guide id="16" orient="horz" pos="4247" userDrawn="1">
          <p15:clr>
            <a:srgbClr val="A4A3A4"/>
          </p15:clr>
        </p15:guide>
        <p15:guide id="17" pos="1232" userDrawn="1">
          <p15:clr>
            <a:srgbClr val="A4A3A4"/>
          </p15:clr>
        </p15:guide>
        <p15:guide id="18" pos="1912" userDrawn="1">
          <p15:clr>
            <a:srgbClr val="A4A3A4"/>
          </p15:clr>
        </p15:guide>
        <p15:guide id="19" pos="2139" userDrawn="1">
          <p15:clr>
            <a:srgbClr val="A4A3A4"/>
          </p15:clr>
        </p15:guide>
        <p15:guide id="20" pos="2819" userDrawn="1">
          <p15:clr>
            <a:srgbClr val="A4A3A4"/>
          </p15:clr>
        </p15:guide>
        <p15:guide id="21" pos="3046" userDrawn="1">
          <p15:clr>
            <a:srgbClr val="A4A3A4"/>
          </p15:clr>
        </p15:guide>
        <p15:guide id="22" pos="3727" userDrawn="1">
          <p15:clr>
            <a:srgbClr val="A4A3A4"/>
          </p15:clr>
        </p15:guide>
        <p15:guide id="23" pos="3953" userDrawn="1">
          <p15:clr>
            <a:srgbClr val="A4A3A4"/>
          </p15:clr>
        </p15:guide>
        <p15:guide id="24" pos="4634" userDrawn="1">
          <p15:clr>
            <a:srgbClr val="A4A3A4"/>
          </p15:clr>
        </p15:guide>
        <p15:guide id="26" pos="5541" userDrawn="1">
          <p15:clr>
            <a:srgbClr val="A4A3A4"/>
          </p15:clr>
        </p15:guide>
        <p15:guide id="27" pos="5768" userDrawn="1">
          <p15:clr>
            <a:srgbClr val="A4A3A4"/>
          </p15:clr>
        </p15:guide>
        <p15:guide id="28" pos="6448" userDrawn="1">
          <p15:clr>
            <a:srgbClr val="A4A3A4"/>
          </p15:clr>
        </p15:guide>
        <p15:guide id="29" pos="6675" userDrawn="1">
          <p15:clr>
            <a:srgbClr val="A4A3A4"/>
          </p15:clr>
        </p15:guide>
        <p15:guide id="30" pos="7355" userDrawn="1">
          <p15:clr>
            <a:srgbClr val="A4A3A4"/>
          </p15:clr>
        </p15:guide>
        <p15:guide id="31" pos="27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45EEC31-B518-31FC-DCDE-57378DE2D3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 err="1"/>
              <a:t>Ktor</a:t>
            </a:r>
            <a:r>
              <a:rPr lang="nb-NO" dirty="0"/>
              <a:t>, </a:t>
            </a:r>
            <a:r>
              <a:rPr lang="nb-NO" dirty="0" err="1"/>
              <a:t>Exposed</a:t>
            </a:r>
            <a:r>
              <a:rPr lang="nb-NO" dirty="0"/>
              <a:t> og DI/</a:t>
            </a:r>
            <a:r>
              <a:rPr lang="nb-NO" dirty="0" err="1"/>
              <a:t>koin</a:t>
            </a:r>
            <a:endParaRPr lang="nb-NO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B0D7C0F0-65C5-D010-3D44-7DC4C09D18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Thomas Oddsund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0B6C52B-6B50-A934-04B6-631830C0C5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b-NO" dirty="0"/>
              <a:t>Faggruppemøte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008229B-D380-CE08-B48E-780EBE488F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b-NO" dirty="0"/>
              <a:t>2025.01.27</a:t>
            </a:r>
          </a:p>
        </p:txBody>
      </p:sp>
    </p:spTree>
    <p:extLst>
      <p:ext uri="{BB962C8B-B14F-4D97-AF65-F5344CB8AC3E}">
        <p14:creationId xmlns:p14="http://schemas.microsoft.com/office/powerpoint/2010/main" val="813018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72FE83-5944-02A3-F98F-7801810EF7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b="1" dirty="0"/>
              <a:t>Del 1: </a:t>
            </a:r>
            <a:r>
              <a:rPr lang="nb-NO" dirty="0" err="1"/>
              <a:t>Ktor</a:t>
            </a:r>
            <a:r>
              <a:rPr lang="nb-NO" dirty="0"/>
              <a:t>(</a:t>
            </a:r>
            <a:r>
              <a:rPr lang="nb-NO" dirty="0" err="1"/>
              <a:t>Jetbrains</a:t>
            </a:r>
            <a:r>
              <a:rPr lang="nb-NO" dirty="0"/>
              <a:t>) erstatter Spring MVC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b="1" dirty="0"/>
              <a:t>Del 2: </a:t>
            </a:r>
            <a:r>
              <a:rPr lang="nb-NO" dirty="0" err="1"/>
              <a:t>Exposed</a:t>
            </a:r>
            <a:r>
              <a:rPr lang="nb-NO" dirty="0"/>
              <a:t>(</a:t>
            </a:r>
            <a:r>
              <a:rPr lang="nb-NO" dirty="0" err="1"/>
              <a:t>Jetbrains</a:t>
            </a:r>
            <a:r>
              <a:rPr lang="nb-NO" dirty="0"/>
              <a:t>) erstatter Spring Data JPA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b="1" dirty="0"/>
              <a:t>Del 3:</a:t>
            </a:r>
            <a:r>
              <a:rPr lang="nb-NO" dirty="0"/>
              <a:t> </a:t>
            </a:r>
            <a:r>
              <a:rPr lang="nb-NO" dirty="0" err="1"/>
              <a:t>Plain</a:t>
            </a:r>
            <a:r>
              <a:rPr lang="nb-NO" dirty="0"/>
              <a:t> Kotlin eller </a:t>
            </a:r>
            <a:r>
              <a:rPr lang="nb-NO" dirty="0" err="1"/>
              <a:t>Koin</a:t>
            </a:r>
            <a:r>
              <a:rPr lang="nb-NO" dirty="0"/>
              <a:t> for å erstatte Spring DI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D9DFA10-0216-CC9B-BB60-E22145AF8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Dagens tema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00A1D2-378E-F2C3-9EE8-C533BE49B0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nb-NO" dirty="0"/>
              <a:t>Kotlin-native alternativer til Spring</a:t>
            </a:r>
          </a:p>
        </p:txBody>
      </p:sp>
    </p:spTree>
    <p:extLst>
      <p:ext uri="{BB962C8B-B14F-4D97-AF65-F5344CB8AC3E}">
        <p14:creationId xmlns:p14="http://schemas.microsoft.com/office/powerpoint/2010/main" val="2722674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457CF589-9707-7E3C-AA99-7E5598695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24" y="1737256"/>
            <a:ext cx="7237413" cy="3383489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57FCF-68BC-D931-9A7C-4DF8E320B5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1475" y="4148004"/>
            <a:ext cx="4103044" cy="237662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Suspend = pause </a:t>
            </a:r>
            <a:r>
              <a:rPr lang="en-US" dirty="0" err="1"/>
              <a:t>uten</a:t>
            </a:r>
            <a:r>
              <a:rPr lang="en-US" dirty="0"/>
              <a:t>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blokkere</a:t>
            </a:r>
            <a:r>
              <a:rPr lang="en-US" dirty="0"/>
              <a:t> </a:t>
            </a:r>
            <a:r>
              <a:rPr lang="en-US" dirty="0" err="1"/>
              <a:t>tråden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Ktor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Exposed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innebygd</a:t>
            </a:r>
            <a:r>
              <a:rPr lang="en-US" dirty="0"/>
              <a:t> </a:t>
            </a:r>
            <a:r>
              <a:rPr lang="en-US" dirty="0" err="1"/>
              <a:t>støtte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Dypdykk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senere</a:t>
            </a:r>
            <a:r>
              <a:rPr lang="en-US" dirty="0"/>
              <a:t> </a:t>
            </a:r>
            <a:r>
              <a:rPr lang="en-US" dirty="0" err="1"/>
              <a:t>faggruppemøte</a:t>
            </a:r>
            <a:r>
              <a:rPr lang="en-US" dirty="0"/>
              <a:t>? 🤔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339AB-1B9B-F95E-A7EB-3E45A8052A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19" y="2709996"/>
            <a:ext cx="4103044" cy="1021944"/>
          </a:xfrm>
        </p:spPr>
        <p:txBody>
          <a:bodyPr anchor="b">
            <a:normAutofit/>
          </a:bodyPr>
          <a:lstStyle/>
          <a:p>
            <a:r>
              <a:rPr lang="en-US" dirty="0"/>
              <a:t>Kort om Coroutines</a:t>
            </a:r>
          </a:p>
        </p:txBody>
      </p:sp>
    </p:spTree>
    <p:extLst>
      <p:ext uri="{BB962C8B-B14F-4D97-AF65-F5344CB8AC3E}">
        <p14:creationId xmlns:p14="http://schemas.microsoft.com/office/powerpoint/2010/main" val="1725979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AC8449-4161-88D5-4D35-BE60EF4DE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 1: </a:t>
            </a:r>
            <a:r>
              <a:rPr lang="en-US" dirty="0" err="1"/>
              <a:t>Ktor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919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9ED27F-76A6-C509-8AAB-BF5675E5A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Hva</a:t>
            </a:r>
            <a:r>
              <a:rPr lang="en-US" dirty="0"/>
              <a:t> er </a:t>
            </a:r>
            <a:r>
              <a:rPr lang="en-US" dirty="0" err="1"/>
              <a:t>Ktor</a:t>
            </a:r>
            <a:r>
              <a:rPr lang="en-US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70EFD-2F6B-48B1-79B2-138124AA90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Bibliotek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dirty="0" err="1"/>
              <a:t>Jetbrains</a:t>
            </a:r>
            <a:r>
              <a:rPr lang="en-US" dirty="0"/>
              <a:t> for </a:t>
            </a:r>
            <a:r>
              <a:rPr lang="en-US" dirty="0" err="1"/>
              <a:t>api-håndtering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Asynkront</a:t>
            </a:r>
            <a:r>
              <a:rPr lang="en-US" dirty="0"/>
              <a:t> via Coroutines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Bygd for Kotlin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Modulært</a:t>
            </a:r>
            <a:r>
              <a:rPr lang="en-US" dirty="0"/>
              <a:t> – installer det du </a:t>
            </a:r>
            <a:r>
              <a:rPr lang="en-US" dirty="0" err="1"/>
              <a:t>trenger</a:t>
            </a:r>
            <a:r>
              <a:rPr lang="en-US" dirty="0"/>
              <a:t> av plugins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funksjonalitet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Coroutines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førsteklasses</a:t>
            </a:r>
            <a:r>
              <a:rPr lang="en-US" dirty="0"/>
              <a:t> </a:t>
            </a:r>
            <a:r>
              <a:rPr lang="en-US" dirty="0" err="1"/>
              <a:t>konsept</a:t>
            </a:r>
            <a:endParaRPr lang="en-US" dirty="0"/>
          </a:p>
          <a:p>
            <a:pPr marL="596900" lvl="1" indent="-285750">
              <a:buFont typeface="Arial" panose="020B0604020202020204" pitchFamily="34" charset="0"/>
              <a:buChar char="•"/>
            </a:pPr>
            <a:r>
              <a:rPr lang="en-US" dirty="0"/>
              <a:t>Threads </a:t>
            </a:r>
            <a:r>
              <a:rPr lang="en-US" dirty="0" err="1"/>
              <a:t>i</a:t>
            </a:r>
            <a:r>
              <a:rPr lang="en-US" dirty="0"/>
              <a:t> Spring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Lett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raskt</a:t>
            </a:r>
            <a:r>
              <a:rPr lang="en-US" dirty="0"/>
              <a:t>, </a:t>
            </a:r>
            <a:r>
              <a:rPr lang="en-US" dirty="0" err="1"/>
              <a:t>håndterer</a:t>
            </a:r>
            <a:r>
              <a:rPr lang="en-US" dirty="0"/>
              <a:t> </a:t>
            </a:r>
            <a:r>
              <a:rPr lang="en-US" dirty="0" err="1"/>
              <a:t>kun</a:t>
            </a:r>
            <a:r>
              <a:rPr lang="en-US" dirty="0"/>
              <a:t>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8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B57EC-9210-7055-B398-19AE2738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512764"/>
            <a:ext cx="7345259" cy="721626"/>
          </a:xfrm>
        </p:spPr>
        <p:txBody>
          <a:bodyPr anchor="ctr">
            <a:normAutofit/>
          </a:bodyPr>
          <a:lstStyle/>
          <a:p>
            <a:r>
              <a:rPr lang="en-US" dirty="0"/>
              <a:t>Minimal </a:t>
            </a:r>
            <a:r>
              <a:rPr lang="en-US" dirty="0" err="1"/>
              <a:t>Ktor</a:t>
            </a:r>
            <a:r>
              <a:rPr lang="en-US" dirty="0"/>
              <a:t>-app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CFE20E-2353-491F-027B-B06E3CEB79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79" b="2"/>
          <a:stretch>
            <a:fillRect/>
          </a:stretch>
        </p:blipFill>
        <p:spPr>
          <a:xfrm>
            <a:off x="371475" y="2058396"/>
            <a:ext cx="6530559" cy="3869781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F1E7E8-AAD2-A379-5D6F-BAEB14FEA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625" y="873577"/>
            <a:ext cx="4660900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1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52822-4BFF-AA35-BCBB-A2D723FE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</a:t>
            </a:r>
            <a:r>
              <a:rPr lang="en-US" dirty="0" err="1"/>
              <a:t>og</a:t>
            </a:r>
            <a:r>
              <a:rPr lang="en-US" dirty="0"/>
              <a:t> requests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1CD413-1641-FBC9-FFE1-6BEF5F84B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900" y="1405808"/>
            <a:ext cx="74422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4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BD703B-E5A2-4A12-3E7E-6A94E4C7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vs </a:t>
            </a:r>
            <a:r>
              <a:rPr lang="en-US" dirty="0" err="1"/>
              <a:t>Ktor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D41682-ED12-41E0-4027-409B7924CB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F55B87-5196-39FE-65A0-895D78539A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8A68E3-D38B-190C-3D30-3E318BF87A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5C69542-5361-AE87-ED28-F8126DD6F0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17D6C5B-30F2-C473-7A7F-AF47F1606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964760"/>
              </p:ext>
            </p:extLst>
          </p:nvPr>
        </p:nvGraphicFramePr>
        <p:xfrm>
          <a:off x="1076632" y="2237440"/>
          <a:ext cx="9083366" cy="33964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41683">
                  <a:extLst>
                    <a:ext uri="{9D8B030D-6E8A-4147-A177-3AD203B41FA5}">
                      <a16:colId xmlns:a16="http://schemas.microsoft.com/office/drawing/2014/main" val="3822180746"/>
                    </a:ext>
                  </a:extLst>
                </a:gridCol>
                <a:gridCol w="4541683">
                  <a:extLst>
                    <a:ext uri="{9D8B030D-6E8A-4147-A177-3AD203B41FA5}">
                      <a16:colId xmlns:a16="http://schemas.microsoft.com/office/drawing/2014/main" val="1760610984"/>
                    </a:ext>
                  </a:extLst>
                </a:gridCol>
              </a:tblGrid>
              <a:tr h="56607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Spring Boot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Ktor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5027"/>
                  </a:ext>
                </a:extLst>
              </a:tr>
              <a:tr h="566074"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@RestController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routing { }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098640"/>
                  </a:ext>
                </a:extLst>
              </a:tr>
              <a:tr h="566074"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@GetMapping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get("/path") { }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020193"/>
                  </a:ext>
                </a:extLst>
              </a:tr>
              <a:tr h="566074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@RequestBody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call.receive&lt;T&gt;()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549515"/>
                  </a:ext>
                </a:extLst>
              </a:tr>
              <a:tr h="566074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ResponseEntity&lt;T&gt;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call.respond(obj)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814175"/>
                  </a:ext>
                </a:extLst>
              </a:tr>
              <a:tr h="566074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Annotations (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implisitt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DSL (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eksplisitt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517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048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122389C-9296-CDF9-3954-FE7A5CAA3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512764"/>
            <a:ext cx="7345259" cy="721626"/>
          </a:xfrm>
        </p:spPr>
        <p:txBody>
          <a:bodyPr anchor="ctr">
            <a:normAutofit/>
          </a:bodyPr>
          <a:lstStyle/>
          <a:p>
            <a:r>
              <a:rPr lang="en-US" dirty="0"/>
              <a:t>Testing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ktor</a:t>
            </a:r>
            <a:endParaRPr lang="en-US" dirty="0"/>
          </a:p>
        </p:txBody>
      </p:sp>
      <p:pic>
        <p:nvPicPr>
          <p:cNvPr id="9" name="Picture 8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6948ACF-A2E9-3F77-5C10-764E2499F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1829119"/>
            <a:ext cx="7345259" cy="35440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242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2229C0-3F77-CF45-8F52-57954B73F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Demotid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851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C1E3A-A209-FCCA-6CEE-F594A5BBC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Proggetid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648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0FF4A4-6A00-89F3-EE64-D13C02F17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Samme </a:t>
            </a:r>
            <a:r>
              <a:rPr lang="en-US" dirty="0" err="1"/>
              <a:t>domene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de to </a:t>
            </a:r>
            <a:r>
              <a:rPr lang="en-US" dirty="0" err="1"/>
              <a:t>forrige</a:t>
            </a:r>
            <a:r>
              <a:rPr lang="en-US" dirty="0"/>
              <a:t> </a:t>
            </a:r>
            <a:r>
              <a:rPr lang="en-US" dirty="0" err="1"/>
              <a:t>møtene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16395-B842-4DE5-4980-D656B33381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DD860C-548B-461C-AE4D-9AE10C8179A6}"/>
              </a:ext>
            </a:extLst>
          </p:cNvPr>
          <p:cNvSpPr/>
          <p:nvPr/>
        </p:nvSpPr>
        <p:spPr>
          <a:xfrm>
            <a:off x="1209368" y="2967334"/>
            <a:ext cx="716863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Ordrevalidering</a:t>
            </a:r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7247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50017-67A7-DAF9-3E16-5707BDF6C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Oppgaver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B3E2F-E2BE-52B8-261E-D26F9BA598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Health </a:t>
            </a:r>
            <a:r>
              <a:rPr lang="en-US" dirty="0" err="1"/>
              <a:t>endepunkt</a:t>
            </a:r>
            <a:r>
              <a:rPr lang="en-US" dirty="0"/>
              <a:t> - GET /health </a:t>
            </a:r>
            <a:r>
              <a:rPr lang="en-US" dirty="0" err="1"/>
              <a:t>returnerer</a:t>
            </a:r>
            <a:r>
              <a:rPr lang="en-US" dirty="0"/>
              <a:t> "OK”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Valider</a:t>
            </a:r>
            <a:r>
              <a:rPr lang="en-US" dirty="0"/>
              <a:t> </a:t>
            </a:r>
            <a:r>
              <a:rPr lang="en-US" dirty="0" err="1"/>
              <a:t>odre</a:t>
            </a:r>
            <a:r>
              <a:rPr lang="en-US" dirty="0"/>
              <a:t> - POST /</a:t>
            </a:r>
            <a:r>
              <a:rPr lang="en-US" dirty="0" err="1"/>
              <a:t>api</a:t>
            </a:r>
            <a:r>
              <a:rPr lang="en-US" dirty="0"/>
              <a:t>/</a:t>
            </a:r>
            <a:r>
              <a:rPr lang="en-US" dirty="0" err="1"/>
              <a:t>ordrer</a:t>
            </a:r>
            <a:r>
              <a:rPr lang="en-US" dirty="0"/>
              <a:t>/</a:t>
            </a:r>
            <a:r>
              <a:rPr lang="en-US" dirty="0" err="1"/>
              <a:t>valider</a:t>
            </a:r>
            <a:r>
              <a:rPr lang="en-US" dirty="0"/>
              <a:t> - </a:t>
            </a:r>
            <a:r>
              <a:rPr lang="en-US" dirty="0" err="1"/>
              <a:t>motta</a:t>
            </a:r>
            <a:r>
              <a:rPr lang="en-US" dirty="0"/>
              <a:t>, </a:t>
            </a:r>
            <a:r>
              <a:rPr lang="en-US" dirty="0" err="1"/>
              <a:t>valider</a:t>
            </a:r>
            <a:r>
              <a:rPr lang="en-US" dirty="0"/>
              <a:t>, returner </a:t>
            </a:r>
            <a:r>
              <a:rPr lang="en-US" dirty="0" err="1"/>
              <a:t>riktig</a:t>
            </a:r>
            <a:r>
              <a:rPr lang="en-US" dirty="0"/>
              <a:t> </a:t>
            </a:r>
            <a:r>
              <a:rPr lang="en-US" dirty="0" err="1"/>
              <a:t>statuskode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Hent </a:t>
            </a:r>
            <a:r>
              <a:rPr lang="en-US" dirty="0" err="1"/>
              <a:t>kunde</a:t>
            </a:r>
            <a:r>
              <a:rPr lang="en-US" dirty="0"/>
              <a:t> - GET /</a:t>
            </a:r>
            <a:r>
              <a:rPr lang="en-US" dirty="0" err="1"/>
              <a:t>api</a:t>
            </a:r>
            <a:r>
              <a:rPr lang="en-US" dirty="0"/>
              <a:t>/</a:t>
            </a:r>
            <a:r>
              <a:rPr lang="en-US" dirty="0" err="1"/>
              <a:t>kunder</a:t>
            </a:r>
            <a:r>
              <a:rPr lang="en-US" dirty="0"/>
              <a:t>/{id} - path parameter, 200 </a:t>
            </a:r>
            <a:r>
              <a:rPr lang="en-US" dirty="0" err="1"/>
              <a:t>eller</a:t>
            </a:r>
            <a:r>
              <a:rPr lang="en-US" dirty="0"/>
              <a:t> 404</a:t>
            </a:r>
          </a:p>
          <a:p>
            <a:r>
              <a:rPr lang="en-US" b="1" dirty="0" err="1"/>
              <a:t>Ekstraoppgaver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List </a:t>
            </a:r>
            <a:r>
              <a:rPr lang="en-US" dirty="0" err="1"/>
              <a:t>opp</a:t>
            </a:r>
            <a:r>
              <a:rPr lang="en-US" dirty="0"/>
              <a:t> </a:t>
            </a:r>
            <a:r>
              <a:rPr lang="en-US" dirty="0" err="1"/>
              <a:t>kunder</a:t>
            </a:r>
            <a:r>
              <a:rPr lang="en-US" dirty="0"/>
              <a:t> - GET /</a:t>
            </a:r>
            <a:r>
              <a:rPr lang="en-US" dirty="0" err="1"/>
              <a:t>api</a:t>
            </a:r>
            <a:r>
              <a:rPr lang="en-US" dirty="0"/>
              <a:t>/</a:t>
            </a:r>
            <a:r>
              <a:rPr lang="en-US" dirty="0" err="1"/>
              <a:t>kunder</a:t>
            </a:r>
            <a:r>
              <a:rPr lang="en-US" dirty="0"/>
              <a:t> - returner alle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Opprett</a:t>
            </a:r>
            <a:r>
              <a:rPr lang="en-US" dirty="0"/>
              <a:t> </a:t>
            </a:r>
            <a:r>
              <a:rPr lang="en-US" dirty="0" err="1"/>
              <a:t>kunde</a:t>
            </a:r>
            <a:r>
              <a:rPr lang="en-US" dirty="0"/>
              <a:t> - POST /</a:t>
            </a:r>
            <a:r>
              <a:rPr lang="en-US" dirty="0" err="1"/>
              <a:t>api</a:t>
            </a:r>
            <a:r>
              <a:rPr lang="en-US" dirty="0"/>
              <a:t>/</a:t>
            </a:r>
            <a:r>
              <a:rPr lang="en-US" dirty="0" err="1"/>
              <a:t>kunder</a:t>
            </a:r>
            <a:r>
              <a:rPr lang="en-US" dirty="0"/>
              <a:t> - </a:t>
            </a:r>
            <a:r>
              <a:rPr lang="en-US" dirty="0" err="1"/>
              <a:t>lagre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returner 201</a:t>
            </a:r>
          </a:p>
          <a:p>
            <a:endParaRPr lang="en-US" b="1" dirty="0"/>
          </a:p>
          <a:p>
            <a:r>
              <a:rPr lang="en-US" dirty="0" err="1"/>
              <a:t>Testene</a:t>
            </a:r>
            <a:r>
              <a:rPr lang="en-US" dirty="0"/>
              <a:t> ligger </a:t>
            </a:r>
            <a:r>
              <a:rPr lang="en-US" dirty="0" err="1"/>
              <a:t>ferdig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“</a:t>
            </a:r>
            <a:r>
              <a:rPr lang="en-US" dirty="0" err="1"/>
              <a:t>src</a:t>
            </a:r>
            <a:r>
              <a:rPr lang="en-US" dirty="0"/>
              <a:t>/test/</a:t>
            </a:r>
            <a:r>
              <a:rPr lang="en-US" dirty="0" err="1"/>
              <a:t>kotlin</a:t>
            </a:r>
            <a:r>
              <a:rPr lang="en-US" dirty="0"/>
              <a:t>/routes/”, </a:t>
            </a:r>
            <a:r>
              <a:rPr lang="en-US" dirty="0" err="1"/>
              <a:t>fiks</a:t>
            </a:r>
            <a:r>
              <a:rPr lang="en-US" dirty="0"/>
              <a:t> </a:t>
            </a:r>
            <a:r>
              <a:rPr lang="en-US" dirty="0" err="1"/>
              <a:t>koden</a:t>
            </a:r>
            <a:r>
              <a:rPr lang="en-US" dirty="0"/>
              <a:t> </a:t>
            </a:r>
            <a:r>
              <a:rPr lang="en-US" dirty="0" err="1"/>
              <a:t>så</a:t>
            </a:r>
            <a:r>
              <a:rPr lang="en-US" dirty="0"/>
              <a:t> de </a:t>
            </a:r>
            <a:r>
              <a:rPr lang="en-US" dirty="0" err="1"/>
              <a:t>blir</a:t>
            </a:r>
            <a:r>
              <a:rPr lang="en-US" dirty="0"/>
              <a:t> </a:t>
            </a:r>
            <a:r>
              <a:rPr lang="en-US" dirty="0" err="1"/>
              <a:t>grønne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416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F6D510-0B1E-5FDC-4D0D-1A7C3FF2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Exposed</a:t>
            </a:r>
          </a:p>
        </p:txBody>
      </p:sp>
    </p:spTree>
    <p:extLst>
      <p:ext uri="{BB962C8B-B14F-4D97-AF65-F5344CB8AC3E}">
        <p14:creationId xmlns:p14="http://schemas.microsoft.com/office/powerpoint/2010/main" val="2205100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1EA4EC-BEA5-F12F-F6F8-4264D19E8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Hva</a:t>
            </a:r>
            <a:r>
              <a:rPr lang="en-US" dirty="0"/>
              <a:t> er Exposed?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C4946F-F34F-7865-BD7A-AF3CD095C6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Kotlin SQL lib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dirty="0" err="1"/>
              <a:t>Jetbrains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DSL </a:t>
            </a:r>
            <a:r>
              <a:rPr lang="en-US" dirty="0" err="1"/>
              <a:t>og</a:t>
            </a:r>
            <a:r>
              <a:rPr lang="en-US" dirty="0"/>
              <a:t> DAO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Støtter</a:t>
            </a:r>
            <a:r>
              <a:rPr lang="en-US" dirty="0"/>
              <a:t> Coroutines </a:t>
            </a:r>
            <a:r>
              <a:rPr lang="en-US" dirty="0" err="1"/>
              <a:t>hvis</a:t>
            </a:r>
            <a:r>
              <a:rPr lang="en-US" dirty="0"/>
              <a:t> du </a:t>
            </a:r>
            <a:r>
              <a:rPr lang="en-US" dirty="0" err="1"/>
              <a:t>bruker</a:t>
            </a:r>
            <a:r>
              <a:rPr lang="en-US" dirty="0"/>
              <a:t> DSL </a:t>
            </a:r>
            <a:r>
              <a:rPr lang="en-US" dirty="0" err="1"/>
              <a:t>og</a:t>
            </a:r>
            <a:r>
              <a:rPr lang="en-US" dirty="0"/>
              <a:t> r2dbc(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stedet</a:t>
            </a:r>
            <a:r>
              <a:rPr lang="en-US" dirty="0"/>
              <a:t> for JDBC)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Mindre</a:t>
            </a:r>
            <a:r>
              <a:rPr lang="en-US" dirty="0"/>
              <a:t> magi </a:t>
            </a:r>
            <a:r>
              <a:rPr lang="en-US" dirty="0" err="1"/>
              <a:t>og</a:t>
            </a:r>
            <a:r>
              <a:rPr lang="en-US" dirty="0"/>
              <a:t> proxies </a:t>
            </a:r>
            <a:r>
              <a:rPr lang="en-US" dirty="0" err="1"/>
              <a:t>enn</a:t>
            </a:r>
            <a:r>
              <a:rPr lang="en-US" dirty="0"/>
              <a:t> med JPA/Hibernate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826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A16FB-25D1-F5E4-DE69-B41567999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DSL vs DAO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561A5-7CC5-FAAF-7FB2-A3C5445F6C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669B4D-788D-2CBF-039E-E79B1EF374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DSL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1DFAF7-FA27-4778-706E-5B44590CFD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DAO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0A0AA10-375E-8723-B864-ABB0BC4A14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2A8469-9673-9BF4-4DDD-FCA3251A3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4" y="2651125"/>
            <a:ext cx="5194300" cy="3162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B33DFE-042F-334F-3F5D-BF5B97D3D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474" y="2636678"/>
            <a:ext cx="6159500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601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C328A53-3700-1094-D8BB-1A66DA524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126E85D-54FB-7CA2-B852-3B90B5C111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Gjenkjennbart</a:t>
            </a:r>
            <a:r>
              <a:rPr lang="en-US" dirty="0"/>
              <a:t> for de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jobbet</a:t>
            </a:r>
            <a:r>
              <a:rPr lang="en-US" dirty="0"/>
              <a:t> med </a:t>
            </a:r>
            <a:r>
              <a:rPr lang="en-US" dirty="0" err="1"/>
              <a:t>JDBCTemplate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Spring?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A54079-0643-060E-C699-9CC37507FA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8AA5855-DF73-16A8-8088-E8C81FB71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125" y="1939925"/>
            <a:ext cx="6375400" cy="458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17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3938-3E07-7F9F-FD23-AF6FFBFA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Insert, update,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38762-1945-09D9-F90E-8339E946A7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 select – </a:t>
            </a:r>
            <a:r>
              <a:rPr lang="en-US" dirty="0" err="1"/>
              <a:t>gjenkjennbart</a:t>
            </a:r>
            <a:r>
              <a:rPr lang="en-US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2B1F5-2B87-FA00-CCA4-15728216F9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867D58-94AE-A77D-5E05-4CC80ABAF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267" y="1989139"/>
            <a:ext cx="6199257" cy="453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73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693C2-A177-EDB6-8FBA-4D0BAF15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A819F-D47C-2A81-B8CA-D988DFFD0C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091544-1483-27F2-2576-DFB811332D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5485A8-8F30-58C2-28BE-B740B355A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186160"/>
              </p:ext>
            </p:extLst>
          </p:nvPr>
        </p:nvGraphicFramePr>
        <p:xfrm>
          <a:off x="1076632" y="2237440"/>
          <a:ext cx="9083366" cy="28303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41683">
                  <a:extLst>
                    <a:ext uri="{9D8B030D-6E8A-4147-A177-3AD203B41FA5}">
                      <a16:colId xmlns:a16="http://schemas.microsoft.com/office/drawing/2014/main" val="3822180746"/>
                    </a:ext>
                  </a:extLst>
                </a:gridCol>
                <a:gridCol w="4541683">
                  <a:extLst>
                    <a:ext uri="{9D8B030D-6E8A-4147-A177-3AD203B41FA5}">
                      <a16:colId xmlns:a16="http://schemas.microsoft.com/office/drawing/2014/main" val="1760610984"/>
                    </a:ext>
                  </a:extLst>
                </a:gridCol>
              </a:tblGrid>
              <a:tr h="566074"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Spring Data JPA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Exposed DSL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5027"/>
                  </a:ext>
                </a:extLst>
              </a:tr>
              <a:tr h="566074">
                <a:tc>
                  <a:txBody>
                    <a:bodyPr/>
                    <a:lstStyle/>
                    <a:p>
                      <a:r>
                        <a:rPr lang="en-US" sz="2400" dirty="0"/>
                        <a:t>@Entity class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object : Table()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098640"/>
                  </a:ext>
                </a:extLst>
              </a:tr>
              <a:tr h="56607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interface :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JpaRepository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Egne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repository-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klasser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020193"/>
                  </a:ext>
                </a:extLst>
              </a:tr>
              <a:tr h="566074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Generert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Eksplisitt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typesikker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549515"/>
                  </a:ext>
                </a:extLst>
              </a:tr>
              <a:tr h="566074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findById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, save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selectAll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, insert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814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5804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A60A3-BC99-B281-972A-F0AA641D9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enkel</a:t>
            </a:r>
            <a:r>
              <a:rPr lang="en-US" dirty="0"/>
              <a:t> </a:t>
            </a:r>
            <a:r>
              <a:rPr lang="en-US" dirty="0" err="1"/>
              <a:t>databasemigrering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0EE60-0AB7-ACB9-6C0D-D1ACAD0D7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996A6-3C9D-72A2-A270-D4AC48766E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20525" y="5353665"/>
            <a:ext cx="5400000" cy="1170960"/>
          </a:xfrm>
        </p:spPr>
        <p:txBody>
          <a:bodyPr/>
          <a:lstStyle/>
          <a:p>
            <a:r>
              <a:rPr lang="en-US" dirty="0"/>
              <a:t>Men </a:t>
            </a:r>
            <a:r>
              <a:rPr lang="en-US" dirty="0" err="1"/>
              <a:t>fortsett</a:t>
            </a:r>
            <a:r>
              <a:rPr lang="en-US" dirty="0"/>
              <a:t> med Flyway/Liquibase </a:t>
            </a:r>
            <a:r>
              <a:rPr lang="en-US" dirty="0" err="1"/>
              <a:t>i</a:t>
            </a:r>
            <a:r>
              <a:rPr lang="en-US" dirty="0"/>
              <a:t> prod..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4A77BC-A3D5-97FE-51D8-D4EBA1203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4" y="1968500"/>
            <a:ext cx="76581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83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3D75DF-74CD-4F12-941B-302E13969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13298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DE992-9138-7329-0066-1571F4A2B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CA519B9-6987-9D3B-A1C8-06379EB5D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Proggetid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831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4F379D-0EF1-D3E7-C7D8-E4B49978D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Oppgaver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CC558F-0A76-4D83-5898-B2102F9156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hent(id) – Select </a:t>
            </a:r>
            <a:r>
              <a:rPr lang="en-US" dirty="0" err="1"/>
              <a:t>kunde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map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domene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lagre</a:t>
            </a:r>
            <a:r>
              <a:rPr lang="en-US" dirty="0"/>
              <a:t>(</a:t>
            </a:r>
            <a:r>
              <a:rPr lang="en-US" dirty="0" err="1"/>
              <a:t>kunde</a:t>
            </a:r>
            <a:r>
              <a:rPr lang="en-US" dirty="0"/>
              <a:t>) – Insert, returner </a:t>
            </a:r>
            <a:r>
              <a:rPr lang="en-US" dirty="0" err="1"/>
              <a:t>generert</a:t>
            </a:r>
            <a:r>
              <a:rPr lang="en-US" dirty="0"/>
              <a:t> id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oppdater</a:t>
            </a:r>
            <a:r>
              <a:rPr lang="en-US" dirty="0"/>
              <a:t>(id, </a:t>
            </a:r>
            <a:r>
              <a:rPr lang="en-US" dirty="0" err="1"/>
              <a:t>erAktiv</a:t>
            </a:r>
            <a:r>
              <a:rPr lang="en-US" dirty="0"/>
              <a:t>) - Update</a:t>
            </a:r>
          </a:p>
          <a:p>
            <a:endParaRPr lang="en-US" dirty="0"/>
          </a:p>
          <a:p>
            <a:r>
              <a:rPr lang="en-US" b="1" dirty="0" err="1"/>
              <a:t>Ekstraoppgave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hentAlle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AAC4169-FB0D-08DD-F413-94E81A7FCB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 err="1"/>
              <a:t>KundeRepository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F3CDBD-2273-A223-D41B-BE05F8F62D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 err="1"/>
              <a:t>LagerRepository</a:t>
            </a:r>
            <a:endParaRPr lang="en-US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4B0D00-546F-54FB-E46C-5E488CF927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 err="1"/>
              <a:t>hentBeholdning</a:t>
            </a:r>
            <a:r>
              <a:rPr lang="en-US" dirty="0"/>
              <a:t>(</a:t>
            </a:r>
            <a:r>
              <a:rPr lang="en-US" dirty="0" err="1"/>
              <a:t>produktId</a:t>
            </a:r>
            <a:r>
              <a:rPr lang="en-US" dirty="0"/>
              <a:t>) – Select, default 0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leggTil</a:t>
            </a:r>
            <a:r>
              <a:rPr lang="en-US" dirty="0"/>
              <a:t>(</a:t>
            </a:r>
            <a:r>
              <a:rPr lang="en-US" dirty="0" err="1"/>
              <a:t>produktId</a:t>
            </a:r>
            <a:r>
              <a:rPr lang="en-US" dirty="0"/>
              <a:t>, </a:t>
            </a:r>
            <a:r>
              <a:rPr lang="en-US" dirty="0" err="1"/>
              <a:t>antall</a:t>
            </a:r>
            <a:r>
              <a:rPr lang="en-US" dirty="0"/>
              <a:t>) – Insert </a:t>
            </a:r>
            <a:r>
              <a:rPr lang="en-US" dirty="0" err="1"/>
              <a:t>eller</a:t>
            </a:r>
            <a:r>
              <a:rPr lang="en-US" dirty="0"/>
              <a:t> Update(</a:t>
            </a:r>
            <a:r>
              <a:rPr lang="en-US" dirty="0" err="1"/>
              <a:t>Upsert</a:t>
            </a:r>
            <a:r>
              <a:rPr lang="en-US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reduserBeholdning</a:t>
            </a:r>
            <a:r>
              <a:rPr lang="en-US" dirty="0"/>
              <a:t>(</a:t>
            </a:r>
            <a:r>
              <a:rPr lang="en-US" dirty="0" err="1"/>
              <a:t>produktId</a:t>
            </a:r>
            <a:r>
              <a:rPr lang="en-US" dirty="0"/>
              <a:t>, </a:t>
            </a:r>
            <a:r>
              <a:rPr lang="en-US" dirty="0" err="1"/>
              <a:t>antall</a:t>
            </a:r>
            <a:r>
              <a:rPr lang="en-US" dirty="0"/>
              <a:t>) – Update, returner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beholdning</a:t>
            </a:r>
            <a:endParaRPr lang="en-US" dirty="0"/>
          </a:p>
          <a:p>
            <a:r>
              <a:rPr lang="en-US" b="1" dirty="0" err="1"/>
              <a:t>Ekstraoppgave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slettProdukt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0F299B-AF55-7994-1CED-634B890CB667}"/>
              </a:ext>
            </a:extLst>
          </p:cNvPr>
          <p:cNvSpPr txBox="1"/>
          <p:nvPr/>
        </p:nvSpPr>
        <p:spPr>
          <a:xfrm>
            <a:off x="3999885" y="5722063"/>
            <a:ext cx="4192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Testene</a:t>
            </a:r>
            <a:r>
              <a:rPr lang="en-US" dirty="0"/>
              <a:t> ligger I </a:t>
            </a:r>
            <a:r>
              <a:rPr lang="en-US" dirty="0" err="1"/>
              <a:t>src</a:t>
            </a:r>
            <a:r>
              <a:rPr lang="en-US" dirty="0"/>
              <a:t>/test/</a:t>
            </a:r>
            <a:r>
              <a:rPr lang="en-US" dirty="0" err="1"/>
              <a:t>kotlin</a:t>
            </a:r>
            <a:r>
              <a:rPr lang="en-US" dirty="0"/>
              <a:t>/repository/</a:t>
            </a:r>
          </a:p>
        </p:txBody>
      </p:sp>
    </p:spTree>
    <p:extLst>
      <p:ext uri="{BB962C8B-B14F-4D97-AF65-F5344CB8AC3E}">
        <p14:creationId xmlns:p14="http://schemas.microsoft.com/office/powerpoint/2010/main" val="39473048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E1240FC-35E7-34DC-601A-4F5B0A339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 3: Manuell DI vs Koin</a:t>
            </a:r>
          </a:p>
        </p:txBody>
      </p:sp>
    </p:spTree>
    <p:extLst>
      <p:ext uri="{BB962C8B-B14F-4D97-AF65-F5344CB8AC3E}">
        <p14:creationId xmlns:p14="http://schemas.microsoft.com/office/powerpoint/2010/main" val="1520725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8112A9-7A2D-532E-CA08-4AD1F30A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Oppfrisker</a:t>
            </a:r>
            <a:r>
              <a:rPr lang="en-US" dirty="0"/>
              <a:t> - </a:t>
            </a:r>
            <a:r>
              <a:rPr lang="en-US" dirty="0" err="1"/>
              <a:t>hvorfor</a:t>
            </a:r>
            <a:r>
              <a:rPr lang="en-US" dirty="0"/>
              <a:t> DI?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CCB28-CF8A-D123-2206-8ED570496D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989138"/>
            <a:ext cx="4716719" cy="453548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Separation of Concerns -&gt; Loosely coupled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Lettere</a:t>
            </a:r>
            <a:r>
              <a:rPr lang="en-US" dirty="0"/>
              <a:t> </a:t>
            </a:r>
            <a:r>
              <a:rPr lang="en-US" dirty="0" err="1"/>
              <a:t>å</a:t>
            </a:r>
            <a:r>
              <a:rPr lang="en-US" dirty="0"/>
              <a:t> teste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Trenger</a:t>
            </a:r>
            <a:r>
              <a:rPr lang="en-US" dirty="0"/>
              <a:t> vi </a:t>
            </a:r>
            <a:r>
              <a:rPr lang="en-US" dirty="0" err="1"/>
              <a:t>egentlig</a:t>
            </a:r>
            <a:r>
              <a:rPr lang="en-US" dirty="0"/>
              <a:t> et </a:t>
            </a:r>
            <a:r>
              <a:rPr lang="en-US" dirty="0" err="1"/>
              <a:t>bibliotek</a:t>
            </a:r>
            <a:r>
              <a:rPr lang="en-US" dirty="0"/>
              <a:t>/</a:t>
            </a:r>
            <a:r>
              <a:rPr lang="en-US" dirty="0" err="1"/>
              <a:t>rammeverk</a:t>
            </a:r>
            <a:r>
              <a:rPr lang="en-US" dirty="0"/>
              <a:t> for </a:t>
            </a:r>
            <a:r>
              <a:rPr lang="en-US" dirty="0" err="1"/>
              <a:t>dette</a:t>
            </a:r>
            <a:r>
              <a:rPr lang="en-US" dirty="0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BEAC62-458B-CE45-6EF3-5BB4E2B30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025" y="2613742"/>
            <a:ext cx="61595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8684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987B24-A8B4-6665-F151-D47025929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679700"/>
            <a:ext cx="48768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042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83E72-235E-752D-3816-DEFB6EF27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C65EE-DA4B-A71D-F42F-D1FC9FB188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B113E8-E138-C9F7-64A0-8FA46F7E1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968500"/>
            <a:ext cx="70104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172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2B65-BC5C-E914-034E-60A615135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D9FEA-A916-23A2-D6CA-AFF3499F94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E0B619-0B9A-B14E-BB9B-9D36B811C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612900"/>
            <a:ext cx="70104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55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307A-CE28-E96C-B286-9D9EF2D07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6BAB2-7F34-DD3F-FFA1-D3F145D663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9C46A2-81C2-8A24-4B9F-01C460CD0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850" y="1022350"/>
            <a:ext cx="72263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836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82A1-4B2D-F2FF-7187-C033469B9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bruk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06D09-F103-77F2-AA67-E48466B8B9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528F95-21A4-DF4E-3BD6-6B709B1EA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1432835"/>
            <a:ext cx="7124700" cy="2451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DB87FD-4A45-0E39-CDCD-10D1D1345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331" y="4078965"/>
            <a:ext cx="73406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3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D83E5B-F5EA-3EDD-1BCF-97F005C83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Manuell DI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DBA357-63E4-3EA9-8939-07D7963EA5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Kompileringssikkerhet</a:t>
            </a:r>
            <a:r>
              <a:rPr lang="en-US" dirty="0"/>
              <a:t> - </a:t>
            </a:r>
            <a:r>
              <a:rPr lang="en-US" dirty="0" err="1"/>
              <a:t>feil</a:t>
            </a:r>
            <a:r>
              <a:rPr lang="en-US" dirty="0"/>
              <a:t> </a:t>
            </a:r>
            <a:r>
              <a:rPr lang="en-US" dirty="0" err="1"/>
              <a:t>ved</a:t>
            </a:r>
            <a:r>
              <a:rPr lang="en-US" dirty="0"/>
              <a:t> </a:t>
            </a:r>
            <a:r>
              <a:rPr lang="en-US" dirty="0" err="1"/>
              <a:t>bygg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Ingen magi - ren Kotlin-</a:t>
            </a:r>
            <a:r>
              <a:rPr lang="en-US" dirty="0" err="1"/>
              <a:t>kode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Lett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debugge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navigere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Ingen </a:t>
            </a:r>
            <a:r>
              <a:rPr lang="en-US" dirty="0" err="1"/>
              <a:t>ekstra</a:t>
            </a:r>
            <a:r>
              <a:rPr lang="en-US" dirty="0"/>
              <a:t> dependencies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81A22C-3CF5-8F86-5395-C313B4942A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 err="1"/>
              <a:t>Fordeler</a:t>
            </a:r>
            <a:r>
              <a:rPr lang="en-US" b="1" dirty="0"/>
              <a:t> </a:t>
            </a:r>
            <a:r>
              <a:rPr lang="en-US" dirty="0"/>
              <a:t>✅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50E01E-5265-C906-FBA7-F355F2486C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 err="1"/>
              <a:t>Ulemper</a:t>
            </a:r>
            <a:r>
              <a:rPr lang="en-US" b="1" dirty="0"/>
              <a:t> </a:t>
            </a:r>
            <a:r>
              <a:rPr lang="en-US" dirty="0"/>
              <a:t>❌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DF6DA2-24D5-62D6-2BDA-FFA149C2EA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Kan </a:t>
            </a:r>
            <a:r>
              <a:rPr lang="en-US" dirty="0" err="1"/>
              <a:t>bli</a:t>
            </a:r>
            <a:r>
              <a:rPr lang="en-US" dirty="0"/>
              <a:t> </a:t>
            </a:r>
            <a:r>
              <a:rPr lang="en-US" dirty="0" err="1"/>
              <a:t>stort</a:t>
            </a:r>
            <a:r>
              <a:rPr lang="en-US" dirty="0"/>
              <a:t> for </a:t>
            </a:r>
            <a:r>
              <a:rPr lang="en-US" dirty="0" err="1"/>
              <a:t>komplekse</a:t>
            </a:r>
            <a:r>
              <a:rPr lang="en-US" dirty="0"/>
              <a:t> </a:t>
            </a:r>
            <a:r>
              <a:rPr lang="en-US" dirty="0" err="1"/>
              <a:t>apper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Manuell </a:t>
            </a:r>
            <a:r>
              <a:rPr lang="en-US" dirty="0" err="1"/>
              <a:t>oppdatering</a:t>
            </a:r>
            <a:r>
              <a:rPr lang="en-US" dirty="0"/>
              <a:t> </a:t>
            </a:r>
            <a:r>
              <a:rPr lang="en-US" dirty="0" err="1"/>
              <a:t>ved</a:t>
            </a:r>
            <a:r>
              <a:rPr lang="en-US" dirty="0"/>
              <a:t> nye </a:t>
            </a:r>
            <a:r>
              <a:rPr lang="en-US" dirty="0" err="1"/>
              <a:t>avhengigheter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Generelt</a:t>
            </a:r>
            <a:r>
              <a:rPr lang="en-US" dirty="0"/>
              <a:t> </a:t>
            </a:r>
            <a:r>
              <a:rPr lang="en-US" dirty="0" err="1"/>
              <a:t>manuellt</a:t>
            </a:r>
            <a:r>
              <a:rPr lang="en-US" dirty="0"/>
              <a:t> </a:t>
            </a:r>
            <a:r>
              <a:rPr lang="en-US" dirty="0" err="1"/>
              <a:t>vedlikehold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65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build="p"/>
      <p:bldP spid="7" grpId="0" build="p"/>
      <p:bldP spid="8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EAA8B-A3B0-A0DD-1321-FCA8A1DD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Ktor</a:t>
            </a:r>
            <a:r>
              <a:rPr lang="en-US" dirty="0"/>
              <a:t> DI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1B42B9-F48B-5CB1-DB9D-E1BE9A9DD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Nytt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3.2.0(</a:t>
            </a:r>
            <a:r>
              <a:rPr lang="en-US" dirty="0" err="1"/>
              <a:t>juni</a:t>
            </a:r>
            <a:r>
              <a:rPr lang="en-US" dirty="0"/>
              <a:t> 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Innebygd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ktor</a:t>
            </a:r>
            <a:r>
              <a:rPr lang="en-US" dirty="0"/>
              <a:t> via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ekstra</a:t>
            </a:r>
            <a:r>
              <a:rPr lang="en-US" dirty="0"/>
              <a:t> dependency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resolve() </a:t>
            </a:r>
            <a:r>
              <a:rPr lang="en-US" dirty="0" err="1"/>
              <a:t>henter</a:t>
            </a:r>
            <a:r>
              <a:rPr lang="en-US" dirty="0"/>
              <a:t> deps </a:t>
            </a:r>
            <a:r>
              <a:rPr lang="en-US" dirty="0" err="1"/>
              <a:t>automagisk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slipper prop-drilling </a:t>
            </a:r>
            <a:r>
              <a:rPr lang="en-US" dirty="0" err="1"/>
              <a:t>i</a:t>
            </a:r>
            <a:r>
              <a:rPr lang="en-US" dirty="0"/>
              <a:t> routes/routing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EAE474-AE96-CA4C-9C6C-D56335F0E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5" y="4192853"/>
            <a:ext cx="7772400" cy="215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05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07643F6-6860-C6AF-752E-FBBBBC968A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1475" y="4148004"/>
            <a:ext cx="4103044" cy="237662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F09425-7E5B-5112-FE46-CA40E5FDD4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19" y="2709996"/>
            <a:ext cx="4103044" cy="1021944"/>
          </a:xfrm>
        </p:spPr>
        <p:txBody>
          <a:bodyPr anchor="b">
            <a:normAutofit/>
          </a:bodyPr>
          <a:lstStyle/>
          <a:p>
            <a:r>
              <a:rPr lang="en-US" dirty="0" err="1"/>
              <a:t>Ktor</a:t>
            </a:r>
            <a:r>
              <a:rPr lang="en-US" dirty="0"/>
              <a:t> DI – </a:t>
            </a:r>
            <a:r>
              <a:rPr lang="en-US" dirty="0" err="1"/>
              <a:t>eksempel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55C398-145D-FE5F-5ACE-55EDDF855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481" y="687442"/>
            <a:ext cx="7772400" cy="548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9782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35D79-06DA-D4A0-C2B7-D3F190751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B158D8-AED0-98F5-7C42-62ADE345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Ktor</a:t>
            </a:r>
            <a:r>
              <a:rPr lang="en-US" dirty="0"/>
              <a:t> DI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4A0EC9-D6B9-665A-0F93-4DF4696131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Ingen </a:t>
            </a:r>
            <a:r>
              <a:rPr lang="en-US" dirty="0" err="1"/>
              <a:t>ekstra</a:t>
            </a:r>
            <a:r>
              <a:rPr lang="en-US" dirty="0"/>
              <a:t> </a:t>
            </a:r>
            <a:r>
              <a:rPr lang="en-US" dirty="0" err="1"/>
              <a:t>eksterne</a:t>
            </a:r>
            <a:r>
              <a:rPr lang="en-US" dirty="0"/>
              <a:t> 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Slipper prop-drilling av </a:t>
            </a:r>
            <a:r>
              <a:rPr lang="en-US" dirty="0" err="1"/>
              <a:t>avhengigheter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Coroutine </a:t>
            </a:r>
            <a:r>
              <a:rPr lang="en-US" dirty="0" err="1"/>
              <a:t>støtte</a:t>
            </a:r>
            <a:r>
              <a:rPr lang="en-US" dirty="0"/>
              <a:t> for async </a:t>
            </a:r>
            <a:r>
              <a:rPr lang="en-US" dirty="0" err="1"/>
              <a:t>avhengigheter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AutoCloseable</a:t>
            </a:r>
            <a:r>
              <a:rPr lang="en-US" dirty="0"/>
              <a:t> </a:t>
            </a:r>
            <a:r>
              <a:rPr lang="en-US" dirty="0" err="1"/>
              <a:t>støtte</a:t>
            </a:r>
            <a:r>
              <a:rPr lang="en-US" dirty="0"/>
              <a:t> for cleanup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EE6BDA1-BCBA-F034-C4B0-DCEA41436C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 err="1"/>
              <a:t>Fordeler</a:t>
            </a:r>
            <a:r>
              <a:rPr lang="en-US" b="1" dirty="0"/>
              <a:t> </a:t>
            </a:r>
            <a:r>
              <a:rPr lang="en-US" dirty="0"/>
              <a:t>✅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B7D225-8170-69D9-5DF4-5AB9582923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 err="1"/>
              <a:t>Ulemper</a:t>
            </a:r>
            <a:r>
              <a:rPr lang="en-US" b="1" dirty="0"/>
              <a:t> </a:t>
            </a:r>
            <a:r>
              <a:rPr lang="en-US" dirty="0"/>
              <a:t>❌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DD5BE6-D958-EE98-0981-514916EC22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Runtime-</a:t>
            </a:r>
            <a:r>
              <a:rPr lang="en-US" dirty="0" err="1"/>
              <a:t>feil</a:t>
            </a:r>
            <a:r>
              <a:rPr lang="en-US" dirty="0"/>
              <a:t> </a:t>
            </a:r>
            <a:r>
              <a:rPr lang="en-US" dirty="0" err="1"/>
              <a:t>ved</a:t>
            </a:r>
            <a:r>
              <a:rPr lang="en-US" dirty="0"/>
              <a:t> mangler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Relativt</a:t>
            </a:r>
            <a:r>
              <a:rPr lang="en-US" dirty="0"/>
              <a:t> </a:t>
            </a:r>
            <a:r>
              <a:rPr lang="en-US" dirty="0" err="1"/>
              <a:t>nytt</a:t>
            </a:r>
            <a:r>
              <a:rPr lang="en-US" dirty="0"/>
              <a:t>(</a:t>
            </a:r>
            <a:r>
              <a:rPr lang="en-US" dirty="0" err="1"/>
              <a:t>mindre</a:t>
            </a:r>
            <a:r>
              <a:rPr lang="en-US" dirty="0"/>
              <a:t> docs)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Litt </a:t>
            </a:r>
            <a:r>
              <a:rPr lang="en-US" dirty="0" err="1"/>
              <a:t>vanskelig</a:t>
            </a:r>
            <a:r>
              <a:rPr lang="en-US" dirty="0"/>
              <a:t> </a:t>
            </a:r>
            <a:r>
              <a:rPr lang="en-US" dirty="0" err="1"/>
              <a:t>å</a:t>
            </a:r>
            <a:r>
              <a:rPr lang="en-US" dirty="0"/>
              <a:t> google </a:t>
            </a:r>
            <a:r>
              <a:rPr lang="en-US" dirty="0" err="1"/>
              <a:t>ved</a:t>
            </a:r>
            <a:r>
              <a:rPr lang="en-US" dirty="0"/>
              <a:t> </a:t>
            </a:r>
            <a:r>
              <a:rPr lang="en-US" dirty="0" err="1"/>
              <a:t>behov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Kun for </a:t>
            </a:r>
            <a:r>
              <a:rPr lang="en-US" dirty="0" err="1"/>
              <a:t>ktor</a:t>
            </a:r>
            <a:r>
              <a:rPr lang="en-US" dirty="0"/>
              <a:t> apps</a:t>
            </a:r>
          </a:p>
        </p:txBody>
      </p:sp>
    </p:spTree>
    <p:extLst>
      <p:ext uri="{BB962C8B-B14F-4D97-AF65-F5344CB8AC3E}">
        <p14:creationId xmlns:p14="http://schemas.microsoft.com/office/powerpoint/2010/main" val="402706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build="p"/>
      <p:bldP spid="7" grpId="0" build="p"/>
      <p:bldP spid="8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E024D-2801-8468-8EF6-5B8CD449B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B260C35-28D8-9126-E1BF-C994E8C5AB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DSL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annotasjonbasert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Lettere</a:t>
            </a:r>
            <a:r>
              <a:rPr lang="en-US" dirty="0"/>
              <a:t>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skalere</a:t>
            </a:r>
            <a:r>
              <a:rPr lang="en-US" dirty="0"/>
              <a:t> med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moduler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Ingen runtime </a:t>
            </a:r>
            <a:r>
              <a:rPr lang="en-US" dirty="0" err="1"/>
              <a:t>feil</a:t>
            </a:r>
            <a:r>
              <a:rPr lang="en-US" dirty="0"/>
              <a:t> med</a:t>
            </a:r>
            <a:br>
              <a:rPr lang="en-US" dirty="0"/>
            </a:br>
            <a:r>
              <a:rPr lang="en-US" dirty="0"/>
              <a:t>Koin Compiler plugin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Integrasjoner</a:t>
            </a:r>
            <a:r>
              <a:rPr lang="en-US" dirty="0"/>
              <a:t> med </a:t>
            </a:r>
            <a:r>
              <a:rPr lang="en-US" dirty="0" err="1"/>
              <a:t>Ktor</a:t>
            </a:r>
            <a:r>
              <a:rPr lang="en-US" dirty="0"/>
              <a:t> DI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95ECEE-E8DE-9287-990A-B469A1995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731" y="1733550"/>
            <a:ext cx="74422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6227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B2AD7-E086-6960-46D2-1E8D8E636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821F2A4-D55B-7C39-8A44-5619B76238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1475" y="4148004"/>
            <a:ext cx="4103044" cy="237662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398C2-2FD7-98EA-8249-37ABEF2B91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19" y="2709996"/>
            <a:ext cx="4103044" cy="1021944"/>
          </a:xfrm>
        </p:spPr>
        <p:txBody>
          <a:bodyPr anchor="b">
            <a:normAutofit/>
          </a:bodyPr>
          <a:lstStyle/>
          <a:p>
            <a:r>
              <a:rPr lang="en-US" dirty="0"/>
              <a:t>Koin – </a:t>
            </a:r>
            <a:r>
              <a:rPr lang="en-US" dirty="0" err="1"/>
              <a:t>eksempel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F88DBF-0D33-BA49-09F3-65CCEE692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486" y="815570"/>
            <a:ext cx="6578395" cy="522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732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4A8AF-381C-ED8B-F623-9A4021AD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69CAA1-B2CC-7B63-FA92-6D0BA81BE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9B56FB-211F-2B31-CDE8-F6E753085B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Skalerer</a:t>
            </a:r>
            <a:r>
              <a:rPr lang="en-US" dirty="0"/>
              <a:t> </a:t>
            </a:r>
            <a:r>
              <a:rPr lang="en-US" dirty="0" err="1"/>
              <a:t>bedre</a:t>
            </a:r>
            <a:r>
              <a:rPr lang="en-US" dirty="0"/>
              <a:t> for store </a:t>
            </a:r>
            <a:r>
              <a:rPr lang="en-US" dirty="0" err="1"/>
              <a:t>apper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Scoping(singleton, factory, scoped)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God </a:t>
            </a:r>
            <a:r>
              <a:rPr lang="en-US" dirty="0" err="1"/>
              <a:t>Ktor-integrasjon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Etablert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god </a:t>
            </a:r>
            <a:r>
              <a:rPr lang="en-US" dirty="0" err="1"/>
              <a:t>dokumentasjon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Støtter</a:t>
            </a:r>
            <a:r>
              <a:rPr lang="en-US" dirty="0"/>
              <a:t> JSR-330 (Jakarta Inject)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1B200F-583C-D6AF-8988-417F245845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 err="1"/>
              <a:t>Fordeler</a:t>
            </a:r>
            <a:r>
              <a:rPr lang="en-US" b="1" dirty="0"/>
              <a:t> </a:t>
            </a:r>
            <a:r>
              <a:rPr lang="en-US" dirty="0"/>
              <a:t>✅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D89ECD-6715-A676-68C1-69D71C959F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 err="1"/>
              <a:t>Ulemper</a:t>
            </a:r>
            <a:r>
              <a:rPr lang="en-US" b="1" dirty="0"/>
              <a:t> </a:t>
            </a:r>
            <a:r>
              <a:rPr lang="en-US" dirty="0"/>
              <a:t>❌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B9CA76-4D92-AAD3-A1BA-96FB451974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Runtime-</a:t>
            </a:r>
            <a:r>
              <a:rPr lang="en-US" strike="sngStrike" dirty="0" err="1"/>
              <a:t>feil</a:t>
            </a:r>
            <a:r>
              <a:rPr lang="en-US" strike="sngStrike" dirty="0"/>
              <a:t> </a:t>
            </a:r>
            <a:r>
              <a:rPr lang="en-US" strike="sngStrike" dirty="0" err="1"/>
              <a:t>ved</a:t>
            </a:r>
            <a:r>
              <a:rPr lang="en-US" strike="sngStrike" dirty="0"/>
              <a:t> mangler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Ny DSL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lære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Kan </a:t>
            </a:r>
            <a:r>
              <a:rPr lang="en-US" dirty="0" err="1"/>
              <a:t>være</a:t>
            </a:r>
            <a:r>
              <a:rPr lang="en-US" dirty="0"/>
              <a:t> </a:t>
            </a:r>
            <a:r>
              <a:rPr lang="en-US" dirty="0" err="1"/>
              <a:t>litt</a:t>
            </a:r>
            <a:r>
              <a:rPr lang="en-US" dirty="0"/>
              <a:t> </a:t>
            </a:r>
            <a:r>
              <a:rPr lang="en-US" dirty="0" err="1"/>
              <a:t>implisitt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Kan </a:t>
            </a:r>
            <a:r>
              <a:rPr lang="en-US" dirty="0" err="1"/>
              <a:t>bli</a:t>
            </a:r>
            <a:r>
              <a:rPr lang="en-US" dirty="0"/>
              <a:t> </a:t>
            </a:r>
            <a:r>
              <a:rPr lang="en-US" dirty="0" err="1"/>
              <a:t>kaotisk</a:t>
            </a:r>
            <a:r>
              <a:rPr lang="en-US" dirty="0"/>
              <a:t> </a:t>
            </a:r>
            <a:r>
              <a:rPr lang="en-US" dirty="0" err="1"/>
              <a:t>hvis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koin</a:t>
            </a:r>
            <a:r>
              <a:rPr lang="en-US" dirty="0"/>
              <a:t> module </a:t>
            </a:r>
            <a:r>
              <a:rPr lang="en-US" dirty="0" err="1"/>
              <a:t>spredt</a:t>
            </a:r>
            <a:r>
              <a:rPr lang="en-US" dirty="0"/>
              <a:t> </a:t>
            </a:r>
            <a:r>
              <a:rPr lang="en-US" dirty="0" err="1"/>
              <a:t>rundtomkring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kodebasen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61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build="p"/>
      <p:bldP spid="7" grpId="0" build="p"/>
      <p:bldP spid="8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BA60-D0A1-50F6-ADC5-E3F12A917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1104F46-534F-34BA-5FD7-1BBCCE1BC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Når </a:t>
            </a:r>
            <a:r>
              <a:rPr lang="en-US" dirty="0" err="1"/>
              <a:t>bruke</a:t>
            </a:r>
            <a:r>
              <a:rPr lang="en-US" dirty="0"/>
              <a:t> </a:t>
            </a:r>
            <a:r>
              <a:rPr lang="en-US" dirty="0" err="1"/>
              <a:t>hva</a:t>
            </a:r>
            <a:r>
              <a:rPr lang="en-US" dirty="0"/>
              <a:t>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B2401B-E9DE-5549-93DC-4134005DAA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med Manuell DI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Ktor</a:t>
            </a:r>
            <a:r>
              <a:rPr lang="en-US" dirty="0"/>
              <a:t> DI, </a:t>
            </a:r>
            <a:r>
              <a:rPr lang="en-US" dirty="0" err="1"/>
              <a:t>og</a:t>
            </a:r>
            <a:r>
              <a:rPr lang="en-US" dirty="0"/>
              <a:t> for </a:t>
            </a:r>
            <a:r>
              <a:rPr lang="en-US" dirty="0" err="1"/>
              <a:t>enkle</a:t>
            </a:r>
            <a:r>
              <a:rPr lang="en-US" dirty="0"/>
              <a:t> </a:t>
            </a:r>
            <a:r>
              <a:rPr lang="en-US" dirty="0" err="1"/>
              <a:t>apper</a:t>
            </a:r>
            <a:endParaRPr lang="en-US" dirty="0"/>
          </a:p>
          <a:p>
            <a:pPr marL="596900" lvl="1" indent="-285750">
              <a:buFont typeface="Arial" panose="020B0604020202020204" pitchFamily="34" charset="0"/>
              <a:buChar char="•"/>
            </a:pPr>
            <a:r>
              <a:rPr lang="en-US" b="1" dirty="0"/>
              <a:t>Best guesstimation: </a:t>
            </a:r>
            <a:r>
              <a:rPr lang="en-US" dirty="0" err="1"/>
              <a:t>smertepunktet</a:t>
            </a:r>
            <a:r>
              <a:rPr lang="en-US" dirty="0"/>
              <a:t> er </a:t>
            </a:r>
            <a:r>
              <a:rPr lang="en-US" dirty="0" err="1"/>
              <a:t>rundt</a:t>
            </a:r>
            <a:r>
              <a:rPr lang="en-US" dirty="0"/>
              <a:t> 15-20 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Koin for </a:t>
            </a:r>
            <a:r>
              <a:rPr lang="en-US" dirty="0" err="1"/>
              <a:t>større</a:t>
            </a:r>
            <a:r>
              <a:rPr lang="en-US" dirty="0"/>
              <a:t> </a:t>
            </a:r>
            <a:r>
              <a:rPr lang="en-US" dirty="0" err="1"/>
              <a:t>apper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59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9D07A-E8A5-FD4A-45D4-6EC90050E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Andre </a:t>
            </a:r>
            <a:r>
              <a:rPr lang="en-US" dirty="0" err="1"/>
              <a:t>alternativer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11E76-AA70-5E0A-AFE9-F26F396973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Kodein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Dagger/Hilt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Spring DI </a:t>
            </a:r>
            <a:r>
              <a:rPr lang="en-US" dirty="0" err="1"/>
              <a:t>hvis</a:t>
            </a:r>
            <a:r>
              <a:rPr lang="en-US" dirty="0"/>
              <a:t> du </a:t>
            </a:r>
            <a:r>
              <a:rPr lang="en-US" dirty="0" err="1"/>
              <a:t>bruker</a:t>
            </a:r>
            <a:r>
              <a:rPr lang="en-US" dirty="0"/>
              <a:t> Spring</a:t>
            </a:r>
          </a:p>
        </p:txBody>
      </p:sp>
    </p:spTree>
    <p:extLst>
      <p:ext uri="{BB962C8B-B14F-4D97-AF65-F5344CB8AC3E}">
        <p14:creationId xmlns:p14="http://schemas.microsoft.com/office/powerpoint/2010/main" val="78779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6C29633-2AEE-9B13-4A7E-9AD8F613C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Proggetid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1041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3B44DF-7CD6-1BBF-7C3C-9F09697D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Oppgaver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398C3F-7643-F77A-913B-7EBCB40B1F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 err="1"/>
              <a:t>createTestApp</a:t>
            </a:r>
            <a:r>
              <a:rPr lang="en-US" dirty="0"/>
              <a:t>() – </a:t>
            </a:r>
            <a:r>
              <a:rPr lang="en-US" dirty="0" err="1"/>
              <a:t>manuell</a:t>
            </a:r>
            <a:r>
              <a:rPr lang="en-US" dirty="0"/>
              <a:t>, fakes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Ordrevalidering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createProductionApp</a:t>
            </a:r>
            <a:r>
              <a:rPr lang="en-US" dirty="0"/>
              <a:t>() – </a:t>
            </a:r>
            <a:r>
              <a:rPr lang="en-US" dirty="0" err="1"/>
              <a:t>manuell</a:t>
            </a:r>
            <a:r>
              <a:rPr lang="en-US" dirty="0"/>
              <a:t>, database++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Ktor</a:t>
            </a:r>
            <a:r>
              <a:rPr lang="en-US" dirty="0"/>
              <a:t> DI setup – provide/resolve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RoutingKtorDi</a:t>
            </a:r>
            <a:r>
              <a:rPr lang="en-US" dirty="0"/>
              <a:t> – by </a:t>
            </a:r>
            <a:r>
              <a:rPr lang="en-US" dirty="0" err="1"/>
              <a:t>depenendecies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dependencies.resolve</a:t>
            </a:r>
            <a:r>
              <a:rPr lang="en-US" dirty="0"/>
              <a:t>&lt;??&gt;()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Koin modules – </a:t>
            </a:r>
            <a:r>
              <a:rPr lang="en-US" dirty="0" err="1"/>
              <a:t>registrer</a:t>
            </a:r>
            <a:r>
              <a:rPr lang="en-US" dirty="0"/>
              <a:t> med DSL(single/get)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Koin modules – ta I bruk via by inject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D55F2D-E12D-E144-5E83-F9A92B923DD8}"/>
              </a:ext>
            </a:extLst>
          </p:cNvPr>
          <p:cNvSpPr txBox="1"/>
          <p:nvPr/>
        </p:nvSpPr>
        <p:spPr>
          <a:xfrm>
            <a:off x="5070078" y="5525852"/>
            <a:ext cx="2051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Tester </a:t>
            </a:r>
            <a:r>
              <a:rPr lang="en-US" dirty="0" err="1"/>
              <a:t>i</a:t>
            </a:r>
            <a:r>
              <a:rPr lang="en-US" dirty="0"/>
              <a:t> integration/</a:t>
            </a:r>
          </a:p>
        </p:txBody>
      </p:sp>
    </p:spTree>
    <p:extLst>
      <p:ext uri="{BB962C8B-B14F-4D97-AF65-F5344CB8AC3E}">
        <p14:creationId xmlns:p14="http://schemas.microsoft.com/office/powerpoint/2010/main" val="30983033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A7D77B-64EB-DFD3-60DB-6B0171119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Avslutningsvis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4110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601B36-EBC5-9203-BB23-FC698397A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Oppsummering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29DA0-937D-4184-51FC-146F7EC9C3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Livet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være</a:t>
            </a:r>
            <a:r>
              <a:rPr lang="en-US" dirty="0"/>
              <a:t> </a:t>
            </a:r>
            <a:r>
              <a:rPr lang="en-US" dirty="0" err="1"/>
              <a:t>ganske</a:t>
            </a:r>
            <a:r>
              <a:rPr lang="en-US" dirty="0"/>
              <a:t> sweet </a:t>
            </a:r>
            <a:r>
              <a:rPr lang="en-US" dirty="0" err="1"/>
              <a:t>utenfor</a:t>
            </a:r>
            <a:r>
              <a:rPr lang="en-US" dirty="0"/>
              <a:t> Spring Boot</a:t>
            </a:r>
          </a:p>
          <a:p>
            <a:pPr marL="596900" lvl="1" indent="-285750">
              <a:buFont typeface="Arial" panose="020B0604020202020204" pitchFamily="34" charset="0"/>
              <a:buChar char="•"/>
            </a:pPr>
            <a:r>
              <a:rPr lang="en-US" dirty="0"/>
              <a:t>Selv om Spring Boot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være</a:t>
            </a:r>
            <a:r>
              <a:rPr lang="en-US" dirty="0"/>
              <a:t> </a:t>
            </a:r>
            <a:r>
              <a:rPr lang="en-US" dirty="0" err="1"/>
              <a:t>helt</a:t>
            </a:r>
            <a:r>
              <a:rPr lang="en-US" dirty="0"/>
              <a:t> </a:t>
            </a:r>
            <a:r>
              <a:rPr lang="en-US" dirty="0" err="1"/>
              <a:t>riktig</a:t>
            </a:r>
            <a:r>
              <a:rPr lang="en-US" dirty="0"/>
              <a:t> for </a:t>
            </a:r>
            <a:r>
              <a:rPr lang="en-US" dirty="0" err="1"/>
              <a:t>ditt</a:t>
            </a:r>
            <a:r>
              <a:rPr lang="en-US" dirty="0"/>
              <a:t>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Exposed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brukes</a:t>
            </a:r>
            <a:r>
              <a:rPr lang="en-US" dirty="0"/>
              <a:t> med Spring Boot</a:t>
            </a:r>
          </a:p>
          <a:p>
            <a:pPr marL="59690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Nylig</a:t>
            </a:r>
            <a:r>
              <a:rPr lang="en-US" dirty="0"/>
              <a:t> </a:t>
            </a:r>
            <a:r>
              <a:rPr lang="en-US" dirty="0" err="1"/>
              <a:t>versjon</a:t>
            </a:r>
            <a:r>
              <a:rPr lang="en-US" dirty="0"/>
              <a:t> 1.0.0, </a:t>
            </a:r>
            <a:r>
              <a:rPr lang="en-US" dirty="0" err="1"/>
              <a:t>så</a:t>
            </a:r>
            <a:r>
              <a:rPr lang="en-US" dirty="0"/>
              <a:t> tut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kjør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prod!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Ktor</a:t>
            </a:r>
            <a:r>
              <a:rPr lang="en-US" dirty="0"/>
              <a:t> + </a:t>
            </a:r>
            <a:r>
              <a:rPr lang="en-US" dirty="0" err="1"/>
              <a:t>manuell</a:t>
            </a:r>
            <a:r>
              <a:rPr lang="en-US" dirty="0"/>
              <a:t> DI tar deg </a:t>
            </a:r>
            <a:r>
              <a:rPr lang="en-US" dirty="0" err="1"/>
              <a:t>langt</a:t>
            </a:r>
            <a:endParaRPr lang="en-US" dirty="0"/>
          </a:p>
          <a:p>
            <a:pPr marL="596900" lvl="1" indent="-285750">
              <a:buFont typeface="Arial" panose="020B0604020202020204" pitchFamily="34" charset="0"/>
              <a:buChar char="•"/>
            </a:pPr>
            <a:r>
              <a:rPr lang="en-US" dirty="0"/>
              <a:t>Kan </a:t>
            </a:r>
            <a:r>
              <a:rPr lang="en-US" dirty="0" err="1"/>
              <a:t>migrere</a:t>
            </a:r>
            <a:r>
              <a:rPr lang="en-US" dirty="0"/>
              <a:t> </a:t>
            </a:r>
            <a:r>
              <a:rPr lang="en-US" dirty="0" err="1"/>
              <a:t>gradvis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Koin</a:t>
            </a:r>
          </a:p>
        </p:txBody>
      </p:sp>
    </p:spTree>
    <p:extLst>
      <p:ext uri="{BB962C8B-B14F-4D97-AF65-F5344CB8AC3E}">
        <p14:creationId xmlns:p14="http://schemas.microsoft.com/office/powerpoint/2010/main" val="398575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esentasjon (master)">
  <a:themeElements>
    <a:clrScheme name="bekk-2023-fargepalett">
      <a:dk1>
        <a:srgbClr val="1F1F1F"/>
      </a:dk1>
      <a:lt1>
        <a:srgbClr val="FFFFFF"/>
      </a:lt1>
      <a:dk2>
        <a:srgbClr val="1F1F1F"/>
      </a:dk2>
      <a:lt2>
        <a:srgbClr val="0141FE"/>
      </a:lt2>
      <a:accent1>
        <a:srgbClr val="D3FF26"/>
      </a:accent1>
      <a:accent2>
        <a:srgbClr val="1F1F1F"/>
      </a:accent2>
      <a:accent3>
        <a:srgbClr val="CBB29C"/>
      </a:accent3>
      <a:accent4>
        <a:srgbClr val="909DA9"/>
      </a:accent4>
      <a:accent5>
        <a:srgbClr val="AEB7AB"/>
      </a:accent5>
      <a:accent6>
        <a:srgbClr val="CAC2B8"/>
      </a:accent6>
      <a:hlink>
        <a:srgbClr val="1F1F1F"/>
      </a:hlink>
      <a:folHlink>
        <a:srgbClr val="1F1F1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ot="0" spcFirstLastPara="0" vertOverflow="overflow" horzOverflow="overflow" vert="horz" wrap="square" lIns="180000" tIns="216000" rIns="180000" bIns="180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800"/>
          </a:spcBef>
          <a:spcAft>
            <a:spcPts val="800"/>
          </a:spcAft>
          <a:defRPr sz="1600" dirty="0" smtClean="0">
            <a:solidFill>
              <a:schemeClr val="tx1"/>
            </a:solidFill>
            <a:latin typeface="GT America Lt" pitchFamily="2" charset="77"/>
            <a:ea typeface="GT America Lt" pitchFamily="2" charset="77"/>
            <a:cs typeface="DIN OT Light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72000" tIns="72000" rIns="72000" bIns="72000" rtlCol="0">
        <a:spAutoFit/>
      </a:bodyPr>
      <a:lstStyle>
        <a:defPPr algn="l">
          <a:spcBef>
            <a:spcPts val="800"/>
          </a:spcBef>
          <a:spcAft>
            <a:spcPts val="800"/>
          </a:spcAft>
          <a:defRPr sz="1600" dirty="0" smtClean="0">
            <a:latin typeface="GT America Lt" pitchFamily="2" charset="77"/>
            <a:ea typeface="GT America L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l-ppt-bekk-2023.potx" id="{0866B4EE-BD1A-F441-9F29-CAEB617BB969}" vid="{7E58F3A5-010B-5C4E-8E78-77760C646587}"/>
    </a:ext>
  </a:extLst>
</a:theme>
</file>

<file path=ppt/theme/theme2.xml><?xml version="1.0" encoding="utf-8"?>
<a:theme xmlns:a="http://schemas.openxmlformats.org/drawingml/2006/main" name="Mindre tekststørrelse / rapport / tilbud">
  <a:themeElements>
    <a:clrScheme name="bekk-2023-fargepalett">
      <a:dk1>
        <a:srgbClr val="1F1F1F"/>
      </a:dk1>
      <a:lt1>
        <a:srgbClr val="FFFFFF"/>
      </a:lt1>
      <a:dk2>
        <a:srgbClr val="1F1F1F"/>
      </a:dk2>
      <a:lt2>
        <a:srgbClr val="0141FE"/>
      </a:lt2>
      <a:accent1>
        <a:srgbClr val="C2E835"/>
      </a:accent1>
      <a:accent2>
        <a:srgbClr val="1F1F1F"/>
      </a:accent2>
      <a:accent3>
        <a:srgbClr val="CBB29C"/>
      </a:accent3>
      <a:accent4>
        <a:srgbClr val="909DA9"/>
      </a:accent4>
      <a:accent5>
        <a:srgbClr val="AEB7AB"/>
      </a:accent5>
      <a:accent6>
        <a:srgbClr val="CAC2B8"/>
      </a:accent6>
      <a:hlink>
        <a:srgbClr val="1F1F1F"/>
      </a:hlink>
      <a:folHlink>
        <a:srgbClr val="1F1F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tIns="90000" rtlCol="0" anchor="t"/>
      <a:lstStyle>
        <a:defPPr algn="l">
          <a:defRPr sz="1600" dirty="0" smtClean="0">
            <a:solidFill>
              <a:schemeClr val="tx1"/>
            </a:solidFill>
            <a:latin typeface="GT America Lt" pitchFamily="2" charset="77"/>
            <a:ea typeface="GT America Lt" pitchFamily="2" charset="7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spcBef>
            <a:spcPts val="800"/>
          </a:spcBef>
          <a:spcAft>
            <a:spcPts val="800"/>
          </a:spcAft>
          <a:defRPr sz="1600" dirty="0" smtClean="0">
            <a:latin typeface="GT America Lt" pitchFamily="2" charset="77"/>
            <a:ea typeface="GT America L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l-ppt-bekk-2023.potx" id="{0866B4EE-BD1A-F441-9F29-CAEB617BB969}" vid="{42E7F8F7-2252-F142-88FA-81680DB0014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Presentasjon (master)</Template>
  <TotalTime>2995</TotalTime>
  <Words>1396</Words>
  <Application>Microsoft Macintosh PowerPoint</Application>
  <PresentationFormat>Widescreen</PresentationFormat>
  <Paragraphs>248</Paragraphs>
  <Slides>43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GT America Exp Md</vt:lpstr>
      <vt:lpstr>GT America Lt</vt:lpstr>
      <vt:lpstr>GT America Rg</vt:lpstr>
      <vt:lpstr>Presentasjon (master)</vt:lpstr>
      <vt:lpstr>Mindre tekststørrelse / rapport / tilbud</vt:lpstr>
      <vt:lpstr>Ktor, Exposed og DI/koin</vt:lpstr>
      <vt:lpstr>Dagens tema</vt:lpstr>
      <vt:lpstr>PowerPoint Presentation</vt:lpstr>
      <vt:lpstr>Del 1: Ktor</vt:lpstr>
      <vt:lpstr>Hva er Ktor?</vt:lpstr>
      <vt:lpstr>Minimal Ktor-app</vt:lpstr>
      <vt:lpstr>Routing og requests</vt:lpstr>
      <vt:lpstr>Spring Boot vs Ktor</vt:lpstr>
      <vt:lpstr>Testing i ktor</vt:lpstr>
      <vt:lpstr>Demotid</vt:lpstr>
      <vt:lpstr>Proggetid</vt:lpstr>
      <vt:lpstr>Samme domene som de to forrige møtene</vt:lpstr>
      <vt:lpstr>Oppgaver</vt:lpstr>
      <vt:lpstr>Exposed</vt:lpstr>
      <vt:lpstr>Hva er Exposed?</vt:lpstr>
      <vt:lpstr>DSL vs DAO</vt:lpstr>
      <vt:lpstr>Selects</vt:lpstr>
      <vt:lpstr>Insert, update, delete</vt:lpstr>
      <vt:lpstr>PowerPoint Presentation</vt:lpstr>
      <vt:lpstr>For enkel databasemigrering</vt:lpstr>
      <vt:lpstr>Pause</vt:lpstr>
      <vt:lpstr>Proggetid</vt:lpstr>
      <vt:lpstr>Oppgaver</vt:lpstr>
      <vt:lpstr>Del 3: Manuell DI vs Koin</vt:lpstr>
      <vt:lpstr>Oppfrisker - hvorfor DI?</vt:lpstr>
      <vt:lpstr>PowerPoint Presentation</vt:lpstr>
      <vt:lpstr>PowerPoint Presentation</vt:lpstr>
      <vt:lpstr>PowerPoint Presentation</vt:lpstr>
      <vt:lpstr>PowerPoint Presentation</vt:lpstr>
      <vt:lpstr>I bruk</vt:lpstr>
      <vt:lpstr>Manuell DI</vt:lpstr>
      <vt:lpstr>Ktor DI</vt:lpstr>
      <vt:lpstr>PowerPoint Presentation</vt:lpstr>
      <vt:lpstr>Ktor DI</vt:lpstr>
      <vt:lpstr>Koin</vt:lpstr>
      <vt:lpstr>PowerPoint Presentation</vt:lpstr>
      <vt:lpstr>Koin</vt:lpstr>
      <vt:lpstr>Når bruke hva?</vt:lpstr>
      <vt:lpstr>Andre alternativer</vt:lpstr>
      <vt:lpstr>Proggetid</vt:lpstr>
      <vt:lpstr>Oppgaver</vt:lpstr>
      <vt:lpstr>Avslutningsvis</vt:lpstr>
      <vt:lpstr>Oppsummering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Thomas Stenberg Oddsund</dc:creator>
  <cp:keywords/>
  <dc:description/>
  <cp:lastModifiedBy>Thomas Stenberg Oddsund</cp:lastModifiedBy>
  <cp:revision>6</cp:revision>
  <dcterms:created xsi:type="dcterms:W3CDTF">2026-01-24T22:44:58Z</dcterms:created>
  <dcterms:modified xsi:type="dcterms:W3CDTF">2026-01-27T00:40:09Z</dcterms:modified>
  <cp:category/>
</cp:coreProperties>
</file>