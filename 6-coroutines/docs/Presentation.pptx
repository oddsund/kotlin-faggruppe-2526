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3" r:id="rId1"/>
    <p:sldMasterId id="2147483861" r:id="rId2"/>
  </p:sldMasterIdLst>
  <p:notesMasterIdLst>
    <p:notesMasterId r:id="rId36"/>
  </p:notesMasterIdLst>
  <p:sldIdLst>
    <p:sldId id="752" r:id="rId3"/>
    <p:sldId id="753" r:id="rId4"/>
    <p:sldId id="754" r:id="rId5"/>
    <p:sldId id="755" r:id="rId6"/>
    <p:sldId id="756" r:id="rId7"/>
    <p:sldId id="757" r:id="rId8"/>
    <p:sldId id="758" r:id="rId9"/>
    <p:sldId id="785" r:id="rId10"/>
    <p:sldId id="760" r:id="rId11"/>
    <p:sldId id="761" r:id="rId12"/>
    <p:sldId id="789" r:id="rId13"/>
    <p:sldId id="763" r:id="rId14"/>
    <p:sldId id="764" r:id="rId15"/>
    <p:sldId id="765" r:id="rId16"/>
    <p:sldId id="766" r:id="rId17"/>
    <p:sldId id="767" r:id="rId18"/>
    <p:sldId id="790" r:id="rId19"/>
    <p:sldId id="768" r:id="rId20"/>
    <p:sldId id="769" r:id="rId21"/>
    <p:sldId id="770" r:id="rId22"/>
    <p:sldId id="771" r:id="rId23"/>
    <p:sldId id="772" r:id="rId24"/>
    <p:sldId id="773" r:id="rId25"/>
    <p:sldId id="774" r:id="rId26"/>
    <p:sldId id="775" r:id="rId27"/>
    <p:sldId id="776" r:id="rId28"/>
    <p:sldId id="777" r:id="rId29"/>
    <p:sldId id="778" r:id="rId30"/>
    <p:sldId id="779" r:id="rId31"/>
    <p:sldId id="780" r:id="rId32"/>
    <p:sldId id="781" r:id="rId33"/>
    <p:sldId id="782" r:id="rId34"/>
    <p:sldId id="783" r:id="rId35"/>
  </p:sldIdLst>
  <p:sldSz cx="12192000" cy="6858000"/>
  <p:notesSz cx="6858000" cy="9144000"/>
  <p:defaultTextStyle>
    <a:defPPr>
      <a:defRPr lang="en-US"/>
    </a:defPPr>
    <a:lvl1pPr marL="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05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6A00"/>
    <a:srgbClr val="D4FF27"/>
    <a:srgbClr val="ECECEC"/>
    <a:srgbClr val="FFFFFF"/>
    <a:srgbClr val="B8D83E"/>
    <a:srgbClr val="B4D147"/>
    <a:srgbClr val="5D7700"/>
    <a:srgbClr val="365303"/>
    <a:srgbClr val="FF4324"/>
    <a:srgbClr val="7500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90"/>
    <p:restoredTop sz="83333"/>
  </p:normalViewPr>
  <p:slideViewPr>
    <p:cSldViewPr snapToGrid="0" snapToObjects="1" showGuides="1">
      <p:cViewPr>
        <p:scale>
          <a:sx n="124" d="100"/>
          <a:sy n="124" d="100"/>
        </p:scale>
        <p:origin x="144" y="-576"/>
      </p:cViewPr>
      <p:guideLst>
        <p:guide pos="3205"/>
        <p:guide orient="horz" pos="2160"/>
      </p:guideLst>
    </p:cSldViewPr>
  </p:slideViewPr>
  <p:outlineViewPr>
    <p:cViewPr>
      <p:scale>
        <a:sx n="33" d="100"/>
        <a:sy n="33" d="100"/>
      </p:scale>
      <p:origin x="0" y="-1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T America Rg" pitchFamily="2" charset="77"/>
              </a:defRPr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T America Rg" pitchFamily="2" charset="77"/>
              </a:defRPr>
            </a:lvl1pPr>
          </a:lstStyle>
          <a:p>
            <a:fld id="{F5CCFF00-D096-6448-99A9-1B5E392E5640}" type="datetimeFigureOut">
              <a:rPr lang="nb-NO" smtClean="0"/>
              <a:pPr/>
              <a:t>26.02.2026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b-N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T America Rg" pitchFamily="2" charset="77"/>
              </a:defRPr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T America Rg" pitchFamily="2" charset="77"/>
              </a:defRPr>
            </a:lvl1pPr>
          </a:lstStyle>
          <a:p>
            <a:fld id="{1246E90B-2657-364C-8B68-BE49C2816B41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37668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b="0" i="0" kern="1200">
        <a:solidFill>
          <a:schemeClr val="tx1"/>
        </a:solidFill>
        <a:latin typeface="GT America Rg" pitchFamily="2" charset="77"/>
        <a:ea typeface="+mn-ea"/>
        <a:cs typeface="+mn-cs"/>
      </a:defRPr>
    </a:lvl1pPr>
    <a:lvl2pPr marL="457178" algn="l" defTabSz="914354" rtl="0" eaLnBrk="1" latinLnBrk="0" hangingPunct="1">
      <a:defRPr sz="1200" b="0" i="0" kern="1200">
        <a:solidFill>
          <a:schemeClr val="tx1"/>
        </a:solidFill>
        <a:latin typeface="GT America Rg" pitchFamily="2" charset="77"/>
        <a:ea typeface="+mn-ea"/>
        <a:cs typeface="+mn-cs"/>
      </a:defRPr>
    </a:lvl2pPr>
    <a:lvl3pPr marL="914354" algn="l" defTabSz="914354" rtl="0" eaLnBrk="1" latinLnBrk="0" hangingPunct="1">
      <a:defRPr sz="1200" b="0" i="0" kern="1200">
        <a:solidFill>
          <a:schemeClr val="tx1"/>
        </a:solidFill>
        <a:latin typeface="GT America Rg" pitchFamily="2" charset="77"/>
        <a:ea typeface="+mn-ea"/>
        <a:cs typeface="+mn-cs"/>
      </a:defRPr>
    </a:lvl3pPr>
    <a:lvl4pPr marL="1371532" algn="l" defTabSz="914354" rtl="0" eaLnBrk="1" latinLnBrk="0" hangingPunct="1">
      <a:defRPr sz="1200" b="0" i="0" kern="1200">
        <a:solidFill>
          <a:schemeClr val="tx1"/>
        </a:solidFill>
        <a:latin typeface="GT America Rg" pitchFamily="2" charset="77"/>
        <a:ea typeface="+mn-ea"/>
        <a:cs typeface="+mn-cs"/>
      </a:defRPr>
    </a:lvl4pPr>
    <a:lvl5pPr marL="1828709" algn="l" defTabSz="914354" rtl="0" eaLnBrk="1" latinLnBrk="0" hangingPunct="1">
      <a:defRPr sz="1200" b="0" i="0" kern="1200">
        <a:solidFill>
          <a:schemeClr val="tx1"/>
        </a:solidFill>
        <a:latin typeface="GT America Rg" pitchFamily="2" charset="77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1200" dirty="0"/>
              <a:t>Gå gjennom </a:t>
            </a:r>
            <a:r>
              <a:rPr lang="nb-NO" sz="1400" b="1" dirty="0"/>
              <a:t>tidsplanen</a:t>
            </a:r>
            <a:r>
              <a:rPr lang="nb-NO" sz="1200" dirty="0"/>
              <a:t> kort. Fremhev at hver del er selvstendig — deltakerne kan hoppe inn der vi er.</a:t>
            </a:r>
          </a:p>
          <a:p>
            <a:r>
              <a:rPr lang="nb-NO" sz="1200" dirty="0"/>
              <a:t>Valgfritt innhold for raske par: </a:t>
            </a:r>
            <a:r>
              <a:rPr lang="nb-NO" sz="1400" b="1" dirty="0"/>
              <a:t>Cancellation, Flow, runTest, MDC i Spring Boot</a:t>
            </a:r>
            <a:r>
              <a:rPr lang="nb-NO" sz="1200" dirty="0"/>
              <a:t>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1200" dirty="0"/>
              <a:t>Hver del er </a:t>
            </a:r>
            <a:r>
              <a:rPr lang="nb-NO" sz="1400" b="1" dirty="0"/>
              <a:t>selvstendig</a:t>
            </a:r>
            <a:r>
              <a:rPr lang="nb-NO" sz="1200" dirty="0"/>
              <a:t> — deltakerne kan hoppe inn der vi er uten å ha gjort forrige del.</a:t>
            </a:r>
          </a:p>
          <a:p>
            <a:r>
              <a:rPr lang="nb-NO" sz="1200" dirty="0"/>
              <a:t>Oppfordre til </a:t>
            </a:r>
            <a:r>
              <a:rPr lang="nb-NO" sz="1400" b="1" dirty="0"/>
              <a:t>parprogrammering</a:t>
            </a:r>
            <a:r>
              <a:rPr lang="nb-NO" sz="1200" dirty="0"/>
              <a:t> — man lærer bedre av å diskutere løsninger sammen.</a:t>
            </a:r>
          </a:p>
          <a:p>
            <a:r>
              <a:rPr lang="nb-NO" sz="1200" dirty="0"/>
              <a:t>Domenet er </a:t>
            </a:r>
            <a:r>
              <a:rPr lang="nb-NO" sz="1400" b="1" dirty="0"/>
              <a:t>reisesøk</a:t>
            </a:r>
            <a:r>
              <a:rPr lang="nb-NO" sz="1200" dirty="0"/>
              <a:t>: vi aggregerer resultater fra fly-, hotell- og leiebil-leverandører. Forhåpentligvis gjenkjennbart og enkelt å kjenne igjen.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1400" b="1" dirty="0"/>
              <a:t>Del 1</a:t>
            </a:r>
            <a:r>
              <a:rPr lang="nb-NO" sz="1200" dirty="0"/>
              <a:t> — motivasjon for coroutines.</a:t>
            </a:r>
          </a:p>
          <a:p>
            <a:r>
              <a:rPr lang="nb-NO" sz="1200" dirty="0"/>
              <a:t>Målet er å vise hvorfor vi trenger coroutines ved å starte med blokkerende kode og bygge opp til den parallelle løsningen.</a:t>
            </a:r>
          </a:p>
          <a:p>
            <a:r>
              <a:rPr lang="nb-NO" sz="1200" dirty="0"/>
              <a:t>Bruk </a:t>
            </a:r>
            <a:r>
              <a:rPr lang="nb-NO" sz="1400" b="1" dirty="0"/>
              <a:t>reisesøk-domenet</a:t>
            </a:r>
            <a:r>
              <a:rPr lang="nb-NO" sz="1200" dirty="0"/>
              <a:t> som gjennomgangseksempel: tre uavhengige API-kall (fly, hotell, leiebil).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1200" dirty="0"/>
              <a:t>Her viser vi utgangspunktet: </a:t>
            </a:r>
            <a:r>
              <a:rPr lang="nb-NO" sz="1400" b="1" dirty="0"/>
              <a:t>blokkerende kode</a:t>
            </a:r>
            <a:r>
              <a:rPr lang="nb-NO" sz="1200" dirty="0"/>
              <a:t> på én tråd.</a:t>
            </a:r>
          </a:p>
          <a:p>
            <a:r>
              <a:rPr lang="nb-NO" sz="1200" dirty="0"/>
              <a:t>Tre API-kall (fly, hotell, leiebil) kjører </a:t>
            </a:r>
            <a:r>
              <a:rPr lang="nb-NO" sz="1400" b="1" dirty="0"/>
              <a:t>sekvensielt</a:t>
            </a:r>
            <a:r>
              <a:rPr lang="nb-NO" sz="1200" dirty="0"/>
              <a:t>: 1s + 1s + 1s = 3 sekunder totalt.</a:t>
            </a:r>
          </a:p>
          <a:p>
            <a:r>
              <a:rPr lang="nb-NO" sz="1200" dirty="0"/>
              <a:t>Poenget: kallene er uavhengige, men vi venter unødvendig. Spør deltakerne — «hva ville dere gjort i Java?»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1200" dirty="0"/>
              <a:t>Java-løsningen: bruk </a:t>
            </a:r>
            <a:r>
              <a:rPr lang="nb-NO" sz="1400" b="1" dirty="0"/>
              <a:t>to tråder</a:t>
            </a:r>
            <a:r>
              <a:rPr lang="nb-NO" sz="1200" dirty="0"/>
              <a:t>. Nå tar det 2 sekunder i stedet for 3.</a:t>
            </a:r>
          </a:p>
          <a:p>
            <a:r>
              <a:rPr lang="nb-NO" sz="1200" dirty="0"/>
              <a:t>Men: </a:t>
            </a:r>
            <a:r>
              <a:rPr lang="nb-NO" sz="1400" b="1" dirty="0"/>
              <a:t>Thread.sleep()</a:t>
            </a:r>
            <a:r>
              <a:rPr lang="nb-NO" sz="1200" dirty="0"/>
              <a:t> blokkerer hele tråden — ingen annen kode kan kjøre mens den venter.</a:t>
            </a:r>
          </a:p>
          <a:p>
            <a:r>
              <a:rPr lang="nb-NO" sz="1200" dirty="0"/>
              <a:t>Problemet skalerer ikke: 1000 samtidige søk = 1000 tråder. OS-tråder er dyre ressurser.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1200" dirty="0"/>
              <a:t>Her er </a:t>
            </a:r>
            <a:r>
              <a:rPr lang="nb-NO" sz="1400" b="1" dirty="0"/>
              <a:t>coroutine-løsningen</a:t>
            </a:r>
            <a:r>
              <a:rPr lang="nb-NO" sz="1200" dirty="0"/>
              <a:t>: tre async-blokker som kjører parallelt.</a:t>
            </a:r>
          </a:p>
          <a:p>
            <a:r>
              <a:rPr lang="nb-NO" sz="1400" b="1" dirty="0"/>
              <a:t>delay()</a:t>
            </a:r>
            <a:r>
              <a:rPr lang="nb-NO" sz="1200" dirty="0"/>
              <a:t> suspenderer coroutinen og frigjør tråden — i motsetning til Thread.sleep() som blokkerer.</a:t>
            </a:r>
          </a:p>
          <a:p>
            <a:r>
              <a:rPr lang="nb-NO" sz="1200" dirty="0"/>
              <a:t>Total tid =  </a:t>
            </a:r>
            <a:r>
              <a:rPr lang="nb-NO" sz="1400" b="1" dirty="0"/>
              <a:t>lengste enkelt-kall</a:t>
            </a:r>
            <a:r>
              <a:rPr lang="nb-NO" sz="1200" dirty="0"/>
              <a:t>, ikke summen. Coroutines deler noen få tråder effektivt.</a:t>
            </a:r>
          </a:p>
          <a:p>
            <a:r>
              <a:rPr lang="nb-NO" sz="1200" dirty="0"/>
              <a:t>Mønsteret: </a:t>
            </a:r>
            <a:r>
              <a:rPr lang="nb-NO" sz="1400" b="1" dirty="0"/>
              <a:t>async</a:t>
            </a:r>
            <a:r>
              <a:rPr lang="nb-NO" sz="1200" dirty="0"/>
              <a:t> starter, </a:t>
            </a:r>
            <a:r>
              <a:rPr lang="nb-NO" sz="1400" b="1" dirty="0"/>
              <a:t>await</a:t>
            </a:r>
            <a:r>
              <a:rPr lang="nb-NO" sz="1200" dirty="0"/>
              <a:t> henter resultat.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1200" dirty="0"/>
              <a:t>Fem </a:t>
            </a:r>
            <a:r>
              <a:rPr lang="nb-NO" sz="1400" b="1" dirty="0"/>
              <a:t>byggeklosser</a:t>
            </a:r>
            <a:r>
              <a:rPr lang="nb-NO" sz="1200" dirty="0"/>
              <a:t> som danner grunnlaget for resten av workshopen.</a:t>
            </a:r>
          </a:p>
          <a:p>
            <a:r>
              <a:rPr lang="nb-NO" sz="1400" b="1" dirty="0"/>
              <a:t>suspend</a:t>
            </a:r>
            <a:r>
              <a:rPr lang="nb-NO" sz="1200" dirty="0"/>
              <a:t>: markerer funksjoner som kan pause og gjenopptas. Kompilatoren omskriver suspend-funksjoner til en state machine. Dere trenger ikke forstå detaljene, bare vite at det er noe kompilatoren gjør for dere.</a:t>
            </a:r>
          </a:p>
          <a:p>
            <a:r>
              <a:rPr lang="nb-NO" sz="1400" b="1" dirty="0"/>
              <a:t>CoroutineScope</a:t>
            </a:r>
            <a:r>
              <a:rPr lang="nb-NO" sz="1200" dirty="0"/>
              <a:t>: definerer levetiden. Når scope kanselleres, kanselleres alle children. Dere har allerede sett dette i aksjon med coroutineScope { } på forrige slide.</a:t>
            </a:r>
          </a:p>
          <a:p>
            <a:r>
              <a:rPr lang="nb-NO" sz="1400" b="1" dirty="0"/>
              <a:t>Dispatcher</a:t>
            </a:r>
            <a:r>
              <a:rPr lang="nb-NO" sz="1200" dirty="0"/>
              <a:t>: bestemmer hvilken tråd/pool coroutinen kjører på. De tre viktigste: Default (CPU-intensivt), IO (nettverkskall, fillesing), Main (UI — ikke relevant for backend). Vi bruker IO i øvelsene.</a:t>
            </a:r>
          </a:p>
          <a:p>
            <a:r>
              <a:rPr lang="nb-NO" sz="1400" b="1" dirty="0"/>
              <a:t>Job</a:t>
            </a:r>
            <a:r>
              <a:rPr lang="nb-NO" sz="1200" dirty="0"/>
              <a:t>: et håndtak til coroutinen. Kan sjekke status (isActive, isCompleted), vente på (join) eller kansellere den (cancel). launch returnerer en Job, async returnerer Deferred som er en subtype av Job.</a:t>
            </a:r>
          </a:p>
          <a:p>
            <a:r>
              <a:rPr lang="nb-NO" sz="1400" b="1" dirty="0"/>
              <a:t>CoroutineContext</a:t>
            </a:r>
            <a:r>
              <a:rPr lang="nb-NO" sz="1200" dirty="0"/>
              <a:t>: en typet, uforanderlig map som bærer alle elementene (Job, Dispatcher, Name, MDC). Kombineres med +. Arves fra parent til children. Formelen: child context = parent context + builder-argumenter + ny child Job.</a:t>
            </a:r>
          </a:p>
          <a:p>
            <a:r>
              <a:rPr lang="nb-NO" sz="1200" dirty="0"/>
              <a:t>Disse fem begrepene går igjen gjennom hele workshopen. Når vi kommer til structured concurrency og feilhåndtering, er det dette som knytter alt sammen.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683268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1200" dirty="0"/>
              <a:t>Sammenlign </a:t>
            </a:r>
            <a:r>
              <a:rPr lang="nb-NO" sz="1400" b="1" dirty="0"/>
              <a:t>Java-tråder</a:t>
            </a:r>
            <a:r>
              <a:rPr lang="nb-NO" sz="1200" dirty="0"/>
              <a:t> vs </a:t>
            </a:r>
            <a:r>
              <a:rPr lang="nb-NO" sz="1400" b="1" dirty="0"/>
              <a:t>Kotlin Coroutines</a:t>
            </a:r>
            <a:r>
              <a:rPr lang="nb-NO" sz="1200" dirty="0"/>
              <a:t>.</a:t>
            </a:r>
          </a:p>
          <a:p>
            <a:r>
              <a:rPr lang="nb-NO" sz="1200" dirty="0"/>
              <a:t>Java: én OS-tråd per oppgave. Tråden er opptatt selv mens den venter. 1000 oppgaver = 1000 tråder — tungt for OS.</a:t>
            </a:r>
          </a:p>
          <a:p>
            <a:r>
              <a:rPr lang="nb-NO" sz="1200" dirty="0"/>
              <a:t>Coroutines: «lettvekts-tråder» med </a:t>
            </a:r>
            <a:r>
              <a:rPr lang="nb-NO" sz="1400" b="1" dirty="0"/>
              <a:t>suspension points</a:t>
            </a:r>
            <a:r>
              <a:rPr lang="nb-NO" sz="1200" dirty="0"/>
              <a:t> som frigjør tråden. Tusenvis av coroutines kan dele noen få tråder.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1400" b="1" dirty="0"/>
              <a:t>Del 2</a:t>
            </a:r>
            <a:r>
              <a:rPr lang="nb-NO" sz="1200" dirty="0"/>
              <a:t> — nå går vi inn i de konkrete byggeklossene.</a:t>
            </a:r>
          </a:p>
          <a:p>
            <a:r>
              <a:rPr lang="nb-NO" sz="1200" dirty="0"/>
              <a:t>Fokus på de tre viktigste builders:  </a:t>
            </a:r>
            <a:r>
              <a:rPr lang="nb-NO" sz="1400" b="1" dirty="0"/>
              <a:t>runBlocking</a:t>
            </a:r>
            <a:r>
              <a:rPr lang="nb-NO" sz="1200" dirty="0"/>
              <a:t>, </a:t>
            </a:r>
            <a:r>
              <a:rPr lang="nb-NO" sz="1400" b="1" dirty="0"/>
              <a:t>launch</a:t>
            </a:r>
            <a:r>
              <a:rPr lang="nb-NO" sz="1200" dirty="0"/>
              <a:t> og </a:t>
            </a:r>
            <a:r>
              <a:rPr lang="nb-NO" sz="1400" b="1" dirty="0"/>
              <a:t>async</a:t>
            </a:r>
            <a:r>
              <a:rPr lang="nb-NO" sz="1200" dirty="0"/>
              <a:t>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1400" b="1" dirty="0" err="1"/>
              <a:t>runBlocking</a:t>
            </a:r>
            <a:r>
              <a:rPr lang="nb-NO" sz="1200" dirty="0"/>
              <a:t>: bro mellom synkron og asynkron verden. Blokkerer tråden — bruk kun i main() eller tester.</a:t>
            </a:r>
          </a:p>
          <a:p>
            <a:r>
              <a:rPr lang="nb-NO" sz="1400" b="1" dirty="0"/>
              <a:t>launch</a:t>
            </a:r>
            <a:r>
              <a:rPr lang="nb-NO" sz="1200" dirty="0"/>
              <a:t>: «fire-and-forget». Returnerer Job — ingen tilgang til resultatet.</a:t>
            </a:r>
          </a:p>
          <a:p>
            <a:r>
              <a:rPr lang="nb-NO" sz="1400" b="1" dirty="0"/>
              <a:t>async</a:t>
            </a:r>
            <a:r>
              <a:rPr lang="nb-NO" sz="1200" dirty="0"/>
              <a:t>: returnerer Deferred&lt;T&gt; — resultatet hentes med .await(). Bruk denne når du trenger returverdien.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1200" dirty="0"/>
              <a:t>Dette er den viktigste innsikten i Del 2: </a:t>
            </a:r>
            <a:r>
              <a:rPr lang="nb-NO" sz="1400" b="1" dirty="0"/>
              <a:t>plasseringen av await()</a:t>
            </a:r>
            <a:r>
              <a:rPr lang="nb-NO" sz="1200" dirty="0"/>
              <a:t> avgjør om koden er sekvensiell eller parallell.</a:t>
            </a:r>
          </a:p>
          <a:p>
            <a:r>
              <a:rPr lang="nb-NO" sz="1400" b="1" dirty="0"/>
              <a:t>Sekvensiell</a:t>
            </a:r>
            <a:r>
              <a:rPr lang="nb-NO" sz="1200" dirty="0"/>
              <a:t>: async{}.await() rett etter hverandre — venter mellom hvert kall. Ingen gevinst!</a:t>
            </a:r>
          </a:p>
          <a:p>
            <a:r>
              <a:rPr lang="nb-NO" sz="1400" b="1" dirty="0"/>
              <a:t>Parallell</a:t>
            </a:r>
            <a:r>
              <a:rPr lang="nb-NO" sz="1200" dirty="0"/>
              <a:t>: start alle async først, deretter await alle til slutt. 3x raskere!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1400" b="1" dirty="0"/>
              <a:t>Del 3</a:t>
            </a:r>
            <a:r>
              <a:rPr lang="nb-NO" sz="1200" dirty="0"/>
              <a:t> — dette er kanskje det viktigste konseptet i Kotlin Coroutines.</a:t>
            </a:r>
          </a:p>
          <a:p>
            <a:r>
              <a:rPr lang="nb-NO" sz="1400" b="1" dirty="0"/>
              <a:t>Structured concurrency</a:t>
            </a:r>
            <a:r>
              <a:rPr lang="nb-NO" sz="1200" dirty="0"/>
              <a:t> sikrer at coroutines har en eier, automatisk kansellering og opprydding.</a:t>
            </a:r>
          </a:p>
          <a:p>
            <a:r>
              <a:rPr lang="nb-NO" sz="1200" dirty="0"/>
              <a:t>For Java-utviklere: tenk på det som try-with-resources for asynkron kode.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1400" b="1" dirty="0"/>
              <a:t>GlobalScope</a:t>
            </a:r>
            <a:r>
              <a:rPr lang="nb-NO" sz="1200" dirty="0"/>
              <a:t> er som å starte bakgrunnstråder uten referanser — ingen eier dem.</a:t>
            </a:r>
          </a:p>
          <a:p>
            <a:r>
              <a:rPr lang="nb-NO" sz="1200" dirty="0"/>
              <a:t>Ingen automatisk kansellering, ingen opprydding. Lekkasjer i produksjon.</a:t>
            </a:r>
          </a:p>
          <a:p>
            <a:r>
              <a:rPr lang="nb-NO" sz="1200" dirty="0"/>
              <a:t>Analogi: </a:t>
            </a:r>
            <a:r>
              <a:rPr lang="nb-NO" sz="1400" b="1" dirty="0"/>
              <a:t>GlobalScope</a:t>
            </a:r>
            <a:r>
              <a:rPr lang="nb-NO" sz="1200" dirty="0"/>
              <a:t> = foreldreløse tråder. </a:t>
            </a:r>
            <a:r>
              <a:rPr lang="nb-NO" sz="1400" b="1" dirty="0"/>
              <a:t>Structured concurrency</a:t>
            </a:r>
            <a:r>
              <a:rPr lang="nb-NO" sz="1200" dirty="0"/>
              <a:t> = foreldreprosess som rydder opp etter barna sine.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1400" b="1" dirty="0"/>
              <a:t>coroutineScope { }</a:t>
            </a:r>
            <a:r>
              <a:rPr lang="nb-NO" sz="1200" dirty="0"/>
              <a:t> — den viktigste scope-builderen.</a:t>
            </a:r>
          </a:p>
          <a:p>
            <a:r>
              <a:rPr lang="nb-NO" sz="1200" dirty="0"/>
              <a:t>Tre regler: </a:t>
            </a:r>
            <a:r>
              <a:rPr lang="nb-NO" sz="1400" b="1" dirty="0"/>
              <a:t>1)</a:t>
            </a:r>
            <a:r>
              <a:rPr lang="nb-NO" sz="1200" dirty="0"/>
              <a:t> Nye coroutines krever en CoroutineScope. </a:t>
            </a:r>
            <a:r>
              <a:rPr lang="nb-NO" sz="1400" b="1" dirty="0"/>
              <a:t>2)</a:t>
            </a:r>
            <a:r>
              <a:rPr lang="nb-NO" sz="1200" dirty="0"/>
              <a:t> Children arver context fra parent. </a:t>
            </a:r>
            <a:r>
              <a:rPr lang="nb-NO" sz="1400" b="1" dirty="0"/>
              <a:t>3)</a:t>
            </a:r>
            <a:r>
              <a:rPr lang="nb-NO" sz="1200" dirty="0"/>
              <a:t> Parent venter på alle children og kansellerer alle hvis én feiler.</a:t>
            </a:r>
          </a:p>
          <a:p>
            <a:r>
              <a:rPr lang="nb-NO" sz="1200" dirty="0"/>
              <a:t>Denne «alt-eller-ingenting»-semantikken er nøkkelen til robust feilhåndtering.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Coroutines </a:t>
            </a:r>
            <a:r>
              <a:rPr lang="en-US" dirty="0" err="1"/>
              <a:t>danner</a:t>
            </a:r>
            <a:r>
              <a:rPr lang="en-US" dirty="0"/>
              <a:t> et </a:t>
            </a:r>
            <a:r>
              <a:rPr lang="en-US" b="1" dirty="0" err="1"/>
              <a:t>tre</a:t>
            </a:r>
            <a:r>
              <a:rPr lang="en-US" dirty="0"/>
              <a:t> av parent-child. Det </a:t>
            </a:r>
            <a:r>
              <a:rPr lang="en-US" dirty="0" err="1"/>
              <a:t>gir</a:t>
            </a:r>
            <a:r>
              <a:rPr lang="en-US" dirty="0"/>
              <a:t> fire </a:t>
            </a:r>
            <a:r>
              <a:rPr lang="en-US" dirty="0" err="1"/>
              <a:t>garantier</a:t>
            </a:r>
            <a:r>
              <a:rPr lang="en-US" dirty="0"/>
              <a:t>:</a:t>
            </a:r>
          </a:p>
          <a:p>
            <a:r>
              <a:rPr lang="en-US" b="1" dirty="0"/>
              <a:t>Scope-binding:</a:t>
            </a:r>
            <a:r>
              <a:rPr lang="en-US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launch</a:t>
            </a:r>
            <a:r>
              <a:rPr lang="en-US" dirty="0"/>
              <a:t>/</a:t>
            </a:r>
            <a:r>
              <a:rPr lang="en-US" sz="1200" b="0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async</a:t>
            </a:r>
            <a:r>
              <a:rPr lang="en-US" dirty="0"/>
              <a:t> </a:t>
            </a:r>
            <a:r>
              <a:rPr lang="en-US" dirty="0" err="1"/>
              <a:t>krever</a:t>
            </a:r>
            <a:r>
              <a:rPr lang="en-US" dirty="0"/>
              <a:t> et </a:t>
            </a:r>
            <a:r>
              <a:rPr lang="en-US" sz="1200" b="0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CoroutineScope</a:t>
            </a:r>
            <a:r>
              <a:rPr lang="en-US" dirty="0"/>
              <a:t> — </a:t>
            </a:r>
            <a:r>
              <a:rPr lang="en-US" dirty="0" err="1"/>
              <a:t>tvinger</a:t>
            </a:r>
            <a:r>
              <a:rPr lang="en-US" dirty="0"/>
              <a:t> </a:t>
            </a:r>
            <a:r>
              <a:rPr lang="en-US" dirty="0" err="1"/>
              <a:t>dere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å</a:t>
            </a:r>
            <a:r>
              <a:rPr lang="en-US" dirty="0"/>
              <a:t> </a:t>
            </a:r>
            <a:r>
              <a:rPr lang="en-US" dirty="0" err="1"/>
              <a:t>tenke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b="1" dirty="0" err="1"/>
              <a:t>livssyklus</a:t>
            </a:r>
            <a:r>
              <a:rPr lang="en-US" dirty="0"/>
              <a:t>. </a:t>
            </a:r>
            <a:r>
              <a:rPr lang="en-US" dirty="0" err="1"/>
              <a:t>GlobalScope</a:t>
            </a:r>
            <a:r>
              <a:rPr lang="en-US" dirty="0"/>
              <a:t> er </a:t>
            </a:r>
            <a:r>
              <a:rPr lang="en-US" dirty="0" err="1"/>
              <a:t>bevisst</a:t>
            </a:r>
            <a:r>
              <a:rPr lang="en-US" dirty="0"/>
              <a:t> </a:t>
            </a:r>
            <a:r>
              <a:rPr lang="en-US" dirty="0" err="1"/>
              <a:t>gjort</a:t>
            </a:r>
            <a:r>
              <a:rPr lang="en-US" dirty="0"/>
              <a:t> </a:t>
            </a:r>
            <a:r>
              <a:rPr lang="en-US" dirty="0" err="1"/>
              <a:t>eksplisitt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stygt</a:t>
            </a:r>
            <a:r>
              <a:rPr lang="en-US" dirty="0"/>
              <a:t>.</a:t>
            </a:r>
          </a:p>
          <a:p>
            <a:r>
              <a:rPr lang="en-US" b="1" dirty="0"/>
              <a:t>Context-</a:t>
            </a:r>
            <a:r>
              <a:rPr lang="en-US" b="1" dirty="0" err="1"/>
              <a:t>arv</a:t>
            </a:r>
            <a:r>
              <a:rPr lang="en-US" b="1" dirty="0"/>
              <a:t>:</a:t>
            </a:r>
            <a:r>
              <a:rPr lang="en-US" dirty="0"/>
              <a:t> Child </a:t>
            </a:r>
            <a:r>
              <a:rPr lang="en-US" dirty="0" err="1"/>
              <a:t>arver</a:t>
            </a:r>
            <a:r>
              <a:rPr lang="en-US" dirty="0"/>
              <a:t> </a:t>
            </a:r>
            <a:r>
              <a:rPr lang="en-US" b="1" dirty="0"/>
              <a:t>alt</a:t>
            </a:r>
            <a:r>
              <a:rPr lang="en-US" dirty="0"/>
              <a:t> </a:t>
            </a:r>
            <a:r>
              <a:rPr lang="en-US" dirty="0" err="1"/>
              <a:t>fra</a:t>
            </a:r>
            <a:r>
              <a:rPr lang="en-US" dirty="0"/>
              <a:t> parent — dispatcher, name, MDC. </a:t>
            </a:r>
            <a:r>
              <a:rPr lang="en-US" dirty="0" err="1"/>
              <a:t>Overstyrer</a:t>
            </a:r>
            <a:r>
              <a:rPr lang="en-US" dirty="0"/>
              <a:t> bare det </a:t>
            </a:r>
            <a:r>
              <a:rPr lang="en-US" dirty="0" err="1"/>
              <a:t>dere</a:t>
            </a:r>
            <a:r>
              <a:rPr lang="en-US" dirty="0"/>
              <a:t> </a:t>
            </a:r>
            <a:r>
              <a:rPr lang="en-US" dirty="0" err="1"/>
              <a:t>endrer</a:t>
            </a:r>
            <a:r>
              <a:rPr lang="en-US" dirty="0"/>
              <a:t>.</a:t>
            </a:r>
          </a:p>
          <a:p>
            <a:r>
              <a:rPr lang="en-US" b="1" dirty="0"/>
              <a:t>Parent venter:</a:t>
            </a:r>
            <a:r>
              <a:rPr lang="en-US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coroutineScope</a:t>
            </a:r>
            <a:r>
              <a:rPr lang="en-US" dirty="0"/>
              <a:t> </a:t>
            </a:r>
            <a:r>
              <a:rPr lang="en-US" dirty="0" err="1"/>
              <a:t>returnerer</a:t>
            </a:r>
            <a:r>
              <a:rPr lang="en-US" dirty="0"/>
              <a:t> </a:t>
            </a:r>
            <a:r>
              <a:rPr lang="en-US" b="1" dirty="0" err="1"/>
              <a:t>ikke</a:t>
            </a:r>
            <a:r>
              <a:rPr lang="en-US" dirty="0"/>
              <a:t> </a:t>
            </a:r>
            <a:r>
              <a:rPr lang="en-US" dirty="0" err="1"/>
              <a:t>før</a:t>
            </a:r>
            <a:r>
              <a:rPr lang="en-US" dirty="0"/>
              <a:t> alle children er </a:t>
            </a:r>
            <a:r>
              <a:rPr lang="en-US" dirty="0" err="1"/>
              <a:t>ferdige</a:t>
            </a:r>
            <a:r>
              <a:rPr lang="en-US" dirty="0"/>
              <a:t>. </a:t>
            </a:r>
            <a:r>
              <a:rPr lang="en-US" dirty="0" err="1"/>
              <a:t>Umulig</a:t>
            </a:r>
            <a:r>
              <a:rPr lang="en-US" dirty="0"/>
              <a:t> </a:t>
            </a:r>
            <a:r>
              <a:rPr lang="en-US" dirty="0" err="1"/>
              <a:t>å</a:t>
            </a:r>
            <a:r>
              <a:rPr lang="en-US" dirty="0"/>
              <a:t> </a:t>
            </a:r>
            <a:r>
              <a:rPr lang="en-US" dirty="0" err="1"/>
              <a:t>lekke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coroutine.</a:t>
            </a:r>
          </a:p>
          <a:p>
            <a:r>
              <a:rPr lang="en-US" b="1" dirty="0" err="1"/>
              <a:t>Kansellering</a:t>
            </a:r>
            <a:r>
              <a:rPr lang="en-US" b="1" dirty="0"/>
              <a:t> </a:t>
            </a:r>
            <a:r>
              <a:rPr lang="en-US" b="1" dirty="0" err="1"/>
              <a:t>nedover</a:t>
            </a:r>
            <a:r>
              <a:rPr lang="en-US" b="1" dirty="0"/>
              <a:t>:</a:t>
            </a:r>
            <a:r>
              <a:rPr lang="en-US" dirty="0"/>
              <a:t> Parent </a:t>
            </a:r>
            <a:r>
              <a:rPr lang="en-US" dirty="0" err="1"/>
              <a:t>kanselleres</a:t>
            </a:r>
            <a:r>
              <a:rPr lang="en-US" dirty="0"/>
              <a:t> → alle children </a:t>
            </a:r>
            <a:r>
              <a:rPr lang="en-US" dirty="0" err="1"/>
              <a:t>kanselleres</a:t>
            </a:r>
            <a:r>
              <a:rPr lang="en-US" dirty="0"/>
              <a:t> </a:t>
            </a:r>
            <a:r>
              <a:rPr lang="en-US" b="1" dirty="0" err="1"/>
              <a:t>rekursivt</a:t>
            </a:r>
            <a:r>
              <a:rPr lang="en-US" dirty="0"/>
              <a:t>.</a:t>
            </a:r>
          </a:p>
          <a:p>
            <a:r>
              <a:rPr lang="en-US" dirty="0" err="1"/>
              <a:t>Hva</a:t>
            </a:r>
            <a:r>
              <a:rPr lang="en-US" dirty="0"/>
              <a:t> </a:t>
            </a:r>
            <a:r>
              <a:rPr lang="en-US" dirty="0" err="1"/>
              <a:t>skjer</a:t>
            </a:r>
            <a:r>
              <a:rPr lang="en-US" dirty="0"/>
              <a:t> </a:t>
            </a:r>
            <a:r>
              <a:rPr lang="en-US" dirty="0" err="1"/>
              <a:t>når</a:t>
            </a:r>
            <a:r>
              <a:rPr lang="en-US" dirty="0"/>
              <a:t> et </a:t>
            </a:r>
            <a:r>
              <a:rPr lang="en-US" i="1" dirty="0"/>
              <a:t>child</a:t>
            </a:r>
            <a:r>
              <a:rPr lang="en-US" dirty="0"/>
              <a:t> </a:t>
            </a:r>
            <a:r>
              <a:rPr lang="en-US" dirty="0" err="1"/>
              <a:t>feiler</a:t>
            </a:r>
            <a:r>
              <a:rPr lang="en-US" dirty="0"/>
              <a:t>? Det </a:t>
            </a:r>
            <a:r>
              <a:rPr lang="en-US" dirty="0" err="1"/>
              <a:t>avhenger</a:t>
            </a:r>
            <a:r>
              <a:rPr lang="en-US" dirty="0"/>
              <a:t> av scope-type — </a:t>
            </a:r>
            <a:r>
              <a:rPr lang="en-US" dirty="0" err="1"/>
              <a:t>kommer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b="1" dirty="0"/>
              <a:t>del 5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17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436354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1400" b="1" dirty="0"/>
              <a:t>CoroutineContext</a:t>
            </a:r>
            <a:r>
              <a:rPr lang="nb-NO" sz="1200" dirty="0"/>
              <a:t> er en map-lignende struktur som holder metadata for </a:t>
            </a:r>
            <a:r>
              <a:rPr lang="nb-NO" sz="1200" dirty="0" err="1"/>
              <a:t>coroutinen</a:t>
            </a:r>
            <a:r>
              <a:rPr lang="nb-NO" sz="1200" dirty="0"/>
              <a:t>.</a:t>
            </a:r>
            <a:br>
              <a:rPr lang="nb-NO" sz="1200" dirty="0"/>
            </a:br>
            <a:r>
              <a:rPr lang="en-US" b="1" dirty="0"/>
              <a:t>Job:</a:t>
            </a:r>
            <a:r>
              <a:rPr lang="en-US" dirty="0"/>
              <a:t> </a:t>
            </a:r>
            <a:r>
              <a:rPr lang="en-US" dirty="0" err="1"/>
              <a:t>Motoren</a:t>
            </a:r>
            <a:r>
              <a:rPr lang="en-US" dirty="0"/>
              <a:t> </a:t>
            </a:r>
            <a:r>
              <a:rPr lang="en-US" dirty="0" err="1"/>
              <a:t>bak</a:t>
            </a:r>
            <a:r>
              <a:rPr lang="en-US" dirty="0"/>
              <a:t> structured concurrency — holder </a:t>
            </a:r>
            <a:r>
              <a:rPr lang="en-US" dirty="0" err="1"/>
              <a:t>styr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b="1" dirty="0"/>
              <a:t>parent-child </a:t>
            </a:r>
            <a:r>
              <a:rPr lang="en-US" b="1" dirty="0" err="1"/>
              <a:t>treet</a:t>
            </a:r>
            <a:r>
              <a:rPr lang="en-US" dirty="0"/>
              <a:t>. </a:t>
            </a:r>
            <a:r>
              <a:rPr lang="en-US" dirty="0" err="1"/>
              <a:t>Alltid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per coroutine, parent sin Job </a:t>
            </a:r>
            <a:r>
              <a:rPr lang="en-US" dirty="0" err="1"/>
              <a:t>blir</a:t>
            </a:r>
            <a:r>
              <a:rPr lang="en-US" dirty="0"/>
              <a:t> parent.</a:t>
            </a:r>
          </a:p>
          <a:p>
            <a:r>
              <a:rPr lang="en-US" b="1" dirty="0"/>
              <a:t>Dispatcher:</a:t>
            </a:r>
            <a:r>
              <a:rPr lang="en-US" dirty="0"/>
              <a:t> </a:t>
            </a:r>
            <a:r>
              <a:rPr lang="en-US" dirty="0" err="1"/>
              <a:t>Bestemmer</a:t>
            </a:r>
            <a:r>
              <a:rPr lang="en-US" dirty="0"/>
              <a:t> </a:t>
            </a:r>
            <a:r>
              <a:rPr lang="en-US" b="1" dirty="0" err="1"/>
              <a:t>hvor</a:t>
            </a:r>
            <a:r>
              <a:rPr lang="en-US" dirty="0"/>
              <a:t> </a:t>
            </a:r>
            <a:r>
              <a:rPr lang="en-US" dirty="0" err="1"/>
              <a:t>coroutinen</a:t>
            </a:r>
            <a:r>
              <a:rPr lang="en-US" dirty="0"/>
              <a:t> </a:t>
            </a:r>
            <a:r>
              <a:rPr lang="en-US" dirty="0" err="1"/>
              <a:t>kjører</a:t>
            </a:r>
            <a:r>
              <a:rPr lang="en-US" dirty="0"/>
              <a:t>. </a:t>
            </a:r>
            <a:r>
              <a:rPr lang="en-US" sz="1200" b="0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Default</a:t>
            </a:r>
            <a:r>
              <a:rPr lang="en-US" dirty="0"/>
              <a:t> for CPU, </a:t>
            </a:r>
            <a:r>
              <a:rPr lang="en-US" sz="1200" b="0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IO</a:t>
            </a:r>
            <a:r>
              <a:rPr lang="en-US" dirty="0"/>
              <a:t> for </a:t>
            </a:r>
            <a:r>
              <a:rPr lang="en-US" dirty="0" err="1"/>
              <a:t>nettverkskall</a:t>
            </a:r>
            <a:r>
              <a:rPr lang="en-US" dirty="0"/>
              <a:t>/fil. </a:t>
            </a:r>
            <a:r>
              <a:rPr lang="en-US" sz="1200" b="0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withContext</a:t>
            </a:r>
            <a:r>
              <a:rPr lang="en-US" dirty="0"/>
              <a:t> </a:t>
            </a:r>
            <a:r>
              <a:rPr lang="en-US" dirty="0" err="1"/>
              <a:t>bytter</a:t>
            </a:r>
            <a:r>
              <a:rPr lang="en-US" dirty="0"/>
              <a:t> dispatcher men </a:t>
            </a:r>
            <a:r>
              <a:rPr lang="en-US" dirty="0" err="1"/>
              <a:t>arver</a:t>
            </a:r>
            <a:r>
              <a:rPr lang="en-US" dirty="0"/>
              <a:t> </a:t>
            </a:r>
            <a:r>
              <a:rPr lang="en-US" dirty="0" err="1"/>
              <a:t>resten</a:t>
            </a:r>
            <a:r>
              <a:rPr lang="en-US" dirty="0"/>
              <a:t>.</a:t>
            </a:r>
          </a:p>
          <a:p>
            <a:r>
              <a:rPr lang="en-US" b="1" dirty="0" err="1"/>
              <a:t>CoroutineName</a:t>
            </a:r>
            <a:r>
              <a:rPr lang="en-US" b="1" dirty="0"/>
              <a:t>:</a:t>
            </a:r>
            <a:r>
              <a:rPr lang="en-US" dirty="0"/>
              <a:t> Gratis debugging. Med </a:t>
            </a:r>
            <a:r>
              <a:rPr lang="en-US" sz="1200" b="0" i="0" kern="1200" dirty="0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-</a:t>
            </a:r>
            <a:r>
              <a:rPr lang="en-US" sz="1200" b="0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Dkotlinx.coroutines.debug</a:t>
            </a:r>
            <a:r>
              <a:rPr lang="en-US" dirty="0"/>
              <a:t> </a:t>
            </a:r>
            <a:r>
              <a:rPr lang="en-US" dirty="0" err="1"/>
              <a:t>dukker</a:t>
            </a:r>
            <a:r>
              <a:rPr lang="en-US" dirty="0"/>
              <a:t> </a:t>
            </a:r>
            <a:r>
              <a:rPr lang="en-US" dirty="0" err="1"/>
              <a:t>navnet</a:t>
            </a:r>
            <a:r>
              <a:rPr lang="en-US" dirty="0"/>
              <a:t> </a:t>
            </a:r>
            <a:r>
              <a:rPr lang="en-US" dirty="0" err="1"/>
              <a:t>opp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b="1" dirty="0" err="1"/>
              <a:t>tråd-navnet</a:t>
            </a:r>
            <a:r>
              <a:rPr lang="en-US" dirty="0"/>
              <a:t>. Koster </a:t>
            </a:r>
            <a:r>
              <a:rPr lang="en-US" dirty="0" err="1"/>
              <a:t>ingenting</a:t>
            </a:r>
            <a:r>
              <a:rPr lang="en-US" dirty="0"/>
              <a:t>, </a:t>
            </a:r>
            <a:r>
              <a:rPr lang="en-US" dirty="0" err="1"/>
              <a:t>hjelper</a:t>
            </a:r>
            <a:r>
              <a:rPr lang="en-US" dirty="0"/>
              <a:t> </a:t>
            </a:r>
            <a:r>
              <a:rPr lang="en-US" dirty="0" err="1"/>
              <a:t>mye</a:t>
            </a:r>
            <a:r>
              <a:rPr lang="en-US" dirty="0"/>
              <a:t>.</a:t>
            </a:r>
          </a:p>
          <a:p>
            <a:r>
              <a:rPr lang="en-US" b="1" dirty="0" err="1"/>
              <a:t>MDCContext</a:t>
            </a:r>
            <a:r>
              <a:rPr lang="en-US" b="1" dirty="0"/>
              <a:t>:</a:t>
            </a:r>
            <a:r>
              <a:rPr lang="en-US" dirty="0"/>
              <a:t> Den </a:t>
            </a:r>
            <a:r>
              <a:rPr lang="en-US" dirty="0" err="1"/>
              <a:t>dere</a:t>
            </a:r>
            <a:r>
              <a:rPr lang="en-US" dirty="0"/>
              <a:t> </a:t>
            </a:r>
            <a:r>
              <a:rPr lang="en-US" dirty="0" err="1"/>
              <a:t>trenger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Spring Boot. MDC er </a:t>
            </a:r>
            <a:r>
              <a:rPr lang="en-US" sz="1200" b="0" i="0" kern="1200" dirty="0" err="1">
                <a:solidFill>
                  <a:schemeClr val="tx1"/>
                </a:solidFill>
                <a:latin typeface="GT America Rg" pitchFamily="2" charset="77"/>
                <a:ea typeface="+mn-ea"/>
                <a:cs typeface="+mn-cs"/>
              </a:rPr>
              <a:t>ThreadLocal</a:t>
            </a:r>
            <a:r>
              <a:rPr lang="en-US" dirty="0"/>
              <a:t>, coroutines </a:t>
            </a:r>
            <a:r>
              <a:rPr lang="en-US" dirty="0" err="1"/>
              <a:t>bytter</a:t>
            </a:r>
            <a:r>
              <a:rPr lang="en-US" dirty="0"/>
              <a:t> </a:t>
            </a:r>
            <a:r>
              <a:rPr lang="en-US" dirty="0" err="1"/>
              <a:t>tråder</a:t>
            </a:r>
            <a:r>
              <a:rPr lang="en-US" dirty="0"/>
              <a:t> — </a:t>
            </a:r>
            <a:r>
              <a:rPr lang="en-US" b="1" dirty="0"/>
              <a:t>MDC </a:t>
            </a:r>
            <a:r>
              <a:rPr lang="en-US" b="1" dirty="0" err="1"/>
              <a:t>forsvinner</a:t>
            </a:r>
            <a:r>
              <a:rPr lang="en-US" dirty="0"/>
              <a:t>. </a:t>
            </a:r>
            <a:r>
              <a:rPr lang="en-US" dirty="0" err="1"/>
              <a:t>MDCContext</a:t>
            </a:r>
            <a:r>
              <a:rPr lang="en-US" dirty="0"/>
              <a:t> </a:t>
            </a:r>
            <a:r>
              <a:rPr lang="en-US" dirty="0" err="1"/>
              <a:t>fikser</a:t>
            </a:r>
            <a:r>
              <a:rPr lang="en-US" dirty="0"/>
              <a:t> det. Mer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valgfritt</a:t>
            </a:r>
            <a:r>
              <a:rPr lang="en-US" dirty="0"/>
              <a:t> </a:t>
            </a:r>
            <a:r>
              <a:rPr lang="en-US" dirty="0" err="1"/>
              <a:t>innhold</a:t>
            </a:r>
            <a:r>
              <a:rPr lang="en-US" dirty="0"/>
              <a:t>.</a:t>
            </a:r>
          </a:p>
          <a:p>
            <a:r>
              <a:rPr lang="en-US" b="1" dirty="0" err="1"/>
              <a:t>Formelen</a:t>
            </a:r>
            <a:r>
              <a:rPr lang="en-US" dirty="0"/>
              <a:t> er det </a:t>
            </a:r>
            <a:r>
              <a:rPr lang="en-US" dirty="0" err="1"/>
              <a:t>viktigste</a:t>
            </a:r>
            <a:r>
              <a:rPr lang="en-US" dirty="0"/>
              <a:t> </a:t>
            </a:r>
            <a:r>
              <a:rPr lang="en-US" dirty="0" err="1"/>
              <a:t>å</a:t>
            </a:r>
            <a:r>
              <a:rPr lang="en-US" dirty="0"/>
              <a:t> </a:t>
            </a:r>
            <a:r>
              <a:rPr lang="en-US" dirty="0" err="1"/>
              <a:t>huske</a:t>
            </a:r>
            <a:r>
              <a:rPr lang="en-US" dirty="0"/>
              <a:t>: child starter med alt </a:t>
            </a:r>
            <a:r>
              <a:rPr lang="en-US" dirty="0" err="1"/>
              <a:t>fra</a:t>
            </a:r>
            <a:r>
              <a:rPr lang="en-US" dirty="0"/>
              <a:t> parent, builder-</a:t>
            </a:r>
            <a:r>
              <a:rPr lang="en-US" dirty="0" err="1"/>
              <a:t>argumenter</a:t>
            </a:r>
            <a:r>
              <a:rPr lang="en-US" dirty="0"/>
              <a:t> </a:t>
            </a:r>
            <a:r>
              <a:rPr lang="en-US" b="1" dirty="0" err="1"/>
              <a:t>overstyrer</a:t>
            </a:r>
            <a:r>
              <a:rPr lang="en-US" dirty="0"/>
              <a:t> </a:t>
            </a:r>
            <a:r>
              <a:rPr lang="en-US" dirty="0" err="1"/>
              <a:t>matchende</a:t>
            </a:r>
            <a:r>
              <a:rPr lang="en-US" dirty="0"/>
              <a:t> </a:t>
            </a:r>
            <a:r>
              <a:rPr lang="en-US" dirty="0" err="1"/>
              <a:t>nøkler</a:t>
            </a:r>
            <a:r>
              <a:rPr lang="en-US" dirty="0"/>
              <a:t>, </a:t>
            </a:r>
            <a:r>
              <a:rPr lang="en-US" dirty="0" err="1"/>
              <a:t>og</a:t>
            </a:r>
            <a:r>
              <a:rPr lang="en-US" dirty="0"/>
              <a:t> Job er </a:t>
            </a:r>
            <a:r>
              <a:rPr lang="en-US" b="1" dirty="0" err="1"/>
              <a:t>alltid</a:t>
            </a:r>
            <a:r>
              <a:rPr lang="en-US" b="1" dirty="0"/>
              <a:t> </a:t>
            </a:r>
            <a:r>
              <a:rPr lang="en-US" b="1" dirty="0" err="1"/>
              <a:t>ny</a:t>
            </a:r>
            <a:r>
              <a:rPr lang="en-US" dirty="0"/>
              <a:t> — det er </a:t>
            </a:r>
            <a:r>
              <a:rPr lang="en-US" dirty="0" err="1"/>
              <a:t>slik</a:t>
            </a:r>
            <a:r>
              <a:rPr lang="en-US" dirty="0"/>
              <a:t> </a:t>
            </a:r>
            <a:r>
              <a:rPr lang="en-US" dirty="0" err="1"/>
              <a:t>treet</a:t>
            </a:r>
            <a:r>
              <a:rPr lang="en-US" dirty="0"/>
              <a:t> </a:t>
            </a:r>
            <a:r>
              <a:rPr lang="en-US" dirty="0" err="1"/>
              <a:t>bygges</a:t>
            </a:r>
            <a:r>
              <a:rPr lang="en-US" dirty="0"/>
              <a:t>.</a:t>
            </a:r>
          </a:p>
          <a:p>
            <a:endParaRPr lang="nb-NO" sz="1200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1400" b="1" dirty="0"/>
              <a:t>Dispatchers</a:t>
            </a:r>
            <a:r>
              <a:rPr lang="nb-NO" sz="1200" dirty="0"/>
              <a:t> bestemmer hvilken tråd coroutinen kjører på.</a:t>
            </a:r>
          </a:p>
          <a:p>
            <a:r>
              <a:rPr lang="nb-NO" sz="1400" b="1" dirty="0"/>
              <a:t>Default</a:t>
            </a:r>
            <a:r>
              <a:rPr lang="nb-NO" sz="1200" dirty="0"/>
              <a:t>: CPU-intensivt arbeid (beregning, parsing). Tråd-pool = antall kjerner.</a:t>
            </a:r>
          </a:p>
          <a:p>
            <a:r>
              <a:rPr lang="nb-NO" sz="1400" b="1" dirty="0"/>
              <a:t>IO</a:t>
            </a:r>
            <a:r>
              <a:rPr lang="nb-NO" sz="1200" dirty="0"/>
              <a:t>: blokkerende I/O (HTTP-kall, database, fil). Større tråd-pool (64+).</a:t>
            </a:r>
          </a:p>
          <a:p>
            <a:r>
              <a:rPr lang="nb-NO" sz="1400" b="1" dirty="0"/>
              <a:t>Main</a:t>
            </a:r>
            <a:r>
              <a:rPr lang="nb-NO" sz="1200" dirty="0"/>
              <a:t>: UI-tråden (Android). Ikke relevant for backend.</a:t>
            </a:r>
          </a:p>
          <a:p>
            <a:r>
              <a:rPr lang="nb-NO" sz="1200" dirty="0"/>
              <a:t>Bruk </a:t>
            </a:r>
            <a:r>
              <a:rPr lang="nb-NO" sz="1400" b="1" dirty="0"/>
              <a:t>withContext()</a:t>
            </a:r>
            <a:r>
              <a:rPr lang="nb-NO" sz="1200" dirty="0"/>
              <a:t> for å bytte dispatcher — andre context-elementer arves.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1200" dirty="0"/>
              <a:t>Praktisk problem for backend: </a:t>
            </a:r>
            <a:r>
              <a:rPr lang="nb-NO" sz="1400" b="1" dirty="0"/>
              <a:t>MDC</a:t>
            </a:r>
            <a:r>
              <a:rPr lang="nb-NO" sz="1200" dirty="0"/>
              <a:t> bruker </a:t>
            </a:r>
            <a:r>
              <a:rPr lang="nb-NO" sz="1400" b="1" dirty="0"/>
              <a:t>ThreadLocal</a:t>
            </a:r>
            <a:r>
              <a:rPr lang="nb-NO" sz="1200" dirty="0"/>
              <a:t>, men coroutines bytter tråder ved suspension!</a:t>
            </a:r>
          </a:p>
          <a:p>
            <a:r>
              <a:rPr lang="nb-NO" sz="1200" dirty="0"/>
              <a:t>Løsningen:  </a:t>
            </a:r>
            <a:r>
              <a:rPr lang="nb-NO" sz="1400" b="1" dirty="0"/>
              <a:t>MDCContext()</a:t>
            </a:r>
            <a:r>
              <a:rPr lang="nb-NO" sz="1200" dirty="0"/>
              <a:t> fra kotlinx-coroutines-slf4j. Tar snapshot av MDC og gjenoppretter ved tråd-bytte.</a:t>
            </a:r>
          </a:p>
          <a:p>
            <a:r>
              <a:rPr lang="nb-NO" sz="1200" dirty="0"/>
              <a:t>Legg MDCContext() i context én gang — arves automatisk til alle children.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1200" dirty="0"/>
              <a:t>Gi deltakerne </a:t>
            </a:r>
            <a:r>
              <a:rPr lang="nb-NO" sz="1400" b="1" dirty="0"/>
              <a:t>15 minutter</a:t>
            </a:r>
            <a:r>
              <a:rPr lang="nb-NO" sz="1200" dirty="0"/>
              <a:t> til øvelsene.</a:t>
            </a:r>
          </a:p>
          <a:p>
            <a:r>
              <a:rPr lang="nb-NO" sz="1400" b="1" dirty="0"/>
              <a:t>3.1</a:t>
            </a:r>
            <a:r>
              <a:rPr lang="nb-NO" sz="1200" dirty="0"/>
              <a:t>: Forutsi log-rekkefølge — tester forståelse av coroutineScope + launch.</a:t>
            </a:r>
          </a:p>
          <a:p>
            <a:r>
              <a:rPr lang="nb-NO" sz="1400" b="1" dirty="0"/>
              <a:t>3.2</a:t>
            </a:r>
            <a:r>
              <a:rPr lang="nb-NO" sz="1200" dirty="0"/>
              <a:t>: Observer at children arver CoroutineName. Builder-argumenter overstyrer.</a:t>
            </a:r>
          </a:p>
          <a:p>
            <a:r>
              <a:rPr lang="nb-NO" sz="1200" dirty="0"/>
              <a:t>Bonus:</a:t>
            </a:r>
          </a:p>
          <a:p>
            <a:r>
              <a:rPr lang="nb-NO" sz="1400" b="1" dirty="0"/>
              <a:t>3.3</a:t>
            </a:r>
            <a:r>
              <a:rPr lang="nb-NO" sz="1200" dirty="0"/>
              <a:t> — uten coroutineScope venter ikke parent på children. </a:t>
            </a:r>
          </a:p>
          <a:p>
            <a:r>
              <a:rPr lang="nb-NO" sz="1400" b="1" dirty="0"/>
              <a:t>3.4</a:t>
            </a:r>
            <a:r>
              <a:rPr lang="nb-NO" sz="1200" dirty="0"/>
              <a:t> — MDC forsvinner uten MDCContext.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1400" b="1" dirty="0"/>
              <a:t>Benstrekk</a:t>
            </a:r>
            <a:endParaRPr lang="nb-NO" sz="1200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1400" b="1" dirty="0"/>
              <a:t>Del 4</a:t>
            </a:r>
            <a:r>
              <a:rPr lang="nb-NO" sz="1200" dirty="0"/>
              <a:t> — nå setter vi alt sammen og bygger parallelle løsninger.</a:t>
            </a:r>
          </a:p>
          <a:p>
            <a:r>
              <a:rPr lang="nb-NO" sz="1200" dirty="0"/>
              <a:t>Deltakerne har nå alle byggeklossene (suspend, async/await, coroutineScope) og skal bruke dem i praksis.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1200" dirty="0"/>
              <a:t>Visuell sammenligning: </a:t>
            </a:r>
            <a:r>
              <a:rPr lang="nb-NO" sz="1400" b="1" dirty="0"/>
              <a:t>sekvensiell</a:t>
            </a:r>
            <a:r>
              <a:rPr lang="nb-NO" sz="1200" dirty="0"/>
              <a:t> (3 sek) vs </a:t>
            </a:r>
            <a:r>
              <a:rPr lang="nb-NO" sz="1400" b="1" dirty="0"/>
              <a:t>parallell</a:t>
            </a:r>
            <a:r>
              <a:rPr lang="nb-NO" sz="1200" dirty="0"/>
              <a:t> (1 sek).</a:t>
            </a:r>
          </a:p>
          <a:p>
            <a:r>
              <a:rPr lang="nb-NO" sz="1200" dirty="0"/>
              <a:t>Nøkkelpoenget: total tid = </a:t>
            </a:r>
            <a:r>
              <a:rPr lang="nb-NO" sz="1400" b="1" dirty="0"/>
              <a:t>lengste enkelt-kall</a:t>
            </a:r>
            <a:r>
              <a:rPr lang="nb-NO" sz="1200" dirty="0"/>
              <a:t>, ikke summen av alle. Legger du til en fjerde provider, øker ikke total tid!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1200" dirty="0"/>
              <a:t>Gjenta nøkkelinnsikten fra slide 12, nå med side-by-side kode.</a:t>
            </a:r>
          </a:p>
          <a:p>
            <a:r>
              <a:rPr lang="nb-NO" sz="1200" dirty="0"/>
              <a:t>Venstre: </a:t>
            </a:r>
            <a:r>
              <a:rPr lang="nb-NO" sz="1400" b="1" dirty="0"/>
              <a:t>sekvensiell</a:t>
            </a:r>
            <a:r>
              <a:rPr lang="nb-NO" sz="1200" dirty="0"/>
              <a:t> — async{}.await() rett etter hverandre. Venter mellom hvert kall.</a:t>
            </a:r>
          </a:p>
          <a:p>
            <a:r>
              <a:rPr lang="nb-NO" sz="1200" dirty="0"/>
              <a:t>Høyre:  </a:t>
            </a:r>
            <a:r>
              <a:rPr lang="nb-NO" sz="1400" b="1" dirty="0"/>
              <a:t>parallell</a:t>
            </a:r>
            <a:r>
              <a:rPr lang="nb-NO" sz="1200" dirty="0"/>
              <a:t> — start alle async først, deretter await alle til slutt. 3x raskere!</a:t>
            </a:r>
          </a:p>
          <a:p>
            <a:r>
              <a:rPr lang="nb-NO" sz="1200" dirty="0"/>
              <a:t>Tips: spør deltakerne hvilken versjon de ville skrevet instinktivt.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1200" dirty="0"/>
              <a:t>Gi deltakerne </a:t>
            </a:r>
            <a:r>
              <a:rPr lang="nb-NO" sz="1400" b="1" dirty="0"/>
              <a:t>20 minutter</a:t>
            </a:r>
            <a:r>
              <a:rPr lang="nb-NO" sz="1200" dirty="0"/>
              <a:t>.</a:t>
            </a:r>
          </a:p>
          <a:p>
            <a:r>
              <a:rPr lang="nb-NO" sz="1400" b="1" dirty="0"/>
              <a:t>4.1</a:t>
            </a:r>
            <a:r>
              <a:rPr lang="nb-NO" sz="1200" dirty="0"/>
              <a:t>: Parallelliser søketjenesten med coroutineScope + async/await. Testen skal vise ~1500ms, ikke ~3500ms.</a:t>
            </a:r>
          </a:p>
          <a:p>
            <a:r>
              <a:rPr lang="nb-NO" sz="1400" b="1" dirty="0"/>
              <a:t>4.2</a:t>
            </a:r>
            <a:r>
              <a:rPr lang="nb-NO" sz="1200" dirty="0"/>
              <a:t>: Legg til fjerde provider — observer at total tid ikke øker.</a:t>
            </a:r>
          </a:p>
          <a:p>
            <a:r>
              <a:rPr lang="nb-NO" sz="1200" dirty="0"/>
              <a:t>Bonus </a:t>
            </a:r>
            <a:r>
              <a:rPr lang="nb-NO" sz="1400" b="1" dirty="0"/>
              <a:t>4.3</a:t>
            </a:r>
            <a:r>
              <a:rPr lang="nb-NO" sz="1200" dirty="0"/>
              <a:t>: Observer tråd-bytte med withContext(Dispatchers.IO) i loggen.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1400" b="1" dirty="0"/>
              <a:t>Del 5</a:t>
            </a:r>
            <a:r>
              <a:rPr lang="nb-NO" sz="1200" dirty="0"/>
              <a:t> — feilhåndtering er der det ofte går galt i asynkron kode.</a:t>
            </a:r>
          </a:p>
          <a:p>
            <a:r>
              <a:rPr lang="nb-NO" sz="1200" dirty="0"/>
              <a:t>To hovedstrategier:  </a:t>
            </a:r>
            <a:r>
              <a:rPr lang="nb-NO" sz="1400" b="1" dirty="0"/>
              <a:t>coroutineScope</a:t>
            </a:r>
            <a:r>
              <a:rPr lang="nb-NO" sz="1200" dirty="0"/>
              <a:t> (alt-eller-ingenting) og </a:t>
            </a:r>
            <a:r>
              <a:rPr lang="nb-NO" sz="1400" b="1" dirty="0"/>
              <a:t>supervisorScope</a:t>
            </a:r>
            <a:r>
              <a:rPr lang="nb-NO" sz="1200" dirty="0"/>
              <a:t> (best effort).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1400" b="1" dirty="0"/>
              <a:t>coroutineScope</a:t>
            </a:r>
            <a:r>
              <a:rPr lang="nb-NO" sz="1200" dirty="0"/>
              <a:t>: hvis én child feiler, kanselleres alle andre automatisk.</a:t>
            </a:r>
          </a:p>
          <a:p>
            <a:r>
              <a:rPr lang="nb-NO" sz="1200" dirty="0"/>
              <a:t>Eksempel: søkHotell() feiler → søkLeiebil() kanselleres (aldri ferdig), selv om søkFly() var OK.</a:t>
            </a:r>
          </a:p>
          <a:p>
            <a:r>
              <a:rPr lang="nb-NO" sz="1200" dirty="0"/>
              <a:t>Bruk når: alle resultater er  </a:t>
            </a:r>
            <a:r>
              <a:rPr lang="nb-NO" sz="1400" b="1" dirty="0"/>
              <a:t>påkrevd</a:t>
            </a:r>
            <a:r>
              <a:rPr lang="nb-NO" sz="1200" dirty="0"/>
              <a:t> og fail-fast er ønsket atferd.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1400" b="1" dirty="0"/>
              <a:t>supervisorScope</a:t>
            </a:r>
            <a:r>
              <a:rPr lang="nb-NO" sz="1200" dirty="0"/>
              <a:t>: children er uavhengige — én feil kansellerer ikke de andre.</a:t>
            </a:r>
          </a:p>
          <a:p>
            <a:r>
              <a:rPr lang="nb-NO" sz="1200" dirty="0"/>
              <a:t>Mønster: kombiner med </a:t>
            </a:r>
            <a:r>
              <a:rPr lang="nb-NO" sz="1400" b="1" dirty="0"/>
              <a:t>runCatching { }.getOrDefault()</a:t>
            </a:r>
            <a:r>
              <a:rPr lang="nb-NO" sz="1200" dirty="0"/>
              <a:t> per await-kall. Feilende providers gir tomme lister.</a:t>
            </a:r>
          </a:p>
          <a:p>
            <a:r>
              <a:rPr lang="nb-NO" sz="1200" dirty="0"/>
              <a:t>Bruk når: delvis suksess er bedre enn total feil — f.eks. vis fly + leiebil selv om hotell feiler.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1200" dirty="0"/>
              <a:t>Vanlig feil: </a:t>
            </a:r>
            <a:r>
              <a:rPr lang="nb-NO" sz="1400" b="1" dirty="0"/>
              <a:t>try/catch rundt launch { }</a:t>
            </a:r>
            <a:r>
              <a:rPr lang="nb-NO" sz="1200" dirty="0"/>
              <a:t> — fanger IKKE exceptions! launch propagerer feil opp til parent scope.</a:t>
            </a:r>
          </a:p>
          <a:p>
            <a:r>
              <a:rPr lang="nb-NO" sz="1200" dirty="0"/>
              <a:t>Fungerer: </a:t>
            </a:r>
            <a:r>
              <a:rPr lang="nb-NO" sz="1400" b="1" dirty="0"/>
              <a:t>try/catch rundt async{}.await()</a:t>
            </a:r>
            <a:r>
              <a:rPr lang="nb-NO" sz="1200" dirty="0"/>
              <a:t> — exception kastes ved await().</a:t>
            </a:r>
          </a:p>
          <a:p>
            <a:r>
              <a:rPr lang="nb-NO" sz="1200" dirty="0"/>
              <a:t>Fungerer: </a:t>
            </a:r>
            <a:r>
              <a:rPr lang="nb-NO" sz="1400" b="1" dirty="0"/>
              <a:t>try/catch inni launch { }</a:t>
            </a:r>
            <a:r>
              <a:rPr lang="nb-NO" sz="1200" dirty="0"/>
              <a:t> — fanger exception lokalt i coroutinen.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1200" dirty="0"/>
              <a:t>Siste øvelsesrunde — </a:t>
            </a:r>
            <a:r>
              <a:rPr lang="nb-NO" sz="1400" b="1" dirty="0"/>
              <a:t>20 minutter</a:t>
            </a:r>
            <a:r>
              <a:rPr lang="nb-NO" sz="1200" dirty="0"/>
              <a:t>.</a:t>
            </a:r>
          </a:p>
          <a:p>
            <a:r>
              <a:rPr lang="nb-NO" sz="1400" b="1" dirty="0"/>
              <a:t>5.1</a:t>
            </a:r>
            <a:r>
              <a:rPr lang="nb-NO" sz="1200" dirty="0"/>
              <a:t>: coroutineScope — observer at fungerende providers aldri når «ferdig» i loggen.</a:t>
            </a:r>
          </a:p>
          <a:p>
            <a:r>
              <a:rPr lang="nb-NO" sz="1400" b="1" dirty="0"/>
              <a:t>5.2</a:t>
            </a:r>
            <a:r>
              <a:rPr lang="nb-NO" sz="1200" dirty="0"/>
              <a:t>: supervisorScope — fungerende providers returnerer resultater, feilende gir tom liste.</a:t>
            </a:r>
          </a:p>
          <a:p>
            <a:r>
              <a:rPr lang="nb-NO" sz="1200" dirty="0"/>
              <a:t>Bonus </a:t>
            </a:r>
            <a:r>
              <a:rPr lang="nb-NO" sz="1400" b="1" dirty="0"/>
              <a:t>5.3</a:t>
            </a:r>
            <a:r>
              <a:rPr lang="nb-NO" sz="1200" dirty="0"/>
              <a:t>: Samle feilinformasjon i SearchError-liste.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1200" dirty="0"/>
              <a:t>Oppsummér de viktigste takeaways:</a:t>
            </a:r>
          </a:p>
          <a:p>
            <a:r>
              <a:rPr lang="nb-NO" sz="1400" b="1" dirty="0"/>
              <a:t>suspend</a:t>
            </a:r>
            <a:r>
              <a:rPr lang="nb-NO" sz="1200" dirty="0"/>
              <a:t> + delay() i stedet for Thread.sleep() — frigjør tråden.</a:t>
            </a:r>
          </a:p>
          <a:p>
            <a:r>
              <a:rPr lang="nb-NO" sz="1400" b="1" dirty="0"/>
              <a:t>async/await</a:t>
            </a:r>
            <a:r>
              <a:rPr lang="nb-NO" sz="1200" dirty="0"/>
              <a:t> for parallell eksekvering — start alle, vent til slutt.</a:t>
            </a:r>
          </a:p>
          <a:p>
            <a:r>
              <a:rPr lang="nb-NO" sz="1400" b="1" dirty="0"/>
              <a:t>Structured concurrency</a:t>
            </a:r>
            <a:r>
              <a:rPr lang="nb-NO" sz="1200" dirty="0"/>
              <a:t> — coroutineScope sikrer opprydding og kansellering.</a:t>
            </a:r>
          </a:p>
          <a:p>
            <a:r>
              <a:rPr lang="nb-NO" sz="1400" b="1" dirty="0"/>
              <a:t>coroutineScope vs supervisorScope</a:t>
            </a:r>
            <a:r>
              <a:rPr lang="nb-NO" sz="1200" dirty="0"/>
              <a:t> — velg strategi basert på krav: alt-eller-ingenting vs best effort.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1200" dirty="0"/>
              <a:t>Åpne for spørsmål. Vanlige oppfølgingsspørsmål:</a:t>
            </a:r>
          </a:p>
          <a:p>
            <a:r>
              <a:rPr lang="nb-NO" sz="1200" dirty="0"/>
              <a:t>«Hva med  </a:t>
            </a:r>
            <a:r>
              <a:rPr lang="nb-NO" sz="1400" b="1" dirty="0"/>
              <a:t>Cancellation</a:t>
            </a:r>
            <a:r>
              <a:rPr lang="nb-NO" sz="1200" dirty="0"/>
              <a:t>?» — sjekk isActive / ensureActive i lange loops.</a:t>
            </a:r>
          </a:p>
          <a:p>
            <a:r>
              <a:rPr lang="nb-NO" sz="1200" dirty="0"/>
              <a:t>«Hva med  </a:t>
            </a:r>
            <a:r>
              <a:rPr lang="nb-NO" sz="1400" b="1" dirty="0"/>
              <a:t>Flow</a:t>
            </a:r>
            <a:r>
              <a:rPr lang="nb-NO" sz="1200" dirty="0"/>
              <a:t>?» — reaktive streams i Kotlin, bygger på coroutines.</a:t>
            </a:r>
          </a:p>
          <a:p>
            <a:r>
              <a:rPr lang="nb-NO" sz="1200" dirty="0"/>
              <a:t>«Hva med  </a:t>
            </a:r>
            <a:r>
              <a:rPr lang="nb-NO" sz="1400" b="1" dirty="0"/>
              <a:t>testing</a:t>
            </a:r>
            <a:r>
              <a:rPr lang="nb-NO" sz="1200" dirty="0"/>
              <a:t>?» — runTest fra kotlinx-coroutines-test, virtuell tid.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: Sv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95049" y="3293850"/>
            <a:ext cx="8101289" cy="1307088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spcBef>
                <a:spcPts val="0"/>
              </a:spcBef>
              <a:defRPr sz="3800" baseline="0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[Tittel på presentasjon]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95048" y="4676172"/>
            <a:ext cx="8101289" cy="148390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spcBef>
                <a:spcPts val="400"/>
              </a:spcBef>
              <a:spcAft>
                <a:spcPts val="20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nb-NO" noProof="0" dirty="0"/>
              <a:t>[F.eks. navn på hun/han som presenterer]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24000" y="339296"/>
            <a:ext cx="4944000" cy="384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0" i="0" baseline="0">
                <a:solidFill>
                  <a:schemeClr val="bg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[Kunde og/eller anledning]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756B9CD-B53E-F38B-F731-E8440154D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76107" y="339296"/>
            <a:ext cx="2129654" cy="384000"/>
          </a:xfrm>
          <a:prstGeom prst="rect">
            <a:avLst/>
          </a:prstGeom>
        </p:spPr>
        <p:txBody>
          <a:bodyPr rIns="18000" anchor="ctr"/>
          <a:lstStyle>
            <a:lvl1pPr marL="0" indent="0" algn="r">
              <a:buNone/>
              <a:defRPr sz="1200" b="0" i="0" baseline="0">
                <a:solidFill>
                  <a:schemeClr val="bg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[Dato eller tidsperiode]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53B2269-3C05-D49C-552C-A0C070895F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457" y="214770"/>
            <a:ext cx="427936" cy="39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: Hv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24000" y="339296"/>
            <a:ext cx="4944000" cy="384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[Kunde og/eller anledning]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756B9CD-B53E-F38B-F731-E8440154D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76107" y="339296"/>
            <a:ext cx="2129654" cy="384000"/>
          </a:xfrm>
          <a:prstGeom prst="rect">
            <a:avLst/>
          </a:prstGeom>
        </p:spPr>
        <p:txBody>
          <a:bodyPr rIns="18000" anchor="ctr"/>
          <a:lstStyle>
            <a:lvl1pPr marL="0" indent="0" algn="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[Dato eller tidsperiode]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848DEE1-6E10-F276-2D5B-833A9BD915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457" y="214770"/>
            <a:ext cx="428400" cy="39643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6CA54E8-7AA8-DC6F-B0FD-B41FAA0DCE5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049" y="3293850"/>
            <a:ext cx="8101289" cy="1307088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spcBef>
                <a:spcPts val="0"/>
              </a:spcBef>
              <a:defRPr sz="3800" baseline="0">
                <a:solidFill>
                  <a:schemeClr val="tx1"/>
                </a:solidFill>
              </a:defRPr>
            </a:lvl1pPr>
          </a:lstStyle>
          <a:p>
            <a:r>
              <a:rPr lang="nb-NO" noProof="0" dirty="0"/>
              <a:t>[Tittel på presentasjon]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35B3026-7C1D-67E6-B3B2-462A44BD4D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048" y="4676172"/>
            <a:ext cx="8101289" cy="148390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spcBef>
                <a:spcPts val="400"/>
              </a:spcBef>
              <a:spcAft>
                <a:spcPts val="200"/>
              </a:spcAft>
              <a:buNone/>
              <a:defRPr sz="200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nb-NO" noProof="0" dirty="0"/>
              <a:t>[F.eks. navn på hun/han som presenterer]</a:t>
            </a:r>
          </a:p>
        </p:txBody>
      </p:sp>
    </p:spTree>
    <p:extLst>
      <p:ext uri="{BB962C8B-B14F-4D97-AF65-F5344CB8AC3E}">
        <p14:creationId xmlns:p14="http://schemas.microsoft.com/office/powerpoint/2010/main" val="3214781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: Rødbru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24000" y="339296"/>
            <a:ext cx="4944000" cy="384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[Kunde og/eller anledning]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756B9CD-B53E-F38B-F731-E8440154D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76107" y="339296"/>
            <a:ext cx="2129654" cy="384000"/>
          </a:xfrm>
          <a:prstGeom prst="rect">
            <a:avLst/>
          </a:prstGeom>
        </p:spPr>
        <p:txBody>
          <a:bodyPr rIns="18000" anchor="ctr"/>
          <a:lstStyle>
            <a:lvl1pPr marL="0" indent="0" algn="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[Dato eller tidsperiode]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848DEE1-6E10-F276-2D5B-833A9BD915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457" y="214770"/>
            <a:ext cx="428400" cy="39643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272716A-5D89-1ADF-33E5-1063B357AC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049" y="3293850"/>
            <a:ext cx="8101289" cy="1307088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spcBef>
                <a:spcPts val="0"/>
              </a:spcBef>
              <a:defRPr sz="3800" baseline="0">
                <a:solidFill>
                  <a:schemeClr val="tx1"/>
                </a:solidFill>
              </a:defRPr>
            </a:lvl1pPr>
          </a:lstStyle>
          <a:p>
            <a:r>
              <a:rPr lang="nb-NO" noProof="0" dirty="0"/>
              <a:t>[Tittel på presentasjon]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278E104-BC36-3390-9109-DA81872161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048" y="4676172"/>
            <a:ext cx="8101289" cy="148390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spcBef>
                <a:spcPts val="400"/>
              </a:spcBef>
              <a:spcAft>
                <a:spcPts val="200"/>
              </a:spcAft>
              <a:buNone/>
              <a:defRPr sz="200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nb-NO" noProof="0" dirty="0"/>
              <a:t>[F.eks. navn på hun/han som presenterer]</a:t>
            </a:r>
          </a:p>
        </p:txBody>
      </p:sp>
    </p:spTree>
    <p:extLst>
      <p:ext uri="{BB962C8B-B14F-4D97-AF65-F5344CB8AC3E}">
        <p14:creationId xmlns:p14="http://schemas.microsoft.com/office/powerpoint/2010/main" val="21507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: Bl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24000" y="339296"/>
            <a:ext cx="4944000" cy="384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[Kunde og/eller anledning]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756B9CD-B53E-F38B-F731-E8440154D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76107" y="339296"/>
            <a:ext cx="2129654" cy="384000"/>
          </a:xfrm>
          <a:prstGeom prst="rect">
            <a:avLst/>
          </a:prstGeom>
        </p:spPr>
        <p:txBody>
          <a:bodyPr rIns="18000" anchor="ctr"/>
          <a:lstStyle>
            <a:lvl1pPr marL="0" indent="0" algn="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[Dato eller tidsperiode]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848DEE1-6E10-F276-2D5B-833A9BD915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457" y="214770"/>
            <a:ext cx="428400" cy="39643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780A32D-DA5C-7FD5-DAA1-F1C41C25E3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049" y="3293850"/>
            <a:ext cx="8101289" cy="1307088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spcBef>
                <a:spcPts val="0"/>
              </a:spcBef>
              <a:defRPr sz="3800" baseline="0">
                <a:solidFill>
                  <a:schemeClr val="tx1"/>
                </a:solidFill>
              </a:defRPr>
            </a:lvl1pPr>
          </a:lstStyle>
          <a:p>
            <a:r>
              <a:rPr lang="nb-NO" noProof="0" dirty="0"/>
              <a:t>[Tittel på presentasjon]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48E30C6-BB77-EFDF-9C6C-C25BFD9A37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048" y="4676172"/>
            <a:ext cx="8101289" cy="148390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spcBef>
                <a:spcPts val="400"/>
              </a:spcBef>
              <a:spcAft>
                <a:spcPts val="200"/>
              </a:spcAft>
              <a:buNone/>
              <a:defRPr sz="200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nb-NO" noProof="0" dirty="0"/>
              <a:t>[F.eks. navn på hun/han som presenterer]</a:t>
            </a:r>
          </a:p>
        </p:txBody>
      </p:sp>
    </p:spTree>
    <p:extLst>
      <p:ext uri="{BB962C8B-B14F-4D97-AF65-F5344CB8AC3E}">
        <p14:creationId xmlns:p14="http://schemas.microsoft.com/office/powerpoint/2010/main" val="748721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: Grøn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24000" y="339296"/>
            <a:ext cx="4944000" cy="384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[Kunde og/eller anledning]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756B9CD-B53E-F38B-F731-E8440154D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76107" y="339296"/>
            <a:ext cx="2129654" cy="384000"/>
          </a:xfrm>
          <a:prstGeom prst="rect">
            <a:avLst/>
          </a:prstGeom>
        </p:spPr>
        <p:txBody>
          <a:bodyPr rIns="18000" anchor="ctr"/>
          <a:lstStyle>
            <a:lvl1pPr marL="0" indent="0" algn="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[Dato eller tidsperiode]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848DEE1-6E10-F276-2D5B-833A9BD915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457" y="214770"/>
            <a:ext cx="428400" cy="39643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47E876D-AF2E-4691-0678-C60F3B73E70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049" y="3293850"/>
            <a:ext cx="8101289" cy="1307088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spcBef>
                <a:spcPts val="0"/>
              </a:spcBef>
              <a:defRPr sz="3800" baseline="0">
                <a:solidFill>
                  <a:schemeClr val="tx1"/>
                </a:solidFill>
              </a:defRPr>
            </a:lvl1pPr>
          </a:lstStyle>
          <a:p>
            <a:r>
              <a:rPr lang="nb-NO" noProof="0" dirty="0"/>
              <a:t>[Tittel på presentasjon]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E8599DF-FCC4-D0A4-5EE3-F97695B7E4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048" y="4676172"/>
            <a:ext cx="8101289" cy="148390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spcBef>
                <a:spcPts val="400"/>
              </a:spcBef>
              <a:spcAft>
                <a:spcPts val="200"/>
              </a:spcAft>
              <a:buNone/>
              <a:defRPr sz="200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nb-NO" noProof="0" dirty="0"/>
              <a:t>[F.eks. navn på hun/han som presenterer]</a:t>
            </a:r>
          </a:p>
        </p:txBody>
      </p:sp>
    </p:spTree>
    <p:extLst>
      <p:ext uri="{BB962C8B-B14F-4D97-AF65-F5344CB8AC3E}">
        <p14:creationId xmlns:p14="http://schemas.microsoft.com/office/powerpoint/2010/main" val="3283574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6094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: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3" cy="706875"/>
          </a:xfrm>
        </p:spPr>
        <p:txBody>
          <a:bodyPr lIns="5400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3615687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: 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1648"/>
            <a:ext cx="7345364" cy="706875"/>
          </a:xfrm>
        </p:spPr>
        <p:txBody>
          <a:bodyPr lIns="5400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1E2C2F1-86EE-0EED-2610-513A250FFA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1989138"/>
            <a:ext cx="7345363" cy="4535487"/>
          </a:xfrm>
        </p:spPr>
        <p:txBody>
          <a:bodyPr lIns="54000" tIns="54000" rIns="54000" bIns="54000"/>
          <a:lstStyle/>
          <a:p>
            <a:pPr lvl="0"/>
            <a:r>
              <a:rPr lang="en-GB" dirty="0"/>
              <a:t>[The quick brown fox jumped over the lazy dog]</a:t>
            </a:r>
          </a:p>
          <a:p>
            <a:pPr lvl="1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1]</a:t>
            </a:r>
          </a:p>
          <a:p>
            <a:pPr lvl="2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2]</a:t>
            </a:r>
          </a:p>
          <a:p>
            <a:pPr lvl="3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3]</a:t>
            </a:r>
          </a:p>
          <a:p>
            <a:pPr lvl="4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4]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60210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: Tittel + under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3" cy="706875"/>
          </a:xfrm>
        </p:spPr>
        <p:txBody>
          <a:bodyPr lIns="5400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2E12F-BF1F-6025-4FE7-42EF361482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1989138"/>
            <a:ext cx="7345363" cy="503238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3A7ADC7-A8C4-ADAE-0F9B-3301E4A11A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2708275"/>
            <a:ext cx="7345363" cy="3816350"/>
          </a:xfrm>
        </p:spPr>
        <p:txBody>
          <a:bodyPr/>
          <a:lstStyle/>
          <a:p>
            <a:pPr lvl="0"/>
            <a:r>
              <a:rPr lang="en-GB" dirty="0"/>
              <a:t>[The quick brown fox jumped over the lazy dog]</a:t>
            </a:r>
          </a:p>
          <a:p>
            <a:pPr lvl="1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1]</a:t>
            </a:r>
          </a:p>
          <a:p>
            <a:pPr lvl="2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2]</a:t>
            </a:r>
          </a:p>
          <a:p>
            <a:pPr lvl="3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3]</a:t>
            </a:r>
          </a:p>
          <a:p>
            <a:pPr lvl="4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4]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990887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olonner: 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4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4" y="1989139"/>
            <a:ext cx="5400000" cy="4535486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4355C-B2B4-BAE7-C796-5219EBDD15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20525" y="1989139"/>
            <a:ext cx="5400000" cy="4535486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1856641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olonner: Tittel + under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3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4" y="2708274"/>
            <a:ext cx="5400000" cy="3816351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2E12F-BF1F-6025-4FE7-42EF361482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6" y="1988520"/>
            <a:ext cx="5400000" cy="503238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F29286-E970-58E7-4888-62B64DDB37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20524" y="1989138"/>
            <a:ext cx="5400000" cy="503238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D13626-7D58-35A8-22E0-DF15D8510D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20524" y="2705416"/>
            <a:ext cx="5400000" cy="3819210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6311430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olonner: 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3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1989137"/>
            <a:ext cx="3600000" cy="4535487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4355C-B2B4-BAE7-C796-5219EBDD15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96000" y="1989137"/>
            <a:ext cx="3600000" cy="4535487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7CB7D2-BB9E-1B98-C107-25D08CF81F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20525" y="1989138"/>
            <a:ext cx="3600000" cy="4535487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39146295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olonner: Tittel + under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3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2889251"/>
            <a:ext cx="3600000" cy="3635374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4355C-B2B4-BAE7-C796-5219EBDD15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96907" y="2889251"/>
            <a:ext cx="3600000" cy="3635374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7CB7D2-BB9E-1B98-C107-25D08CF81F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22340" y="2889252"/>
            <a:ext cx="3600000" cy="3635374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F1B51A-F663-3AA2-D038-7A4FEF111E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1989138"/>
            <a:ext cx="3600000" cy="565150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0A234C49-35B4-5696-EE91-DE48D250A5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96906" y="1989138"/>
            <a:ext cx="3600000" cy="565150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28E5B6A4-ACD1-3E42-8E82-C087193E04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22337" y="1989138"/>
            <a:ext cx="3600000" cy="565150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492543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kolonner: 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5131"/>
            <a:ext cx="7345363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1989137"/>
            <a:ext cx="2682000" cy="4535489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4355C-B2B4-BAE7-C796-5219EBDD15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93825" y="1989137"/>
            <a:ext cx="2682000" cy="4535489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7CB7D2-BB9E-1B98-C107-25D08CF81F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16175" y="1989138"/>
            <a:ext cx="2682000" cy="4535489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83F7021-6095-D04A-8FEA-65049D7AAA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38525" y="1989138"/>
            <a:ext cx="2682000" cy="4535489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15325787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kolonner: Tittel + under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3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2708274"/>
            <a:ext cx="2682000" cy="3816351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4355C-B2B4-BAE7-C796-5219EBDD15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93408" y="2708274"/>
            <a:ext cx="2682000" cy="3816351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7CB7D2-BB9E-1B98-C107-25D08CF81F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15341" y="2708275"/>
            <a:ext cx="2682000" cy="3816351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F1B51A-F663-3AA2-D038-7A4FEF111E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1989138"/>
            <a:ext cx="2682000" cy="565150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0A234C49-35B4-5696-EE91-DE48D250A5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93407" y="1989138"/>
            <a:ext cx="2682000" cy="565150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28E5B6A4-ACD1-3E42-8E82-C087193E04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5339" y="1989138"/>
            <a:ext cx="2682000" cy="565150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83F7021-6095-D04A-8FEA-65049D7AAA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37275" y="2708275"/>
            <a:ext cx="2682000" cy="3816351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1A088E1-BA4E-D371-DE4B-BB4FC3671F7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37272" y="1989138"/>
            <a:ext cx="2682000" cy="565150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271592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: Tittel + tekst +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3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1989138"/>
            <a:ext cx="6762896" cy="45354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2B7D1B-C200-F54B-CCF0-CAC5958B19E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594025" y="2079607"/>
            <a:ext cx="4226500" cy="43943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/>
              <a:t>[Sett inn bilde eller figur]</a:t>
            </a:r>
          </a:p>
        </p:txBody>
      </p:sp>
    </p:spTree>
    <p:extLst>
      <p:ext uri="{BB962C8B-B14F-4D97-AF65-F5344CB8AC3E}">
        <p14:creationId xmlns:p14="http://schemas.microsoft.com/office/powerpoint/2010/main" val="21083694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: Tittel + tekst + stort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6150512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1989138"/>
            <a:ext cx="6150511" cy="45354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2B7D1B-C200-F54B-CCF0-CAC5958B19E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42424" y="115888"/>
            <a:ext cx="5130513" cy="6626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/>
              <a:t>[Sett inn bilde]</a:t>
            </a:r>
          </a:p>
        </p:txBody>
      </p:sp>
    </p:spTree>
    <p:extLst>
      <p:ext uri="{BB962C8B-B14F-4D97-AF65-F5344CB8AC3E}">
        <p14:creationId xmlns:p14="http://schemas.microsoft.com/office/powerpoint/2010/main" val="6790798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il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9B4FA3D-7D60-EE44-56D7-0075FF9908D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9062" y="115888"/>
            <a:ext cx="11953875" cy="6626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bIns="827999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/>
              <a:t>[Sett inn bilde]</a:t>
            </a:r>
          </a:p>
        </p:txBody>
      </p:sp>
    </p:spTree>
    <p:extLst>
      <p:ext uri="{BB962C8B-B14F-4D97-AF65-F5344CB8AC3E}">
        <p14:creationId xmlns:p14="http://schemas.microsoft.com/office/powerpoint/2010/main" val="1638449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ilde + under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77B7C641-9035-8537-854E-31E44A0EEE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79" y="6119121"/>
            <a:ext cx="7650359" cy="62299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defRPr sz="1400" b="0" i="0">
                <a:latin typeface="GT America Lt" pitchFamily="2" charset="77"/>
                <a:ea typeface="GT America Lt" pitchFamily="2" charset="77"/>
              </a:defRPr>
            </a:lvl1pPr>
          </a:lstStyle>
          <a:p>
            <a:pPr lvl="0"/>
            <a:r>
              <a:rPr lang="nb-NO" noProof="1"/>
              <a:t>[The quick brown fox jumps over the lazy dog]</a:t>
            </a:r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109DEAD3-C0E3-A3A0-C15E-BEA9880613B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9063" y="115889"/>
            <a:ext cx="11953875" cy="59005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/>
              <a:t>[Sett inn bilde]</a:t>
            </a:r>
          </a:p>
        </p:txBody>
      </p:sp>
    </p:spTree>
    <p:extLst>
      <p:ext uri="{BB962C8B-B14F-4D97-AF65-F5344CB8AC3E}">
        <p14:creationId xmlns:p14="http://schemas.microsoft.com/office/powerpoint/2010/main" val="13050702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B47FDB-858D-F0D7-02D8-3F630ECD9F4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9063" y="115888"/>
            <a:ext cx="5914800" cy="6626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/>
              <a:t>[Sett inn bilde]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F1F4DF3F-B4F3-DB59-B408-B310C5BC51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1100" y="115888"/>
            <a:ext cx="5911838" cy="6626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/>
              <a:t>[Sett inn bilde]</a:t>
            </a:r>
          </a:p>
        </p:txBody>
      </p:sp>
    </p:spTree>
    <p:extLst>
      <p:ext uri="{BB962C8B-B14F-4D97-AF65-F5344CB8AC3E}">
        <p14:creationId xmlns:p14="http://schemas.microsoft.com/office/powerpoint/2010/main" val="30822092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 + under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B47FDB-858D-F0D7-02D8-3F630ECD9F4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9063" y="115889"/>
            <a:ext cx="5914800" cy="59005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/>
              <a:t>[Sett inn bilde]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F1F4DF3F-B4F3-DB59-B408-B310C5BC51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58137" y="115889"/>
            <a:ext cx="5914800" cy="59005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/>
              <a:t>[Sett inn bilde]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15140078-EBD3-B729-0CD0-4E2B307305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479" y="6120193"/>
            <a:ext cx="7650359" cy="62191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defRPr sz="1400" b="0" i="0">
                <a:latin typeface="GT America Lt" pitchFamily="2" charset="77"/>
                <a:ea typeface="GT America Lt" pitchFamily="2" charset="77"/>
              </a:defRPr>
            </a:lvl1pPr>
          </a:lstStyle>
          <a:p>
            <a:pPr lvl="0"/>
            <a:r>
              <a:rPr lang="nb-NO" noProof="1"/>
              <a:t>[The quick brown fox jumps over the lazy dog]</a:t>
            </a:r>
          </a:p>
        </p:txBody>
      </p:sp>
    </p:spTree>
    <p:extLst>
      <p:ext uri="{BB962C8B-B14F-4D97-AF65-F5344CB8AC3E}">
        <p14:creationId xmlns:p14="http://schemas.microsoft.com/office/powerpoint/2010/main" val="21343761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 m/bilde: Sv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9B4FA3D-7D60-EE44-56D7-0075FF9908D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835525" y="115889"/>
            <a:ext cx="7237412" cy="66262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756000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/>
              <a:t>[Sett inn bilde]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E418662-CF3A-AF76-9B54-FEB07DFB45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4148004"/>
            <a:ext cx="4103688" cy="2376620"/>
          </a:xfrm>
          <a:prstGeom prst="rect">
            <a:avLst/>
          </a:prstGeom>
        </p:spPr>
        <p:txBody>
          <a:bodyPr lIns="54000"/>
          <a:lstStyle>
            <a:lvl1pPr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bown fox]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DC063FE-5DB4-8585-C274-927FEDC262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7" y="2709996"/>
            <a:ext cx="4103688" cy="1021944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3000" b="0" i="0">
                <a:solidFill>
                  <a:schemeClr val="bg1"/>
                </a:solidFill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965930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 m/bilde og kapitteltag: Sv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9B4FA3D-7D60-EE44-56D7-0075FF9908D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835525" y="115889"/>
            <a:ext cx="7237412" cy="66262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756000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/>
              <a:t>[Sett inn bilde]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E418662-CF3A-AF76-9B54-FEB07DFB45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4148004"/>
            <a:ext cx="4103688" cy="2376620"/>
          </a:xfrm>
          <a:prstGeom prst="rect">
            <a:avLst/>
          </a:prstGeom>
        </p:spPr>
        <p:txBody>
          <a:bodyPr lIns="54000"/>
          <a:lstStyle>
            <a:lvl1pPr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bown fox]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DC063FE-5DB4-8585-C274-927FEDC262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7" y="2709996"/>
            <a:ext cx="4103688" cy="1021944"/>
          </a:xfrm>
          <a:prstGeom prst="rect">
            <a:avLst/>
          </a:prstGeom>
        </p:spPr>
        <p:txBody>
          <a:bodyPr lIns="54000" anchor="b"/>
          <a:lstStyle>
            <a:lvl1pPr>
              <a:lnSpc>
                <a:spcPct val="100000"/>
              </a:lnSpc>
              <a:defRPr sz="3000" b="0" i="0">
                <a:solidFill>
                  <a:schemeClr val="bg1"/>
                </a:solidFill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DD96E35-1E87-3421-8040-0EE8A1585B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588" y="476250"/>
            <a:ext cx="933649" cy="195597"/>
          </a:xfrm>
          <a:prstGeom prst="roundRect">
            <a:avLst>
              <a:gd name="adj" fmla="val 17125"/>
            </a:avLst>
          </a:prstGeom>
          <a:solidFill>
            <a:srgbClr val="D4FF27"/>
          </a:solidFill>
          <a:ln w="6350">
            <a:noFill/>
          </a:ln>
        </p:spPr>
        <p:txBody>
          <a:bodyPr wrap="none" lIns="72000" tIns="36000" rIns="72000" bIns="32400" anchor="ctr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 b="0" i="0" cap="all" baseline="0">
                <a:solidFill>
                  <a:schemeClr val="tx1"/>
                </a:solidFill>
                <a:latin typeface="GT America Exp Md" pitchFamily="2" charset="77"/>
                <a:ea typeface="GT America Exp Md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kapittel</a:t>
            </a:r>
            <a:r>
              <a:rPr lang="en-GB" dirty="0"/>
              <a:t> 1]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9796139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 m/bilde: Hv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9B4FA3D-7D60-EE44-56D7-0075FF9908D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835524" y="115889"/>
            <a:ext cx="7237413" cy="66262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756000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/>
              <a:t>[Sett inn bilde]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E418662-CF3A-AF76-9B54-FEB07DFB45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4148004"/>
            <a:ext cx="4103044" cy="2376620"/>
          </a:xfrm>
          <a:prstGeom prst="rect">
            <a:avLst/>
          </a:prstGeom>
        </p:spPr>
        <p:txBody>
          <a:bodyPr lIns="54000"/>
          <a:lstStyle>
            <a:lvl1pPr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bown fox]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DC063FE-5DB4-8585-C274-927FEDC262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119" y="2709996"/>
            <a:ext cx="4103044" cy="1021944"/>
          </a:xfrm>
          <a:prstGeom prst="rect">
            <a:avLst/>
          </a:prstGeom>
        </p:spPr>
        <p:txBody>
          <a:bodyPr lIns="54000" anchor="b"/>
          <a:lstStyle>
            <a:lvl1pPr>
              <a:lnSpc>
                <a:spcPct val="100000"/>
              </a:lnSpc>
              <a:defRPr sz="3000" b="0" i="0">
                <a:solidFill>
                  <a:schemeClr val="tx1"/>
                </a:solidFill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5441035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 m/bilde og kapitteltag: Hv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9B4FA3D-7D60-EE44-56D7-0075FF9908D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835524" y="115889"/>
            <a:ext cx="7237413" cy="66262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756000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/>
              <a:t>[Sett inn bilde]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E418662-CF3A-AF76-9B54-FEB07DFB45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4148004"/>
            <a:ext cx="4103688" cy="23766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bown fox]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DC063FE-5DB4-8585-C274-927FEDC262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2711398"/>
            <a:ext cx="4103688" cy="1021944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3000" b="0" i="0">
                <a:solidFill>
                  <a:schemeClr val="tx1"/>
                </a:solidFill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DD96E35-1E87-3421-8040-0EE8A1585B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813" y="476250"/>
            <a:ext cx="933649" cy="195597"/>
          </a:xfrm>
          <a:prstGeom prst="roundRect">
            <a:avLst>
              <a:gd name="adj" fmla="val 17125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none" lIns="72000" tIns="36000" rIns="72000" bIns="32400" anchor="ctr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 b="0" i="0" cap="all" baseline="0">
                <a:solidFill>
                  <a:schemeClr val="tx1"/>
                </a:solidFill>
                <a:latin typeface="GT America Exp Md" pitchFamily="2" charset="77"/>
                <a:ea typeface="GT America Exp Md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kapittel</a:t>
            </a:r>
            <a:r>
              <a:rPr lang="en-GB" dirty="0"/>
              <a:t> 1]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2223787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: Sv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91EDC-B464-1BDA-783C-6A4DD0FDE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76250"/>
            <a:ext cx="7283017" cy="1512888"/>
          </a:xfrm>
        </p:spPr>
        <p:txBody>
          <a:bodyPr/>
          <a:lstStyle>
            <a:lvl1pPr>
              <a:lnSpc>
                <a:spcPct val="100000"/>
              </a:lnSpc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[</a:t>
            </a:r>
            <a:r>
              <a:rPr lang="en-GB" dirty="0" err="1"/>
              <a:t>Skillefoil</a:t>
            </a:r>
            <a:r>
              <a:rPr lang="en-GB" dirty="0"/>
              <a:t>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8275291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: Rødbru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91EDC-B464-1BDA-783C-6A4DD0FDE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76250"/>
            <a:ext cx="7283017" cy="1512888"/>
          </a:xfrm>
        </p:spPr>
        <p:txBody>
          <a:bodyPr/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GB" dirty="0"/>
              <a:t>[</a:t>
            </a:r>
            <a:r>
              <a:rPr lang="en-GB" dirty="0" err="1"/>
              <a:t>Skillefoil</a:t>
            </a:r>
            <a:r>
              <a:rPr lang="en-GB" dirty="0"/>
              <a:t>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736480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: Bl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91EDC-B464-1BDA-783C-6A4DD0FDE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76250"/>
            <a:ext cx="7283017" cy="1512888"/>
          </a:xfrm>
        </p:spPr>
        <p:txBody>
          <a:bodyPr/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GB" dirty="0"/>
              <a:t>[</a:t>
            </a:r>
            <a:r>
              <a:rPr lang="en-GB" dirty="0" err="1"/>
              <a:t>Skillefoil</a:t>
            </a:r>
            <a:r>
              <a:rPr lang="en-GB" dirty="0"/>
              <a:t>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0956726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: Grøn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91EDC-B464-1BDA-783C-6A4DD0FDE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76250"/>
            <a:ext cx="7283017" cy="1512888"/>
          </a:xfrm>
        </p:spPr>
        <p:txBody>
          <a:bodyPr/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GB" dirty="0"/>
              <a:t>[</a:t>
            </a:r>
            <a:r>
              <a:rPr lang="en-GB" dirty="0" err="1"/>
              <a:t>Skillefoil</a:t>
            </a:r>
            <a:r>
              <a:rPr lang="en-GB" dirty="0"/>
              <a:t>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4217476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E418662-CF3A-AF76-9B54-FEB07DFB45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3393" y="4375664"/>
            <a:ext cx="4142132" cy="307019"/>
          </a:xfrm>
          <a:prstGeom prst="rect">
            <a:avLst/>
          </a:prstGeom>
        </p:spPr>
        <p:txBody>
          <a:bodyPr wrap="none" anchor="ctr"/>
          <a:lstStyle>
            <a:lvl1pPr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noProof="1"/>
              <a:t>[Rolle i Bekk]</a:t>
            </a:r>
            <a:endParaRPr lang="nb-NO" noProof="1">
              <a:effectLst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DC063FE-5DB4-8585-C274-927FEDC262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3393" y="3727307"/>
            <a:ext cx="4142134" cy="396000"/>
          </a:xfrm>
          <a:prstGeom prst="rect">
            <a:avLst/>
          </a:prstGeom>
        </p:spPr>
        <p:txBody>
          <a:bodyPr wrap="none" anchor="ctr"/>
          <a:lstStyle>
            <a:lvl1pPr>
              <a:defRPr sz="1800" b="0" i="0">
                <a:solidFill>
                  <a:schemeClr val="bg1"/>
                </a:solidFill>
                <a:latin typeface="GT America Lt" pitchFamily="2" charset="77"/>
                <a:ea typeface="GT America Lt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Navn</a:t>
            </a:r>
            <a:r>
              <a:rPr lang="en-GB" dirty="0"/>
              <a:t>]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5AB5B94-9D66-59BA-9723-92252DB758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3393" y="4711761"/>
            <a:ext cx="4142132" cy="307019"/>
          </a:xfrm>
          <a:prstGeom prst="rect">
            <a:avLst/>
          </a:prstGeom>
        </p:spPr>
        <p:txBody>
          <a:bodyPr wrap="none" anchor="ctr"/>
          <a:lstStyle>
            <a:lvl1pPr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defRPr sz="1800" u="sng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noProof="1"/>
              <a:t>[+ 47 000 00 000]</a:t>
            </a:r>
            <a:endParaRPr lang="nb-NO" noProof="1">
              <a:effectLst/>
            </a:endParaRP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61A156C-5DD6-A646-E048-2D13CF349D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3393" y="5047858"/>
            <a:ext cx="4142132" cy="307019"/>
          </a:xfrm>
          <a:prstGeom prst="rect">
            <a:avLst/>
          </a:prstGeom>
        </p:spPr>
        <p:txBody>
          <a:bodyPr wrap="none" anchor="ctr"/>
          <a:lstStyle>
            <a:lvl1pPr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defRPr sz="1800" u="sng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noProof="1"/>
              <a:t>[navn@bekk.no]</a:t>
            </a:r>
            <a:endParaRPr lang="nb-NO" noProof="1">
              <a:effectLst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F5FE9A2-D58F-0EDF-BBDA-10DA6CC01B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457" y="214770"/>
            <a:ext cx="427936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0264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re tekststr: 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0E547-AE20-1A68-1188-C86F21A13D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A2AA49-E512-87C6-B1AF-2AE31660A8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3" y="2205038"/>
            <a:ext cx="8713787" cy="4319587"/>
          </a:xfrm>
        </p:spPr>
        <p:txBody>
          <a:bodyPr/>
          <a:lstStyle>
            <a:lvl1pPr>
              <a:defRPr sz="1600" b="0" i="0">
                <a:latin typeface="GT America Lt" pitchFamily="2" charset="77"/>
                <a:ea typeface="GT America Lt" pitchFamily="2" charset="77"/>
              </a:defRPr>
            </a:lvl1pPr>
            <a:lvl2pPr>
              <a:defRPr sz="1600" b="0" i="0">
                <a:latin typeface="GT America Lt" pitchFamily="2" charset="77"/>
                <a:ea typeface="GT America Lt" pitchFamily="2" charset="77"/>
              </a:defRPr>
            </a:lvl2pPr>
            <a:lvl3pPr>
              <a:defRPr sz="1600" b="0" i="0">
                <a:latin typeface="GT America Lt" pitchFamily="2" charset="77"/>
                <a:ea typeface="GT America Lt" pitchFamily="2" charset="77"/>
              </a:defRPr>
            </a:lvl3pPr>
            <a:lvl4pPr>
              <a:defRPr sz="1600" b="0" i="0">
                <a:latin typeface="GT America Lt" pitchFamily="2" charset="77"/>
                <a:ea typeface="GT America Lt" pitchFamily="2" charset="77"/>
              </a:defRPr>
            </a:lvl4pPr>
            <a:lvl5pPr>
              <a:defRPr sz="1600" b="0" i="0">
                <a:latin typeface="GT America Lt" pitchFamily="2" charset="77"/>
                <a:ea typeface="GT America Lt" pitchFamily="2" charset="77"/>
              </a:defRPr>
            </a:lvl5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10555334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re tekststr: Tittel + tekst + tema-tag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0E547-AE20-1A68-1188-C86F21A13D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A2AA49-E512-87C6-B1AF-2AE31660A8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3" y="2205038"/>
            <a:ext cx="8713787" cy="4319587"/>
          </a:xfrm>
        </p:spPr>
        <p:txBody>
          <a:bodyPr/>
          <a:lstStyle>
            <a:lvl1pPr>
              <a:defRPr sz="1600" b="0" i="0">
                <a:latin typeface="GT America Lt" pitchFamily="2" charset="77"/>
                <a:ea typeface="GT America Lt" pitchFamily="2" charset="77"/>
              </a:defRPr>
            </a:lvl1pPr>
            <a:lvl2pPr>
              <a:defRPr sz="1600" b="0" i="0">
                <a:latin typeface="GT America Lt" pitchFamily="2" charset="77"/>
                <a:ea typeface="GT America Lt" pitchFamily="2" charset="77"/>
              </a:defRPr>
            </a:lvl2pPr>
            <a:lvl3pPr>
              <a:defRPr sz="1600" b="0" i="0">
                <a:latin typeface="GT America Lt" pitchFamily="2" charset="77"/>
                <a:ea typeface="GT America Lt" pitchFamily="2" charset="77"/>
              </a:defRPr>
            </a:lvl3pPr>
            <a:lvl4pPr>
              <a:defRPr sz="1600" b="0" i="0">
                <a:latin typeface="GT America Lt" pitchFamily="2" charset="77"/>
                <a:ea typeface="GT America Lt" pitchFamily="2" charset="77"/>
              </a:defRPr>
            </a:lvl4pPr>
            <a:lvl5pPr>
              <a:defRPr sz="1600" b="0" i="0">
                <a:latin typeface="GT America Lt" pitchFamily="2" charset="77"/>
                <a:ea typeface="GT America Lt" pitchFamily="2" charset="77"/>
              </a:defRPr>
            </a:lvl5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C4DEA6AD-178A-2B2C-0224-B5A44969DF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4139" y="363810"/>
            <a:ext cx="920577" cy="195597"/>
          </a:xfrm>
          <a:prstGeom prst="roundRect">
            <a:avLst>
              <a:gd name="adj" fmla="val 17125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none" lIns="90000" tIns="36000" rIns="90000" bIns="32400" anchor="ctr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 b="0" i="0" cap="all" baseline="0">
                <a:solidFill>
                  <a:schemeClr val="tx1"/>
                </a:solidFill>
                <a:latin typeface="GT America Exp Md" pitchFamily="2" charset="77"/>
                <a:ea typeface="GT America Exp Md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tema</a:t>
            </a:r>
            <a:r>
              <a:rPr lang="en-GB" dirty="0"/>
              <a:t>-TAG]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1704796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re tekststr: Tittel + tekst +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2" y="728661"/>
            <a:ext cx="8353426" cy="1295402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2400"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1" y="2205037"/>
            <a:ext cx="6738474" cy="4319587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6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E76C4A4-F084-E7D2-0CF4-92D07F7EEE01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7618505" y="2289542"/>
            <a:ext cx="4248937" cy="4248000"/>
          </a:xfr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/>
              <a:t>[Sett inn bilde eller figur]</a:t>
            </a:r>
          </a:p>
        </p:txBody>
      </p:sp>
    </p:spTree>
    <p:extLst>
      <p:ext uri="{BB962C8B-B14F-4D97-AF65-F5344CB8AC3E}">
        <p14:creationId xmlns:p14="http://schemas.microsoft.com/office/powerpoint/2010/main" val="370566289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re tekststr: Tittel + tekst + bilde + tema-tag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2" y="728661"/>
            <a:ext cx="8353426" cy="1295402"/>
          </a:xfrm>
        </p:spPr>
        <p:txBody>
          <a:bodyPr lIns="36000" anchor="t">
            <a:noAutofit/>
          </a:bodyPr>
          <a:lstStyle>
            <a:lvl1pPr>
              <a:lnSpc>
                <a:spcPct val="100000"/>
              </a:lnSpc>
              <a:defRPr sz="2400"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1" y="2205037"/>
            <a:ext cx="6738474" cy="4319587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6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E76C4A4-F084-E7D2-0CF4-92D07F7EEE01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7618505" y="2289542"/>
            <a:ext cx="4248937" cy="4248000"/>
          </a:xfr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/>
              <a:t>[Sett inn bilde eller figur]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17F52FA1-3497-F343-70CA-33403D5AC1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4139" y="363810"/>
            <a:ext cx="920577" cy="195597"/>
          </a:xfrm>
          <a:prstGeom prst="roundRect">
            <a:avLst>
              <a:gd name="adj" fmla="val 17125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none" lIns="90000" tIns="36000" rIns="90000" bIns="32400" anchor="ctr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 b="0" i="0" cap="all" baseline="0">
                <a:solidFill>
                  <a:schemeClr val="tx1"/>
                </a:solidFill>
                <a:latin typeface="GT America Exp Md" pitchFamily="2" charset="77"/>
                <a:ea typeface="GT America Exp Md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tema</a:t>
            </a:r>
            <a:r>
              <a:rPr lang="en-GB" dirty="0"/>
              <a:t>-TAG]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5925994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re tekststr: Tittel + tekst + stort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2" y="728661"/>
            <a:ext cx="6120000" cy="1295402"/>
          </a:xfrm>
        </p:spPr>
        <p:txBody>
          <a:bodyPr lIns="36000" anchor="t">
            <a:noAutofit/>
          </a:bodyPr>
          <a:lstStyle>
            <a:lvl1pPr>
              <a:lnSpc>
                <a:spcPct val="100000"/>
              </a:lnSpc>
              <a:defRPr sz="2400"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7E19842-2AB0-E13A-F334-3FEF4E2933B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42424" y="115888"/>
            <a:ext cx="5130513" cy="6626225"/>
          </a:xfr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/>
              <a:t>[Sett inn bilde]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274E0E5-4061-03BF-65C4-DB6CEB046E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1" y="2205037"/>
            <a:ext cx="6120000" cy="4319587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6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22095507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re tekststr: Tittel + tekst + stort bilde + tema-tag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2" y="728661"/>
            <a:ext cx="6175367" cy="1295402"/>
          </a:xfrm>
        </p:spPr>
        <p:txBody>
          <a:bodyPr lIns="36000" anchor="t">
            <a:noAutofit/>
          </a:bodyPr>
          <a:lstStyle>
            <a:lvl1pPr>
              <a:lnSpc>
                <a:spcPct val="100000"/>
              </a:lnSpc>
              <a:defRPr sz="2400"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7E19842-2AB0-E13A-F334-3FEF4E2933B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42424" y="115888"/>
            <a:ext cx="5130513" cy="6626225"/>
          </a:xfr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/>
              <a:t>[Sett inn bilde]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274E0E5-4061-03BF-65C4-DB6CEB046E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1" y="2205037"/>
            <a:ext cx="6175367" cy="4319587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6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EBE0DD8F-A7B3-AA10-4EA7-60D8270A64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4139" y="363810"/>
            <a:ext cx="920577" cy="195597"/>
          </a:xfrm>
          <a:prstGeom prst="roundRect">
            <a:avLst>
              <a:gd name="adj" fmla="val 17125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none" lIns="90000" tIns="36000" rIns="90000" bIns="32400" anchor="ctr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 b="0" i="0" cap="all" baseline="0">
                <a:solidFill>
                  <a:schemeClr val="tx1"/>
                </a:solidFill>
                <a:latin typeface="GT America Exp Md" pitchFamily="2" charset="77"/>
                <a:ea typeface="GT America Exp Md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tema</a:t>
            </a:r>
            <a:r>
              <a:rPr lang="en-GB" dirty="0"/>
              <a:t>-TAG]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4870267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pport / tilbud: Overskrift + 2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B8FEDC1-B254-C6A4-B14B-321AA47629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2912" y="2205038"/>
            <a:ext cx="5479200" cy="4319587"/>
          </a:xfrm>
        </p:spPr>
        <p:txBody>
          <a:bodyPr lIns="5400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2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818838A7-D738-D0F5-6C03-308BA3BEFB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728663"/>
            <a:ext cx="5473701" cy="1295400"/>
          </a:xfrm>
          <a:prstGeom prst="rect">
            <a:avLst/>
          </a:prstGeom>
        </p:spPr>
        <p:txBody>
          <a:bodyPr vert="horz" lIns="54000" tIns="54000" rIns="54000" bIns="54000" rtlCol="0" anchor="t">
            <a:noAutofit/>
          </a:bodyPr>
          <a:lstStyle>
            <a:lvl1pPr>
              <a:lnSpc>
                <a:spcPct val="100000"/>
              </a:lnSpc>
              <a:defRPr sz="2200"/>
            </a:lvl1pPr>
          </a:lstStyle>
          <a:p>
            <a:r>
              <a:rPr lang="nb-NO" noProof="1"/>
              <a:t>[Tittel]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5982688-1F55-5A31-EA24-F6CB155D9B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77088" y="2205038"/>
            <a:ext cx="5472000" cy="4319587"/>
          </a:xfrm>
        </p:spPr>
        <p:txBody>
          <a:bodyPr lIns="5400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2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pport / tilbud: 2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B8FEDC1-B254-C6A4-B14B-321AA47629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2913" y="728663"/>
            <a:ext cx="5472000" cy="5795963"/>
          </a:xfrm>
        </p:spPr>
        <p:txBody>
          <a:bodyPr lIns="54000"/>
          <a:lstStyle>
            <a:lvl1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12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5982688-1F55-5A31-EA24-F6CB155D9B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77087" y="728663"/>
            <a:ext cx="5472000" cy="5795963"/>
          </a:xfrm>
        </p:spPr>
        <p:txBody>
          <a:bodyPr lIns="54000"/>
          <a:lstStyle>
            <a:lvl1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12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3376715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475" y="512764"/>
            <a:ext cx="7345259" cy="721626"/>
          </a:xfrm>
          <a:prstGeom prst="rect">
            <a:avLst/>
          </a:prstGeom>
        </p:spPr>
        <p:txBody>
          <a:bodyPr vert="horz" lIns="54000" tIns="54000" rIns="54000" bIns="54000" rtlCol="0" anchor="t">
            <a:noAutofit/>
          </a:bodyPr>
          <a:lstStyle/>
          <a:p>
            <a:r>
              <a:rPr lang="nb-NO" noProof="1"/>
              <a:t>[Tittel]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6779E9-7697-5F45-133B-C722BDD2F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5" y="1993897"/>
            <a:ext cx="7345259" cy="4530727"/>
          </a:xfrm>
          <a:prstGeom prst="rect">
            <a:avLst/>
          </a:prstGeom>
        </p:spPr>
        <p:txBody>
          <a:bodyPr vert="horz" lIns="54000" tIns="54000" rIns="54000" bIns="54000" rtlCol="0">
            <a:normAutofit/>
          </a:bodyPr>
          <a:lstStyle/>
          <a:p>
            <a:pPr lvl="0"/>
            <a:r>
              <a:rPr lang="en-GB" dirty="0"/>
              <a:t>[The quick brown fox jumped over the lazy dog]</a:t>
            </a:r>
          </a:p>
          <a:p>
            <a:pPr lvl="1"/>
            <a:r>
              <a:rPr lang="en-GB" dirty="0"/>
              <a:t>[The quick brown fox jumped over the lazy dog]</a:t>
            </a:r>
          </a:p>
          <a:p>
            <a:pPr lvl="2"/>
            <a:r>
              <a:rPr lang="en-GB" dirty="0"/>
              <a:t>[The quick brown fox jumped over the lazy dog]</a:t>
            </a:r>
          </a:p>
          <a:p>
            <a:pPr lvl="3"/>
            <a:r>
              <a:rPr lang="en-GB" dirty="0"/>
              <a:t>[The quick brown fox jumped over the lazy dog]</a:t>
            </a:r>
          </a:p>
          <a:p>
            <a:pPr lvl="4"/>
            <a:r>
              <a:rPr lang="en-GB" dirty="0"/>
              <a:t>[The quick brown fox jumped over the lazy dog]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623650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892" r:id="rId2"/>
    <p:sldLayoutId id="2147483899" r:id="rId3"/>
    <p:sldLayoutId id="2147483900" r:id="rId4"/>
    <p:sldLayoutId id="2147483901" r:id="rId5"/>
    <p:sldLayoutId id="2147483886" r:id="rId6"/>
    <p:sldLayoutId id="2147483877" r:id="rId7"/>
    <p:sldLayoutId id="2147483829" r:id="rId8"/>
    <p:sldLayoutId id="2147483839" r:id="rId9"/>
    <p:sldLayoutId id="2147483844" r:id="rId10"/>
    <p:sldLayoutId id="2147483850" r:id="rId11"/>
    <p:sldLayoutId id="2147483849" r:id="rId12"/>
    <p:sldLayoutId id="2147483851" r:id="rId13"/>
    <p:sldLayoutId id="2147483878" r:id="rId14"/>
    <p:sldLayoutId id="2147483855" r:id="rId15"/>
    <p:sldLayoutId id="2147483875" r:id="rId16"/>
    <p:sldLayoutId id="2147483881" r:id="rId17"/>
    <p:sldLayoutId id="2147483852" r:id="rId18"/>
    <p:sldLayoutId id="2147483858" r:id="rId19"/>
    <p:sldLayoutId id="2147483853" r:id="rId20"/>
    <p:sldLayoutId id="2147483859" r:id="rId21"/>
    <p:sldLayoutId id="2147483889" r:id="rId22"/>
    <p:sldLayoutId id="2147483845" r:id="rId23"/>
    <p:sldLayoutId id="2147483890" r:id="rId24"/>
    <p:sldLayoutId id="2147483888" r:id="rId25"/>
    <p:sldLayoutId id="2147483882" r:id="rId26"/>
    <p:sldLayoutId id="2147483848" r:id="rId27"/>
    <p:sldLayoutId id="2147483836" r:id="rId28"/>
    <p:sldLayoutId id="2147483837" r:id="rId29"/>
    <p:sldLayoutId id="2147483847" r:id="rId30"/>
  </p:sldLayoutIdLst>
  <p:txStyles>
    <p:titleStyle>
      <a:lvl1pPr algn="l" defTabSz="914354" rtl="0" eaLnBrk="1" latinLnBrk="0" hangingPunct="1">
        <a:lnSpc>
          <a:spcPct val="100000"/>
        </a:lnSpc>
        <a:spcBef>
          <a:spcPct val="0"/>
        </a:spcBef>
        <a:buNone/>
        <a:defRPr sz="3000" b="0" i="0" kern="1200">
          <a:solidFill>
            <a:schemeClr val="tx1"/>
          </a:solidFill>
          <a:latin typeface="GT America Rg" pitchFamily="2" charset="77"/>
          <a:ea typeface="GT America Rg" pitchFamily="2" charset="77"/>
          <a:cs typeface="GT America Rg" pitchFamily="2" charset="77"/>
        </a:defRPr>
      </a:lvl1pPr>
    </p:titleStyle>
    <p:bodyStyle>
      <a:lvl1pPr marL="0" indent="0" algn="l" defTabSz="911955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GT America Lt" pitchFamily="2" charset="77"/>
          <a:ea typeface="GT America Lt" pitchFamily="2" charset="77"/>
          <a:cs typeface="GT America Lt" pitchFamily="2" charset="77"/>
        </a:defRPr>
      </a:lvl1pPr>
      <a:lvl2pPr marL="311150" indent="-311150" algn="l" defTabSz="911955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charset="0"/>
        <a:buChar char="•"/>
        <a:tabLst/>
        <a:defRPr sz="1800" b="0" i="0" kern="1200">
          <a:solidFill>
            <a:schemeClr val="tx1"/>
          </a:solidFill>
          <a:latin typeface="GT America Lt" pitchFamily="2" charset="77"/>
          <a:ea typeface="GT America Lt" pitchFamily="2" charset="77"/>
          <a:cs typeface="GT America Lt" pitchFamily="2" charset="77"/>
        </a:defRPr>
      </a:lvl2pPr>
      <a:lvl3pPr marL="622300" indent="-311150" algn="l" defTabSz="911955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GT America Lt" pitchFamily="2" charset="77"/>
          <a:ea typeface="GT America Lt" pitchFamily="2" charset="77"/>
          <a:cs typeface="GT America Lt" pitchFamily="2" charset="77"/>
        </a:defRPr>
      </a:lvl3pPr>
      <a:lvl4pPr marL="935038" indent="-312738" algn="l" defTabSz="911955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GT America Lt" pitchFamily="2" charset="77"/>
          <a:ea typeface="GT America Lt" pitchFamily="2" charset="77"/>
          <a:cs typeface="GT America Lt" pitchFamily="2" charset="77"/>
        </a:defRPr>
      </a:lvl4pPr>
      <a:lvl5pPr marL="1246188" indent="-311150" algn="l" defTabSz="911955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GT America Lt" pitchFamily="2" charset="77"/>
          <a:ea typeface="GT America Lt" pitchFamily="2" charset="77"/>
          <a:cs typeface="GT America Lt" pitchFamily="2" charset="77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T America Rg" pitchFamily="2" charset="77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000000"/>
          </p15:clr>
        </p15:guide>
        <p15:guide id="6" pos="6675" userDrawn="1">
          <p15:clr>
            <a:srgbClr val="A4A3A4"/>
          </p15:clr>
        </p15:guide>
        <p15:guide id="9" orient="horz" pos="4110" userDrawn="1">
          <p15:clr>
            <a:srgbClr val="A4A3A4"/>
          </p15:clr>
        </p15:guide>
        <p15:guide id="17" pos="4634" userDrawn="1">
          <p15:clr>
            <a:srgbClr val="A4A3A4"/>
          </p15:clr>
        </p15:guide>
        <p15:guide id="18" pos="1232" userDrawn="1">
          <p15:clr>
            <a:srgbClr val="A4A3A4"/>
          </p15:clr>
        </p15:guide>
        <p15:guide id="19" pos="3727" userDrawn="1">
          <p15:clr>
            <a:srgbClr val="A4A3A4"/>
          </p15:clr>
        </p15:guide>
        <p15:guide id="21" pos="1005" userDrawn="1">
          <p15:clr>
            <a:srgbClr val="A4A3A4"/>
          </p15:clr>
        </p15:guide>
        <p15:guide id="34" pos="3953" userDrawn="1">
          <p15:clr>
            <a:srgbClr val="A4A3A4"/>
          </p15:clr>
        </p15:guide>
        <p15:guide id="35" pos="1912" userDrawn="1">
          <p15:clr>
            <a:srgbClr val="A4A3A4"/>
          </p15:clr>
        </p15:guide>
        <p15:guide id="36" pos="2139" userDrawn="1">
          <p15:clr>
            <a:srgbClr val="A4A3A4"/>
          </p15:clr>
        </p15:guide>
        <p15:guide id="37" pos="2819" userDrawn="1">
          <p15:clr>
            <a:srgbClr val="A4A3A4"/>
          </p15:clr>
        </p15:guide>
        <p15:guide id="38" pos="3046" userDrawn="1">
          <p15:clr>
            <a:srgbClr val="A4A3A4"/>
          </p15:clr>
        </p15:guide>
        <p15:guide id="39" pos="4861" userDrawn="1">
          <p15:clr>
            <a:srgbClr val="A4A3A4"/>
          </p15:clr>
        </p15:guide>
        <p15:guide id="40" pos="5541" userDrawn="1">
          <p15:clr>
            <a:srgbClr val="A4A3A4"/>
          </p15:clr>
        </p15:guide>
        <p15:guide id="41" pos="5768" userDrawn="1">
          <p15:clr>
            <a:srgbClr val="A4A3A4"/>
          </p15:clr>
        </p15:guide>
        <p15:guide id="42" pos="6448" userDrawn="1">
          <p15:clr>
            <a:srgbClr val="A4A3A4"/>
          </p15:clr>
        </p15:guide>
        <p15:guide id="47" pos="75" userDrawn="1">
          <p15:clr>
            <a:srgbClr val="A4A3A4"/>
          </p15:clr>
        </p15:guide>
        <p15:guide id="48" pos="7605" userDrawn="1">
          <p15:clr>
            <a:srgbClr val="A4A3A4"/>
          </p15:clr>
        </p15:guide>
        <p15:guide id="49" orient="horz" pos="4247" userDrawn="1">
          <p15:clr>
            <a:srgbClr val="A4A3A4"/>
          </p15:clr>
        </p15:guide>
        <p15:guide id="50" orient="horz" pos="73" userDrawn="1">
          <p15:clr>
            <a:srgbClr val="A4A3A4"/>
          </p15:clr>
        </p15:guide>
        <p15:guide id="53" pos="7446" userDrawn="1">
          <p15:clr>
            <a:srgbClr val="A4A3A4"/>
          </p15:clr>
        </p15:guide>
        <p15:guide id="55" pos="234" userDrawn="1">
          <p15:clr>
            <a:srgbClr val="A4A3A4"/>
          </p15:clr>
        </p15:guide>
        <p15:guide id="56" orient="horz" pos="323" userDrawn="1">
          <p15:clr>
            <a:srgbClr val="A4A3A4"/>
          </p15:clr>
        </p15:guide>
        <p15:guide id="57" orient="horz" pos="1253" userDrawn="1">
          <p15:clr>
            <a:srgbClr val="A4A3A4"/>
          </p15:clr>
        </p15:guide>
        <p15:guide id="58" orient="horz" pos="1706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20CE00-C160-716D-5C31-9FB3856B6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728662"/>
            <a:ext cx="8713787" cy="1295401"/>
          </a:xfrm>
          <a:prstGeom prst="rect">
            <a:avLst/>
          </a:prstGeom>
        </p:spPr>
        <p:txBody>
          <a:bodyPr vert="horz" lIns="54000" tIns="45720" rIns="91440" bIns="45720" rtlCol="0" anchor="t">
            <a:noAutofit/>
          </a:bodyPr>
          <a:lstStyle/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D8A2C-D1DC-A9DD-AB09-53E570FE1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3" y="2205038"/>
            <a:ext cx="7273925" cy="4319587"/>
          </a:xfrm>
          <a:prstGeom prst="rect">
            <a:avLst/>
          </a:prstGeom>
        </p:spPr>
        <p:txBody>
          <a:bodyPr vert="horz" lIns="54000" tIns="45720" rIns="91440" bIns="45720" rtlCol="0">
            <a:noAutofit/>
          </a:bodyPr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418752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  <p:sldLayoutId id="2147483894" r:id="rId3"/>
    <p:sldLayoutId id="2147483904" r:id="rId4"/>
    <p:sldLayoutId id="2147483905" r:id="rId5"/>
    <p:sldLayoutId id="2147483893" r:id="rId6"/>
    <p:sldLayoutId id="2147483768" r:id="rId7"/>
    <p:sldLayoutId id="2147483860" r:id="rId8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0" i="0" kern="1200">
          <a:solidFill>
            <a:schemeClr val="tx1"/>
          </a:solidFill>
          <a:latin typeface="GT America Rg" pitchFamily="2" charset="77"/>
          <a:ea typeface="GT America Rg" pitchFamily="2" charset="77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GT America Lt" pitchFamily="2" charset="77"/>
          <a:ea typeface="GT America Lt" pitchFamily="2" charset="77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459" userDrawn="1">
          <p15:clr>
            <a:srgbClr val="A4A3A4"/>
          </p15:clr>
        </p15:guide>
        <p15:guide id="3" pos="3840" userDrawn="1">
          <p15:clr>
            <a:srgbClr val="F26B43"/>
          </p15:clr>
        </p15:guide>
        <p15:guide id="5" pos="1005" userDrawn="1">
          <p15:clr>
            <a:srgbClr val="A4A3A4"/>
          </p15:clr>
        </p15:guide>
        <p15:guide id="8" orient="horz" pos="1389" userDrawn="1">
          <p15:clr>
            <a:srgbClr val="A4A3A4"/>
          </p15:clr>
        </p15:guide>
        <p15:guide id="9" pos="4861" userDrawn="1">
          <p15:clr>
            <a:srgbClr val="A4A3A4"/>
          </p15:clr>
        </p15:guide>
        <p15:guide id="11" orient="horz" pos="4110" userDrawn="1">
          <p15:clr>
            <a:srgbClr val="A4A3A4"/>
          </p15:clr>
        </p15:guide>
        <p15:guide id="13" pos="75" userDrawn="1">
          <p15:clr>
            <a:srgbClr val="A4A3A4"/>
          </p15:clr>
        </p15:guide>
        <p15:guide id="14" orient="horz" pos="73" userDrawn="1">
          <p15:clr>
            <a:srgbClr val="A4A3A4"/>
          </p15:clr>
        </p15:guide>
        <p15:guide id="15" pos="7605" userDrawn="1">
          <p15:clr>
            <a:srgbClr val="A4A3A4"/>
          </p15:clr>
        </p15:guide>
        <p15:guide id="16" orient="horz" pos="4247" userDrawn="1">
          <p15:clr>
            <a:srgbClr val="A4A3A4"/>
          </p15:clr>
        </p15:guide>
        <p15:guide id="17" pos="1232" userDrawn="1">
          <p15:clr>
            <a:srgbClr val="A4A3A4"/>
          </p15:clr>
        </p15:guide>
        <p15:guide id="18" pos="1912" userDrawn="1">
          <p15:clr>
            <a:srgbClr val="A4A3A4"/>
          </p15:clr>
        </p15:guide>
        <p15:guide id="19" pos="2139" userDrawn="1">
          <p15:clr>
            <a:srgbClr val="A4A3A4"/>
          </p15:clr>
        </p15:guide>
        <p15:guide id="20" pos="2819" userDrawn="1">
          <p15:clr>
            <a:srgbClr val="A4A3A4"/>
          </p15:clr>
        </p15:guide>
        <p15:guide id="21" pos="3046" userDrawn="1">
          <p15:clr>
            <a:srgbClr val="A4A3A4"/>
          </p15:clr>
        </p15:guide>
        <p15:guide id="22" pos="3727" userDrawn="1">
          <p15:clr>
            <a:srgbClr val="A4A3A4"/>
          </p15:clr>
        </p15:guide>
        <p15:guide id="23" pos="3953" userDrawn="1">
          <p15:clr>
            <a:srgbClr val="A4A3A4"/>
          </p15:clr>
        </p15:guide>
        <p15:guide id="24" pos="4634" userDrawn="1">
          <p15:clr>
            <a:srgbClr val="A4A3A4"/>
          </p15:clr>
        </p15:guide>
        <p15:guide id="26" pos="5541" userDrawn="1">
          <p15:clr>
            <a:srgbClr val="A4A3A4"/>
          </p15:clr>
        </p15:guide>
        <p15:guide id="27" pos="5768" userDrawn="1">
          <p15:clr>
            <a:srgbClr val="A4A3A4"/>
          </p15:clr>
        </p15:guide>
        <p15:guide id="28" pos="6448" userDrawn="1">
          <p15:clr>
            <a:srgbClr val="A4A3A4"/>
          </p15:clr>
        </p15:guide>
        <p15:guide id="29" pos="6675" userDrawn="1">
          <p15:clr>
            <a:srgbClr val="A4A3A4"/>
          </p15:clr>
        </p15:guide>
        <p15:guide id="30" pos="7355" userDrawn="1">
          <p15:clr>
            <a:srgbClr val="A4A3A4"/>
          </p15:clr>
        </p15:guide>
        <p15:guide id="31" pos="279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2F68B-EAD2-5BF1-16D9-FA8E1E1562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noProof="1"/>
              <a:t>Kotlin Coroutines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64EE25-0379-BB4B-DBFE-C0676DBCE1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noProof="1"/>
              <a:t>Fra Blokkerende til Parallell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7369B-E447-420B-4B0A-822366350A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b-NO" noProof="1"/>
              <a:t>Workshop / 2 timer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8F5655-48BE-8B08-C0AC-B9F7780E3C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b-NO" noProof="1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2583724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3FA73-0BBC-4794-9469-ED4020F7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1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A30D9-82D2-0A55-705C-0465F632B7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b-NO" sz="1600" noProof="1"/>
              <a:t>Intro + runde-rundt-bordet
Del 1: Hvorfor coroutines?
Del 2: Coroutine Builders
Del 3: Structured Concurrency
Pause
Del 4: Parallell eksekvering
Del 5: Feilhåndtering
Oppsummering</a:t>
            </a:r>
          </a:p>
        </p:txBody>
      </p:sp>
    </p:spTree>
    <p:extLst>
      <p:ext uri="{BB962C8B-B14F-4D97-AF65-F5344CB8AC3E}">
        <p14:creationId xmlns:p14="http://schemas.microsoft.com/office/powerpoint/2010/main" val="2523614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83F39-0628-EE5D-FB2F-7F3F84CC9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1"/>
              <a:t>Praktisk info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E3F20-E3CC-F389-22B2-05D8354362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/>
              <a:t>Hver del er selvstendig — hopp inn der vi er
Som alltid – parprogrammering er bra!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/>
              <a:t>Domene: Reisesøk — aggregering fra flere leverandører</a:t>
            </a:r>
          </a:p>
        </p:txBody>
      </p:sp>
    </p:spTree>
    <p:extLst>
      <p:ext uri="{BB962C8B-B14F-4D97-AF65-F5344CB8AC3E}">
        <p14:creationId xmlns:p14="http://schemas.microsoft.com/office/powerpoint/2010/main" val="1395400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9E2E3-6D94-62DB-5D55-0BC68C2B7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1"/>
              <a:t>Del 1
Hvorfor coroutines?</a:t>
            </a:r>
          </a:p>
        </p:txBody>
      </p:sp>
    </p:spTree>
    <p:extLst>
      <p:ext uri="{BB962C8B-B14F-4D97-AF65-F5344CB8AC3E}">
        <p14:creationId xmlns:p14="http://schemas.microsoft.com/office/powerpoint/2010/main" val="228147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0FDDA-78E7-E1E6-20C0-0544BDAA1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1"/>
              <a:t>Blokkerende kode</a:t>
            </a:r>
          </a:p>
        </p:txBody>
      </p:sp>
      <p:sp>
        <p:nvSpPr>
          <p:cNvPr id="10" name="ThreadLabel"/>
          <p:cNvSpPr txBox="1"/>
          <p:nvPr/>
        </p:nvSpPr>
        <p:spPr>
          <a:xfrm>
            <a:off x="698500" y="2061691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nb-NO" sz="1400" b="1" noProof="1">
                <a:solidFill>
                  <a:srgbClr val="909DA9"/>
                </a:solidFill>
              </a:rPr>
              <a:t>main-tråden</a:t>
            </a:r>
          </a:p>
        </p:txBody>
      </p:sp>
      <p:sp>
        <p:nvSpPr>
          <p:cNvPr id="11" name="Flight"/>
          <p:cNvSpPr/>
          <p:nvPr/>
        </p:nvSpPr>
        <p:spPr>
          <a:xfrm>
            <a:off x="698500" y="2569691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1F1F1F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nb-NO" sz="1400" b="1" noProof="1">
                <a:solidFill>
                  <a:srgbClr val="FFFFFF"/>
                </a:solidFill>
              </a:rPr>
              <a:t>søkFly() — 1 sek</a:t>
            </a:r>
          </a:p>
        </p:txBody>
      </p:sp>
      <p:sp>
        <p:nvSpPr>
          <p:cNvPr id="12" name="Hotel"/>
          <p:cNvSpPr/>
          <p:nvPr/>
        </p:nvSpPr>
        <p:spPr>
          <a:xfrm>
            <a:off x="3365500" y="2569691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1F1F1F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nb-NO" sz="1400" b="1" noProof="1">
                <a:solidFill>
                  <a:srgbClr val="FFFFFF"/>
                </a:solidFill>
              </a:rPr>
              <a:t>søkHotell() — 1 sek</a:t>
            </a:r>
          </a:p>
        </p:txBody>
      </p:sp>
      <p:sp>
        <p:nvSpPr>
          <p:cNvPr id="13" name="Car"/>
          <p:cNvSpPr/>
          <p:nvPr/>
        </p:nvSpPr>
        <p:spPr>
          <a:xfrm>
            <a:off x="6032500" y="2569691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1F1F1F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nb-NO" sz="1400" b="1" noProof="1">
                <a:solidFill>
                  <a:srgbClr val="FFFFFF"/>
                </a:solidFill>
              </a:rPr>
              <a:t>søkLeiebil() — 1 sek</a:t>
            </a:r>
          </a:p>
        </p:txBody>
      </p:sp>
      <p:sp>
        <p:nvSpPr>
          <p:cNvPr id="14" name="Total"/>
          <p:cNvSpPr txBox="1"/>
          <p:nvPr/>
        </p:nvSpPr>
        <p:spPr>
          <a:xfrm>
            <a:off x="8826500" y="2569691"/>
            <a:ext cx="1016000" cy="635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nb-NO" sz="1600" b="1" noProof="1">
                <a:solidFill>
                  <a:srgbClr val="1F1F1F"/>
                </a:solidFill>
              </a:rPr>
              <a:t>= 3 sek</a:t>
            </a:r>
          </a:p>
        </p:txBody>
      </p:sp>
      <p:sp>
        <p:nvSpPr>
          <p:cNvPr id="16" name="Desc"/>
          <p:cNvSpPr txBox="1"/>
          <p:nvPr/>
        </p:nvSpPr>
        <p:spPr>
          <a:xfrm>
            <a:off x="698500" y="1266912"/>
            <a:ext cx="5588000" cy="635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nb-NO" sz="1800" noProof="1">
                <a:solidFill>
                  <a:srgbClr val="1F1F1F"/>
                </a:solidFill>
              </a:rPr>
              <a:t>Tre uavhengige API-kall kjører sekvensielt på samme tråd</a:t>
            </a:r>
          </a:p>
        </p:txBody>
      </p:sp>
    </p:spTree>
    <p:extLst>
      <p:ext uri="{BB962C8B-B14F-4D97-AF65-F5344CB8AC3E}">
        <p14:creationId xmlns:p14="http://schemas.microsoft.com/office/powerpoint/2010/main" val="2156544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2" grpId="0" animBg="1"/>
      <p:bldP spid="13" grpId="0" animBg="1"/>
      <p:bldP spid="14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3D540-623D-E467-86B2-C2733CB35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496DA-0196-3486-2DCF-D08A75ED3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1"/>
              <a:t>Blokkerende kode – to tråder</a:t>
            </a:r>
          </a:p>
        </p:txBody>
      </p:sp>
      <p:sp>
        <p:nvSpPr>
          <p:cNvPr id="10" name="ThreadLabel">
            <a:extLst>
              <a:ext uri="{FF2B5EF4-FFF2-40B4-BE49-F238E27FC236}">
                <a16:creationId xmlns:a16="http://schemas.microsoft.com/office/drawing/2014/main" id="{7845B413-7C6C-7F44-DC52-02F81DA6E501}"/>
              </a:ext>
            </a:extLst>
          </p:cNvPr>
          <p:cNvSpPr txBox="1"/>
          <p:nvPr/>
        </p:nvSpPr>
        <p:spPr>
          <a:xfrm>
            <a:off x="698500" y="2061691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nb-NO" sz="1400" b="1" noProof="1">
                <a:solidFill>
                  <a:srgbClr val="909DA9"/>
                </a:solidFill>
              </a:rPr>
              <a:t>main-tråden</a:t>
            </a:r>
          </a:p>
        </p:txBody>
      </p:sp>
      <p:sp>
        <p:nvSpPr>
          <p:cNvPr id="11" name="Flight">
            <a:extLst>
              <a:ext uri="{FF2B5EF4-FFF2-40B4-BE49-F238E27FC236}">
                <a16:creationId xmlns:a16="http://schemas.microsoft.com/office/drawing/2014/main" id="{3503A019-353C-BE70-327A-FFD3A79F94D3}"/>
              </a:ext>
            </a:extLst>
          </p:cNvPr>
          <p:cNvSpPr/>
          <p:nvPr/>
        </p:nvSpPr>
        <p:spPr>
          <a:xfrm>
            <a:off x="698500" y="2569691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1F1F1F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nb-NO" sz="1400" b="1" noProof="1">
                <a:solidFill>
                  <a:srgbClr val="FFFFFF"/>
                </a:solidFill>
              </a:rPr>
              <a:t>søkFly() — 1 sek</a:t>
            </a:r>
          </a:p>
        </p:txBody>
      </p:sp>
      <p:sp>
        <p:nvSpPr>
          <p:cNvPr id="12" name="Hotel">
            <a:extLst>
              <a:ext uri="{FF2B5EF4-FFF2-40B4-BE49-F238E27FC236}">
                <a16:creationId xmlns:a16="http://schemas.microsoft.com/office/drawing/2014/main" id="{9ED53CBD-F79C-2D51-93E5-3BE94847EA6D}"/>
              </a:ext>
            </a:extLst>
          </p:cNvPr>
          <p:cNvSpPr/>
          <p:nvPr/>
        </p:nvSpPr>
        <p:spPr>
          <a:xfrm>
            <a:off x="3365500" y="2569691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1F1F1F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nb-NO" sz="1400" b="1" noProof="1">
                <a:solidFill>
                  <a:srgbClr val="FFFFFF"/>
                </a:solidFill>
              </a:rPr>
              <a:t>søkLeiebil() — 1 sek</a:t>
            </a:r>
          </a:p>
        </p:txBody>
      </p:sp>
      <p:sp>
        <p:nvSpPr>
          <p:cNvPr id="16" name="Desc">
            <a:extLst>
              <a:ext uri="{FF2B5EF4-FFF2-40B4-BE49-F238E27FC236}">
                <a16:creationId xmlns:a16="http://schemas.microsoft.com/office/drawing/2014/main" id="{C4CE10AD-C0C0-67CC-A1B7-B9C4AB902E79}"/>
              </a:ext>
            </a:extLst>
          </p:cNvPr>
          <p:cNvSpPr txBox="1"/>
          <p:nvPr/>
        </p:nvSpPr>
        <p:spPr>
          <a:xfrm>
            <a:off x="698500" y="1266912"/>
            <a:ext cx="5588000" cy="635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nb-NO" sz="1800" noProof="1">
                <a:solidFill>
                  <a:srgbClr val="1F1F1F"/>
                </a:solidFill>
              </a:rPr>
              <a:t>Tre uavhengige API-kall kjører sekvensielt på samme tråd</a:t>
            </a:r>
          </a:p>
        </p:txBody>
      </p:sp>
      <p:sp>
        <p:nvSpPr>
          <p:cNvPr id="17" name="Insight">
            <a:extLst>
              <a:ext uri="{FF2B5EF4-FFF2-40B4-BE49-F238E27FC236}">
                <a16:creationId xmlns:a16="http://schemas.microsoft.com/office/drawing/2014/main" id="{3ED0478B-F07D-2D35-DB79-7CF390D6E148}"/>
              </a:ext>
            </a:extLst>
          </p:cNvPr>
          <p:cNvSpPr/>
          <p:nvPr/>
        </p:nvSpPr>
        <p:spPr>
          <a:xfrm>
            <a:off x="698500" y="5392149"/>
            <a:ext cx="7018338" cy="7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nb-NO" sz="1600" b="1" noProof="1"/>
              <a:t>Thread.sleep(1000) blokkerer hele tråden — ingen annen kode kan kjøre</a:t>
            </a:r>
          </a:p>
        </p:txBody>
      </p:sp>
      <p:sp>
        <p:nvSpPr>
          <p:cNvPr id="3" name="ThreadLabel">
            <a:extLst>
              <a:ext uri="{FF2B5EF4-FFF2-40B4-BE49-F238E27FC236}">
                <a16:creationId xmlns:a16="http://schemas.microsoft.com/office/drawing/2014/main" id="{1280D302-4ED1-4656-8F92-40DA3A847624}"/>
              </a:ext>
            </a:extLst>
          </p:cNvPr>
          <p:cNvSpPr txBox="1"/>
          <p:nvPr/>
        </p:nvSpPr>
        <p:spPr>
          <a:xfrm>
            <a:off x="698500" y="336447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nb-NO" sz="1400" b="1" noProof="1">
                <a:solidFill>
                  <a:srgbClr val="909DA9"/>
                </a:solidFill>
              </a:rPr>
              <a:t>Tråd #2</a:t>
            </a:r>
          </a:p>
        </p:txBody>
      </p:sp>
      <p:sp>
        <p:nvSpPr>
          <p:cNvPr id="5" name="Hotel">
            <a:extLst>
              <a:ext uri="{FF2B5EF4-FFF2-40B4-BE49-F238E27FC236}">
                <a16:creationId xmlns:a16="http://schemas.microsoft.com/office/drawing/2014/main" id="{C8CA213A-8301-B39D-C955-FEA1AC47D778}"/>
              </a:ext>
            </a:extLst>
          </p:cNvPr>
          <p:cNvSpPr/>
          <p:nvPr/>
        </p:nvSpPr>
        <p:spPr>
          <a:xfrm>
            <a:off x="698500" y="3873539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1F1F1F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nb-NO" sz="1400" b="1" noProof="1">
                <a:solidFill>
                  <a:srgbClr val="FFFFFF"/>
                </a:solidFill>
              </a:rPr>
              <a:t>søkHotell() — 1 sek</a:t>
            </a:r>
          </a:p>
        </p:txBody>
      </p:sp>
      <p:sp>
        <p:nvSpPr>
          <p:cNvPr id="7" name="Total">
            <a:extLst>
              <a:ext uri="{FF2B5EF4-FFF2-40B4-BE49-F238E27FC236}">
                <a16:creationId xmlns:a16="http://schemas.microsoft.com/office/drawing/2014/main" id="{2AE68DB0-A041-888F-29EE-C51EBD927537}"/>
              </a:ext>
            </a:extLst>
          </p:cNvPr>
          <p:cNvSpPr txBox="1"/>
          <p:nvPr/>
        </p:nvSpPr>
        <p:spPr>
          <a:xfrm>
            <a:off x="6286500" y="3110470"/>
            <a:ext cx="1016000" cy="635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nb-NO" sz="1600" b="1" noProof="1">
                <a:solidFill>
                  <a:srgbClr val="1F1F1F"/>
                </a:solidFill>
              </a:rPr>
              <a:t>= 2 sek</a:t>
            </a:r>
          </a:p>
        </p:txBody>
      </p:sp>
    </p:spTree>
    <p:extLst>
      <p:ext uri="{BB962C8B-B14F-4D97-AF65-F5344CB8AC3E}">
        <p14:creationId xmlns:p14="http://schemas.microsoft.com/office/powerpoint/2010/main" val="220317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2" grpId="0" animBg="1"/>
      <p:bldP spid="16" grpId="0"/>
      <p:bldP spid="17" grpId="0" animBg="1"/>
      <p:bldP spid="3" grpId="0"/>
      <p:bldP spid="5" grpId="0" animBg="1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2FA49-FCAD-D66C-720D-121028B3F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1"/>
              <a:t>Coroutine-løsningen</a:t>
            </a:r>
          </a:p>
        </p:txBody>
      </p:sp>
      <p:sp>
        <p:nvSpPr>
          <p:cNvPr id="10" name="L1"/>
          <p:cNvSpPr txBox="1"/>
          <p:nvPr/>
        </p:nvSpPr>
        <p:spPr>
          <a:xfrm>
            <a:off x="919956" y="1728994"/>
            <a:ext cx="719619" cy="508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/>
            <a:r>
              <a:rPr lang="nb-NO" sz="1200" noProof="1">
                <a:solidFill>
                  <a:srgbClr val="CAC2B8"/>
                </a:solidFill>
              </a:rPr>
              <a:t>async { }</a:t>
            </a:r>
          </a:p>
        </p:txBody>
      </p:sp>
      <p:sp>
        <p:nvSpPr>
          <p:cNvPr id="11" name="L2"/>
          <p:cNvSpPr txBox="1"/>
          <p:nvPr/>
        </p:nvSpPr>
        <p:spPr>
          <a:xfrm>
            <a:off x="919956" y="2363994"/>
            <a:ext cx="719620" cy="508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/>
            <a:r>
              <a:rPr lang="nb-NO" sz="1200" noProof="1">
                <a:solidFill>
                  <a:srgbClr val="CAC2B8"/>
                </a:solidFill>
              </a:rPr>
              <a:t>async { }</a:t>
            </a:r>
          </a:p>
        </p:txBody>
      </p:sp>
      <p:sp>
        <p:nvSpPr>
          <p:cNvPr id="12" name="L3"/>
          <p:cNvSpPr txBox="1"/>
          <p:nvPr/>
        </p:nvSpPr>
        <p:spPr>
          <a:xfrm>
            <a:off x="919956" y="2998994"/>
            <a:ext cx="719620" cy="508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/>
            <a:r>
              <a:rPr lang="nb-NO" sz="1200" noProof="1">
                <a:solidFill>
                  <a:srgbClr val="CAC2B8"/>
                </a:solidFill>
              </a:rPr>
              <a:t>async { }</a:t>
            </a:r>
          </a:p>
        </p:txBody>
      </p:sp>
      <p:sp>
        <p:nvSpPr>
          <p:cNvPr id="13" name="Flight"/>
          <p:cNvSpPr/>
          <p:nvPr/>
        </p:nvSpPr>
        <p:spPr>
          <a:xfrm>
            <a:off x="1766576" y="1728994"/>
            <a:ext cx="2540000" cy="508000"/>
          </a:xfrm>
          <a:prstGeom prst="roundRect">
            <a:avLst>
              <a:gd name="adj" fmla="val 10000"/>
            </a:avLst>
          </a:prstGeom>
          <a:solidFill>
            <a:srgbClr val="1F1F1F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nb-NO" sz="1400" b="1" noProof="1">
                <a:solidFill>
                  <a:srgbClr val="FFFFFF"/>
                </a:solidFill>
              </a:rPr>
              <a:t>søkFly() — 1 sek</a:t>
            </a:r>
          </a:p>
        </p:txBody>
      </p:sp>
      <p:sp>
        <p:nvSpPr>
          <p:cNvPr id="14" name="Hotel"/>
          <p:cNvSpPr/>
          <p:nvPr/>
        </p:nvSpPr>
        <p:spPr>
          <a:xfrm>
            <a:off x="1766576" y="2363994"/>
            <a:ext cx="2540000" cy="508000"/>
          </a:xfrm>
          <a:prstGeom prst="roundRect">
            <a:avLst>
              <a:gd name="adj" fmla="val 10000"/>
            </a:avLst>
          </a:prstGeom>
          <a:solidFill>
            <a:srgbClr val="909DA9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nb-NO" sz="1400" b="1" noProof="1">
                <a:solidFill>
                  <a:srgbClr val="FFFFFF"/>
                </a:solidFill>
              </a:rPr>
              <a:t>søkHotell() — 1 sek</a:t>
            </a:r>
          </a:p>
        </p:txBody>
      </p:sp>
      <p:sp>
        <p:nvSpPr>
          <p:cNvPr id="15" name="Car"/>
          <p:cNvSpPr/>
          <p:nvPr/>
        </p:nvSpPr>
        <p:spPr>
          <a:xfrm>
            <a:off x="1766576" y="2998994"/>
            <a:ext cx="2540000" cy="508000"/>
          </a:xfrm>
          <a:prstGeom prst="roundRect">
            <a:avLst>
              <a:gd name="adj" fmla="val 10000"/>
            </a:avLst>
          </a:prstGeom>
          <a:solidFill>
            <a:srgbClr val="CBB29C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nb-NO" sz="1400" b="1" noProof="1">
                <a:solidFill>
                  <a:srgbClr val="1F1F1F"/>
                </a:solidFill>
              </a:rPr>
              <a:t>søkLeiebil() — 1 sek</a:t>
            </a:r>
          </a:p>
        </p:txBody>
      </p:sp>
      <p:sp>
        <p:nvSpPr>
          <p:cNvPr id="16" name="EndLine"/>
          <p:cNvSpPr/>
          <p:nvPr/>
        </p:nvSpPr>
        <p:spPr>
          <a:xfrm>
            <a:off x="4370076" y="1728994"/>
            <a:ext cx="38100" cy="1778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/>
          <a:lstStyle/>
          <a:p>
            <a:endParaRPr lang="nb-NO" noProof="1"/>
          </a:p>
        </p:txBody>
      </p:sp>
      <p:sp>
        <p:nvSpPr>
          <p:cNvPr id="17" name="Await"/>
          <p:cNvSpPr txBox="1"/>
          <p:nvPr/>
        </p:nvSpPr>
        <p:spPr>
          <a:xfrm>
            <a:off x="4560576" y="1728994"/>
            <a:ext cx="1270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nb-NO" sz="1400" b="1" noProof="1">
                <a:solidFill>
                  <a:srgbClr val="1F1F1F"/>
                </a:solidFill>
              </a:rPr>
              <a:t>.await()</a:t>
            </a:r>
          </a:p>
        </p:txBody>
      </p:sp>
      <p:sp>
        <p:nvSpPr>
          <p:cNvPr id="18" name="Total"/>
          <p:cNvSpPr txBox="1"/>
          <p:nvPr/>
        </p:nvSpPr>
        <p:spPr>
          <a:xfrm>
            <a:off x="5830575" y="2300494"/>
            <a:ext cx="3498360" cy="635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nb-NO" sz="2000" b="1" noProof="1">
                <a:solidFill>
                  <a:srgbClr val="1F1F1F"/>
                </a:solidFill>
              </a:rPr>
              <a:t>= 1 sek + noen ms overhead</a:t>
            </a:r>
          </a:p>
        </p:txBody>
      </p:sp>
      <p:sp>
        <p:nvSpPr>
          <p:cNvPr id="20" name="Banner"/>
          <p:cNvSpPr/>
          <p:nvPr/>
        </p:nvSpPr>
        <p:spPr>
          <a:xfrm>
            <a:off x="919956" y="4000500"/>
            <a:ext cx="6796882" cy="63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08000" tIns="36000" rIns="72000" bIns="36000" anchor="ctr"/>
          <a:lstStyle/>
          <a:p>
            <a:pPr algn="ctr"/>
            <a:r>
              <a:rPr lang="nb-NO" sz="1600" b="1" noProof="1"/>
              <a:t>Total tid = lengste enkelt-kall</a:t>
            </a:r>
          </a:p>
        </p:txBody>
      </p:sp>
      <p:sp>
        <p:nvSpPr>
          <p:cNvPr id="21" name="K1"/>
          <p:cNvSpPr txBox="1"/>
          <p:nvPr/>
        </p:nvSpPr>
        <p:spPr>
          <a:xfrm>
            <a:off x="698500" y="5016499"/>
            <a:ext cx="5334000" cy="1328737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b-NO" sz="1400" noProof="1">
                <a:solidFill>
                  <a:srgbClr val="1F1F1F"/>
                </a:solidFill>
              </a:rPr>
              <a:t>delay() suspenderer — frigjør tråden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b-NO" sz="1400" noProof="1">
                <a:solidFill>
                  <a:srgbClr val="1F1F1F"/>
                </a:solidFill>
              </a:rPr>
              <a:t>Coroutines deler noen få tråder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b-NO" sz="1400" noProof="1">
                <a:solidFill>
                  <a:srgbClr val="1F1F1F"/>
                </a:solidFill>
              </a:rPr>
              <a:t>async starter, await henter resultat</a:t>
            </a:r>
          </a:p>
        </p:txBody>
      </p:sp>
      <p:sp>
        <p:nvSpPr>
          <p:cNvPr id="23" name="K3"/>
          <p:cNvSpPr txBox="1"/>
          <p:nvPr/>
        </p:nvSpPr>
        <p:spPr>
          <a:xfrm>
            <a:off x="6350000" y="5016500"/>
            <a:ext cx="533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endParaRPr lang="nb-NO" sz="1400" noProof="1">
              <a:solidFill>
                <a:srgbClr val="1F1F1F"/>
              </a:solidFill>
            </a:endParaRPr>
          </a:p>
        </p:txBody>
      </p:sp>
      <p:sp>
        <p:nvSpPr>
          <p:cNvPr id="3" name="ThreadLabel">
            <a:extLst>
              <a:ext uri="{FF2B5EF4-FFF2-40B4-BE49-F238E27FC236}">
                <a16:creationId xmlns:a16="http://schemas.microsoft.com/office/drawing/2014/main" id="{6532BA3A-231A-D23B-9CBD-802C5CA98BA5}"/>
              </a:ext>
            </a:extLst>
          </p:cNvPr>
          <p:cNvSpPr txBox="1"/>
          <p:nvPr/>
        </p:nvSpPr>
        <p:spPr>
          <a:xfrm>
            <a:off x="1766576" y="1219638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nb-NO" sz="1400" b="1" noProof="1">
                <a:solidFill>
                  <a:srgbClr val="909DA9"/>
                </a:solidFill>
              </a:rPr>
              <a:t>main-tråden</a:t>
            </a:r>
          </a:p>
        </p:txBody>
      </p:sp>
    </p:spTree>
    <p:extLst>
      <p:ext uri="{BB962C8B-B14F-4D97-AF65-F5344CB8AC3E}">
        <p14:creationId xmlns:p14="http://schemas.microsoft.com/office/powerpoint/2010/main" val="1389197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20" grpId="0" animBg="1"/>
      <p:bldP spid="21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65C38-8F1F-A495-91BE-10AFA543F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1"/>
              <a:t>Coroutine-byggeklossene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91C98DC-505D-A140-B866-2EEFA23E3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864188"/>
              </p:ext>
            </p:extLst>
          </p:nvPr>
        </p:nvGraphicFramePr>
        <p:xfrm>
          <a:off x="368300" y="1778000"/>
          <a:ext cx="11430000" cy="472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1466122370"/>
                    </a:ext>
                  </a:extLst>
                </a:gridCol>
                <a:gridCol w="8636000">
                  <a:extLst>
                    <a:ext uri="{9D8B030D-6E8A-4147-A177-3AD203B41FA5}">
                      <a16:colId xmlns:a16="http://schemas.microsoft.com/office/drawing/2014/main" val="453723188"/>
                    </a:ext>
                  </a:extLst>
                </a:gridCol>
              </a:tblGrid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nb-NO" sz="1400" b="1" noProof="1">
                          <a:solidFill>
                            <a:srgbClr val="FFFFFF"/>
                          </a:solidFill>
                        </a:rPr>
                        <a:t>Begrep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b-NO" sz="1400" b="1" noProof="1">
                          <a:solidFill>
                            <a:srgbClr val="FFFFFF"/>
                          </a:solidFill>
                        </a:rPr>
                        <a:t>Forklaring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9495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r>
                        <a:rPr lang="nb-NO" sz="1400" b="1" noProof="1">
                          <a:solidFill>
                            <a:srgbClr val="333333"/>
                          </a:solidFill>
                        </a:rPr>
                        <a:t>suspend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noProof="1">
                          <a:solidFill>
                            <a:srgbClr val="333333"/>
                          </a:solidFill>
                        </a:rPr>
                        <a:t>Markerer funksjoner som kan pause og gjenopptas uten å blokkere tråden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119147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r>
                        <a:rPr lang="nb-NO" sz="1400" b="1" noProof="1">
                          <a:solidFill>
                            <a:srgbClr val="333333"/>
                          </a:solidFill>
                        </a:rPr>
                        <a:t>CoroutineScope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noProof="1">
                          <a:solidFill>
                            <a:srgbClr val="333333"/>
                          </a:solidFill>
                        </a:rPr>
                        <a:t>Definerer levetiden — når scope kanselleres, kanselleres alle children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424823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r>
                        <a:rPr lang="nb-NO" sz="1400" b="1" noProof="1">
                          <a:solidFill>
                            <a:srgbClr val="333333"/>
                          </a:solidFill>
                        </a:rPr>
                        <a:t>Dispatcher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noProof="1">
                          <a:solidFill>
                            <a:srgbClr val="333333"/>
                          </a:solidFill>
                        </a:rPr>
                        <a:t>Bestemmer hvilken trådpool coroutinen kjører på (IO, Default, Main)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254352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r>
                        <a:rPr lang="nb-NO" sz="1400" b="1" noProof="1">
                          <a:solidFill>
                            <a:srgbClr val="333333"/>
                          </a:solidFill>
                        </a:rPr>
                        <a:t>Job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noProof="1">
                          <a:solidFill>
                            <a:srgbClr val="333333"/>
                          </a:solidFill>
                        </a:rPr>
                        <a:t>Håndtak til en coroutine — sjekk status, vent på, eller kanseller den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61955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r>
                        <a:rPr lang="nb-NO" sz="1400" b="1" noProof="1">
                          <a:solidFill>
                            <a:srgbClr val="333333"/>
                          </a:solidFill>
                        </a:rPr>
                        <a:t>CoroutineContext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noProof="1">
                          <a:solidFill>
                            <a:srgbClr val="333333"/>
                          </a:solidFill>
                        </a:rPr>
                        <a:t>Typet map som bærer Job, Dispatcher, Name og MDC nedover hierarkiet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748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4569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D3100-C046-F564-E98D-1528CF030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1"/>
              <a:t>Mental modell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DBD88-2ACE-BF2B-4E40-992343B2E1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None/>
            </a:pPr>
            <a:r>
              <a:rPr lang="nb-NO" sz="1800" b="1" noProof="1">
                <a:solidFill>
                  <a:srgbClr val="1F1F1F"/>
                </a:solidFill>
              </a:rPr>
              <a:t>Java-tråder</a:t>
            </a:r>
          </a:p>
          <a:p>
            <a:pPr>
              <a:buFont typeface="Arial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Én OS-tråd per oppgave — har en kostnad, derfor «threadpools»</a:t>
            </a:r>
          </a:p>
          <a:p>
            <a:pPr>
              <a:buFont typeface="Arial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Tråden er opptatt hele tiden, selv mens den venter</a:t>
            </a:r>
          </a:p>
          <a:p>
            <a:pPr>
              <a:buFont typeface="Arial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1000 oppgaver = 1000 tråder (tungt for OS)</a:t>
            </a:r>
          </a:p>
          <a:p>
            <a:endParaRPr lang="nb-NO" sz="800" noProof="1"/>
          </a:p>
          <a:p>
            <a:pPr>
              <a:buNone/>
            </a:pPr>
            <a:r>
              <a:rPr lang="nb-NO" sz="1800" b="1" noProof="1">
                <a:solidFill>
                  <a:srgbClr val="1F1F1F"/>
                </a:solidFill>
              </a:rPr>
              <a:t>Kotlin Coroutines</a:t>
            </a:r>
          </a:p>
          <a:p>
            <a:pPr>
              <a:buFont typeface="Arial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 «Lettvekts tråder» — suspension points frigjør tråden</a:t>
            </a:r>
          </a:p>
          <a:p>
            <a:pPr>
              <a:buFont typeface="Arial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Tråden kan gjøre annet arbeid mens coroutinen venter</a:t>
            </a:r>
          </a:p>
          <a:p>
            <a:pPr>
              <a:buFont typeface="Arial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Tusenvis av coroutines kan dele noen få tråder</a:t>
            </a:r>
          </a:p>
        </p:txBody>
      </p:sp>
    </p:spTree>
    <p:extLst>
      <p:ext uri="{BB962C8B-B14F-4D97-AF65-F5344CB8AC3E}">
        <p14:creationId xmlns:p14="http://schemas.microsoft.com/office/powerpoint/2010/main" val="54938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483B3-85F4-939D-A01A-58E28FC38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1"/>
              <a:t>Del 2
Coroutine Builders</a:t>
            </a:r>
          </a:p>
        </p:txBody>
      </p:sp>
    </p:spTree>
    <p:extLst>
      <p:ext uri="{BB962C8B-B14F-4D97-AF65-F5344CB8AC3E}">
        <p14:creationId xmlns:p14="http://schemas.microsoft.com/office/powerpoint/2010/main" val="4150429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E087B-C7F3-785C-A493-A6A90920B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1"/>
              <a:t>Tre builders</a:t>
            </a:r>
          </a:p>
        </p:txBody>
      </p:sp>
      <p:sp>
        <p:nvSpPr>
          <p:cNvPr id="10" name="Card1"/>
          <p:cNvSpPr/>
          <p:nvPr/>
        </p:nvSpPr>
        <p:spPr>
          <a:xfrm>
            <a:off x="368300" y="1524000"/>
            <a:ext cx="3683000" cy="4064000"/>
          </a:xfrm>
          <a:prstGeom prst="roundRect">
            <a:avLst>
              <a:gd name="adj" fmla="val 5000"/>
            </a:avLst>
          </a:prstGeom>
          <a:solidFill>
            <a:schemeClr val="accent6"/>
          </a:solidFill>
          <a:ln w="6350">
            <a:solidFill>
              <a:srgbClr val="E0E0E0"/>
            </a:solidFill>
          </a:ln>
        </p:spPr>
        <p:txBody>
          <a:bodyPr lIns="0" tIns="0" rIns="0" bIns="0" anchor="t"/>
          <a:lstStyle/>
          <a:p>
            <a:endParaRPr lang="nb-NO"/>
          </a:p>
        </p:txBody>
      </p:sp>
      <p:sp>
        <p:nvSpPr>
          <p:cNvPr id="11" name="IconBg1"/>
          <p:cNvSpPr/>
          <p:nvPr/>
        </p:nvSpPr>
        <p:spPr>
          <a:xfrm>
            <a:off x="1828800" y="1778000"/>
            <a:ext cx="762000" cy="7620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lIns="0" tIns="0" rIns="0" bIns="0" anchor="ctr" anchorCtr="1"/>
          <a:lstStyle/>
          <a:p>
            <a:endParaRPr lang="nb-NO"/>
          </a:p>
        </p:txBody>
      </p:sp>
      <p:sp>
        <p:nvSpPr>
          <p:cNvPr id="12" name="Heading1"/>
          <p:cNvSpPr txBox="1"/>
          <p:nvPr/>
        </p:nvSpPr>
        <p:spPr>
          <a:xfrm>
            <a:off x="558800" y="2730500"/>
            <a:ext cx="3302000" cy="444500"/>
          </a:xfrm>
          <a:prstGeom prst="rect">
            <a:avLst/>
          </a:prstGeom>
          <a:noFill/>
        </p:spPr>
        <p:txBody>
          <a:bodyPr vertOverflow="overflow" vert="horz" wrap="square" lIns="0" tIns="0" rIns="0" bIns="0" anchor="t"/>
          <a:lstStyle/>
          <a:p>
            <a:pPr algn="ctr">
              <a:buNone/>
            </a:pPr>
            <a:r>
              <a:rPr lang="nb-NO" sz="2000" b="1" noProof="1">
                <a:solidFill>
                  <a:srgbClr val="1A1A1A"/>
                </a:solidFill>
                <a:latin typeface="GT America" pitchFamily="2" charset="77"/>
              </a:rPr>
              <a:t>runBlocking</a:t>
            </a:r>
          </a:p>
        </p:txBody>
      </p:sp>
      <p:sp>
        <p:nvSpPr>
          <p:cNvPr id="13" name="Bullets1"/>
          <p:cNvSpPr txBox="1"/>
          <p:nvPr/>
        </p:nvSpPr>
        <p:spPr>
          <a:xfrm>
            <a:off x="558800" y="3302000"/>
            <a:ext cx="3302000" cy="2159000"/>
          </a:xfrm>
          <a:prstGeom prst="rect">
            <a:avLst/>
          </a:prstGeom>
          <a:noFill/>
        </p:spPr>
        <p:txBody>
          <a:bodyPr vertOverflow="overflow" vert="horz" wrap="square" lIns="0" tIns="0" rIns="0" bIns="0" anchor="t"/>
          <a:lstStyle/>
          <a:p>
            <a:pPr marL="171450" indent="-171450">
              <a:spcBef>
                <a:spcPts val="500"/>
              </a:spcBef>
              <a:spcAft>
                <a:spcPts val="200"/>
              </a:spcAft>
              <a:buFont typeface="Arial"/>
              <a:buChar char="•"/>
            </a:pPr>
            <a:r>
              <a:rPr lang="nb-NO" sz="1400" noProof="1">
                <a:solidFill>
                  <a:srgbClr val="333333"/>
                </a:solidFill>
                <a:latin typeface="GT America Lt" pitchFamily="2" charset="77"/>
              </a:rPr>
              <a:t>Returnerer resultatet direkte</a:t>
            </a:r>
          </a:p>
          <a:p>
            <a:pPr marL="171450" indent="-171450">
              <a:spcBef>
                <a:spcPts val="500"/>
              </a:spcBef>
              <a:spcAft>
                <a:spcPts val="200"/>
              </a:spcAft>
              <a:buFont typeface="Arial"/>
              <a:buChar char="•"/>
            </a:pPr>
            <a:r>
              <a:rPr lang="nb-NO" sz="1400" noProof="1">
                <a:solidFill>
                  <a:srgbClr val="333333"/>
                </a:solidFill>
                <a:latin typeface="GT America Lt" pitchFamily="2" charset="77"/>
              </a:rPr>
              <a:t>Blokkerer tråden til ferdig</a:t>
            </a:r>
          </a:p>
          <a:p>
            <a:pPr marL="171450" indent="-171450">
              <a:spcBef>
                <a:spcPts val="500"/>
              </a:spcBef>
              <a:spcAft>
                <a:spcPts val="200"/>
              </a:spcAft>
              <a:buFont typeface="Arial"/>
              <a:buChar char="•"/>
            </a:pPr>
            <a:r>
              <a:rPr lang="nb-NO" sz="1400" noProof="1">
                <a:solidFill>
                  <a:srgbClr val="333333"/>
                </a:solidFill>
                <a:latin typeface="GT America Lt" pitchFamily="2" charset="77"/>
              </a:rPr>
              <a:t>Bro mellom vanlig kode og coroutine-verden</a:t>
            </a:r>
          </a:p>
          <a:p>
            <a:pPr marL="171450" indent="-171450">
              <a:spcBef>
                <a:spcPts val="500"/>
              </a:spcBef>
              <a:spcAft>
                <a:spcPts val="200"/>
              </a:spcAft>
              <a:buFont typeface="Arial"/>
              <a:buChar char="•"/>
            </a:pPr>
            <a:r>
              <a:rPr lang="nb-NO" sz="1400" noProof="1">
                <a:solidFill>
                  <a:srgbClr val="333333"/>
                </a:solidFill>
                <a:latin typeface="GT America Lt" pitchFamily="2" charset="77"/>
              </a:rPr>
              <a:t>Bruk: main(), tester, bro mellom trådbasert kode og coroutines</a:t>
            </a:r>
          </a:p>
        </p:txBody>
      </p:sp>
      <p:sp>
        <p:nvSpPr>
          <p:cNvPr id="14" name="Card2"/>
          <p:cNvSpPr/>
          <p:nvPr/>
        </p:nvSpPr>
        <p:spPr>
          <a:xfrm>
            <a:off x="4241800" y="1524000"/>
            <a:ext cx="3683000" cy="4064000"/>
          </a:xfrm>
          <a:prstGeom prst="roundRect">
            <a:avLst>
              <a:gd name="adj" fmla="val 5000"/>
            </a:avLst>
          </a:prstGeom>
          <a:solidFill>
            <a:schemeClr val="accent6"/>
          </a:solidFill>
          <a:ln w="6350">
            <a:solidFill>
              <a:srgbClr val="E0E0E0"/>
            </a:solidFill>
          </a:ln>
        </p:spPr>
        <p:txBody>
          <a:bodyPr lIns="0" tIns="0" rIns="0" bIns="0" anchor="t"/>
          <a:lstStyle/>
          <a:p>
            <a:endParaRPr lang="nb-NO"/>
          </a:p>
        </p:txBody>
      </p:sp>
      <p:sp>
        <p:nvSpPr>
          <p:cNvPr id="15" name="IconBg2"/>
          <p:cNvSpPr/>
          <p:nvPr/>
        </p:nvSpPr>
        <p:spPr>
          <a:xfrm>
            <a:off x="5702300" y="1778000"/>
            <a:ext cx="762000" cy="7620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lIns="0" tIns="0" rIns="0" bIns="0" anchor="ctr" anchorCtr="1"/>
          <a:lstStyle/>
          <a:p>
            <a:endParaRPr lang="nb-NO"/>
          </a:p>
        </p:txBody>
      </p:sp>
      <p:sp>
        <p:nvSpPr>
          <p:cNvPr id="16" name="Heading2"/>
          <p:cNvSpPr txBox="1"/>
          <p:nvPr/>
        </p:nvSpPr>
        <p:spPr>
          <a:xfrm>
            <a:off x="4432300" y="2730500"/>
            <a:ext cx="3302000" cy="444500"/>
          </a:xfrm>
          <a:prstGeom prst="rect">
            <a:avLst/>
          </a:prstGeom>
          <a:noFill/>
        </p:spPr>
        <p:txBody>
          <a:bodyPr vertOverflow="overflow" vert="horz" wrap="square" lIns="0" tIns="0" rIns="0" bIns="0" anchor="t"/>
          <a:lstStyle/>
          <a:p>
            <a:pPr algn="ctr">
              <a:buNone/>
            </a:pPr>
            <a:r>
              <a:rPr lang="nb-NO" sz="2000" b="1" noProof="1">
                <a:solidFill>
                  <a:srgbClr val="1A1A1A"/>
                </a:solidFill>
                <a:latin typeface="GT America" pitchFamily="2" charset="77"/>
              </a:rPr>
              <a:t>launch</a:t>
            </a:r>
          </a:p>
        </p:txBody>
      </p:sp>
      <p:sp>
        <p:nvSpPr>
          <p:cNvPr id="17" name="Bullets2"/>
          <p:cNvSpPr txBox="1"/>
          <p:nvPr/>
        </p:nvSpPr>
        <p:spPr>
          <a:xfrm>
            <a:off x="4432300" y="3302000"/>
            <a:ext cx="3302000" cy="2159000"/>
          </a:xfrm>
          <a:prstGeom prst="rect">
            <a:avLst/>
          </a:prstGeom>
          <a:noFill/>
        </p:spPr>
        <p:txBody>
          <a:bodyPr vertOverflow="overflow" vert="horz" wrap="square" lIns="0" tIns="0" rIns="0" bIns="0" anchor="t"/>
          <a:lstStyle/>
          <a:p>
            <a:pPr marL="171450" indent="-171450">
              <a:spcBef>
                <a:spcPts val="500"/>
              </a:spcBef>
              <a:spcAft>
                <a:spcPts val="200"/>
              </a:spcAft>
              <a:buFont typeface="Arial"/>
              <a:buChar char="•"/>
            </a:pPr>
            <a:r>
              <a:rPr lang="nb-NO" sz="1400" noProof="1">
                <a:solidFill>
                  <a:srgbClr val="333333"/>
                </a:solidFill>
                <a:latin typeface="GT America Lt" pitchFamily="2" charset="77"/>
              </a:rPr>
              <a:t>Returnerer Job</a:t>
            </a:r>
          </a:p>
          <a:p>
            <a:pPr marL="171450" indent="-171450">
              <a:spcBef>
                <a:spcPts val="500"/>
              </a:spcBef>
              <a:spcAft>
                <a:spcPts val="200"/>
              </a:spcAft>
              <a:buFont typeface="Arial"/>
              <a:buChar char="•"/>
            </a:pPr>
            <a:r>
              <a:rPr lang="nb-NO" sz="1400" noProof="1">
                <a:solidFill>
                  <a:srgbClr val="333333"/>
                </a:solidFill>
                <a:latin typeface="GT America Lt" pitchFamily="2" charset="77"/>
              </a:rPr>
              <a:t>Blokkerer ikke</a:t>
            </a:r>
          </a:p>
          <a:p>
            <a:pPr marL="171450" indent="-171450">
              <a:spcBef>
                <a:spcPts val="500"/>
              </a:spcBef>
              <a:spcAft>
                <a:spcPts val="200"/>
              </a:spcAft>
              <a:buFont typeface="Arial"/>
              <a:buChar char="•"/>
            </a:pPr>
            <a:r>
              <a:rPr lang="nb-NO" sz="1400" noProof="1">
                <a:solidFill>
                  <a:srgbClr val="333333"/>
                </a:solidFill>
                <a:latin typeface="GT America Lt" pitchFamily="2" charset="77"/>
              </a:rPr>
              <a:t>Ingen tilgang til resultatet (fire-and-forget)</a:t>
            </a:r>
          </a:p>
          <a:p>
            <a:pPr marL="171450" indent="-171450">
              <a:spcBef>
                <a:spcPts val="500"/>
              </a:spcBef>
              <a:spcAft>
                <a:spcPts val="200"/>
              </a:spcAft>
              <a:buFont typeface="Arial"/>
              <a:buChar char="•"/>
            </a:pPr>
            <a:r>
              <a:rPr lang="nb-NO" sz="1400" noProof="1">
                <a:solidFill>
                  <a:srgbClr val="333333"/>
                </a:solidFill>
                <a:latin typeface="GT America Lt" pitchFamily="2" charset="77"/>
              </a:rPr>
              <a:t>Bruk: sideeffekter, logging</a:t>
            </a:r>
          </a:p>
        </p:txBody>
      </p:sp>
      <p:sp>
        <p:nvSpPr>
          <p:cNvPr id="18" name="Card3"/>
          <p:cNvSpPr/>
          <p:nvPr/>
        </p:nvSpPr>
        <p:spPr>
          <a:xfrm>
            <a:off x="8115300" y="1524000"/>
            <a:ext cx="3683000" cy="4064000"/>
          </a:xfrm>
          <a:prstGeom prst="roundRect">
            <a:avLst>
              <a:gd name="adj" fmla="val 5000"/>
            </a:avLst>
          </a:prstGeom>
          <a:solidFill>
            <a:schemeClr val="accent6"/>
          </a:solidFill>
          <a:ln w="6350">
            <a:solidFill>
              <a:srgbClr val="E0E0E0"/>
            </a:solidFill>
          </a:ln>
        </p:spPr>
        <p:txBody>
          <a:bodyPr lIns="0" tIns="0" rIns="0" bIns="0" anchor="t"/>
          <a:lstStyle/>
          <a:p>
            <a:endParaRPr lang="nb-NO"/>
          </a:p>
        </p:txBody>
      </p:sp>
      <p:sp>
        <p:nvSpPr>
          <p:cNvPr id="19" name="IconBg3"/>
          <p:cNvSpPr/>
          <p:nvPr/>
        </p:nvSpPr>
        <p:spPr>
          <a:xfrm>
            <a:off x="9575800" y="1778000"/>
            <a:ext cx="762000" cy="7620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lIns="0" tIns="0" rIns="0" bIns="0" anchor="ctr" anchorCtr="1"/>
          <a:lstStyle/>
          <a:p>
            <a:endParaRPr lang="nb-NO"/>
          </a:p>
        </p:txBody>
      </p:sp>
      <p:sp>
        <p:nvSpPr>
          <p:cNvPr id="20" name="Heading3"/>
          <p:cNvSpPr txBox="1"/>
          <p:nvPr/>
        </p:nvSpPr>
        <p:spPr>
          <a:xfrm>
            <a:off x="8305800" y="2730500"/>
            <a:ext cx="3302000" cy="444500"/>
          </a:xfrm>
          <a:prstGeom prst="rect">
            <a:avLst/>
          </a:prstGeom>
          <a:noFill/>
        </p:spPr>
        <p:txBody>
          <a:bodyPr vertOverflow="overflow" vert="horz" wrap="square" lIns="0" tIns="0" rIns="0" bIns="0" anchor="t"/>
          <a:lstStyle/>
          <a:p>
            <a:pPr algn="ctr">
              <a:buNone/>
            </a:pPr>
            <a:r>
              <a:rPr lang="nb-NO" sz="2000" b="1" noProof="1">
                <a:solidFill>
                  <a:srgbClr val="1A1A1A"/>
                </a:solidFill>
                <a:latin typeface="GT America" pitchFamily="2" charset="77"/>
              </a:rPr>
              <a:t>async</a:t>
            </a:r>
          </a:p>
        </p:txBody>
      </p:sp>
      <p:sp>
        <p:nvSpPr>
          <p:cNvPr id="21" name="Bullets3"/>
          <p:cNvSpPr txBox="1"/>
          <p:nvPr/>
        </p:nvSpPr>
        <p:spPr>
          <a:xfrm>
            <a:off x="8305800" y="3302000"/>
            <a:ext cx="3302000" cy="2159000"/>
          </a:xfrm>
          <a:prstGeom prst="rect">
            <a:avLst/>
          </a:prstGeom>
          <a:noFill/>
        </p:spPr>
        <p:txBody>
          <a:bodyPr vertOverflow="overflow" vert="horz" wrap="square" lIns="0" tIns="0" rIns="0" bIns="0" anchor="t"/>
          <a:lstStyle/>
          <a:p>
            <a:pPr marL="171450" indent="-171450">
              <a:spcBef>
                <a:spcPts val="500"/>
              </a:spcBef>
              <a:spcAft>
                <a:spcPts val="200"/>
              </a:spcAft>
              <a:buFont typeface="Arial"/>
              <a:buChar char="•"/>
            </a:pPr>
            <a:r>
              <a:rPr lang="nb-NO" sz="1400" noProof="1">
                <a:solidFill>
                  <a:srgbClr val="333333"/>
                </a:solidFill>
                <a:latin typeface="GT America Lt" pitchFamily="2" charset="77"/>
              </a:rPr>
              <a:t>Returnerer Deferred&lt;T&gt;</a:t>
            </a:r>
          </a:p>
          <a:p>
            <a:pPr marL="171450" indent="-171450">
              <a:spcBef>
                <a:spcPts val="500"/>
              </a:spcBef>
              <a:spcAft>
                <a:spcPts val="200"/>
              </a:spcAft>
              <a:buFont typeface="Arial"/>
              <a:buChar char="•"/>
            </a:pPr>
            <a:r>
              <a:rPr lang="nb-NO" sz="1400" noProof="1">
                <a:solidFill>
                  <a:srgbClr val="333333"/>
                </a:solidFill>
                <a:latin typeface="GT America Lt" pitchFamily="2" charset="77"/>
              </a:rPr>
              <a:t>Blokkerer ikke</a:t>
            </a:r>
          </a:p>
          <a:p>
            <a:pPr marL="171450" indent="-171450">
              <a:spcBef>
                <a:spcPts val="500"/>
              </a:spcBef>
              <a:spcAft>
                <a:spcPts val="200"/>
              </a:spcAft>
              <a:buFont typeface="Arial"/>
              <a:buChar char="•"/>
            </a:pPr>
            <a:r>
              <a:rPr lang="nb-NO" sz="1400" noProof="1">
                <a:solidFill>
                  <a:srgbClr val="333333"/>
                </a:solidFill>
                <a:latin typeface="GT America Lt" pitchFamily="2" charset="77"/>
              </a:rPr>
              <a:t>Resultatet hentes med .await()</a:t>
            </a:r>
          </a:p>
          <a:p>
            <a:pPr marL="171450" indent="-171450">
              <a:spcBef>
                <a:spcPts val="500"/>
              </a:spcBef>
              <a:spcAft>
                <a:spcPts val="200"/>
              </a:spcAft>
              <a:buFont typeface="Arial"/>
              <a:buChar char="•"/>
            </a:pPr>
            <a:r>
              <a:rPr lang="nb-NO" sz="1400" noProof="1">
                <a:solidFill>
                  <a:srgbClr val="333333"/>
                </a:solidFill>
                <a:latin typeface="GT America Lt" pitchFamily="2" charset="77"/>
              </a:rPr>
              <a:t>Bruk: parallelle oppgaver</a:t>
            </a:r>
          </a:p>
        </p:txBody>
      </p:sp>
      <p:pic>
        <p:nvPicPr>
          <p:cNvPr id="22" name="Graphic 22" descr="Bridge icon for runBlocki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55800" y="1905000"/>
            <a:ext cx="508000" cy="508000"/>
          </a:xfrm>
          <a:prstGeom prst="rect">
            <a:avLst/>
          </a:prstGeom>
        </p:spPr>
      </p:pic>
      <p:pic>
        <p:nvPicPr>
          <p:cNvPr id="23" name="Graphic 23" descr="Rocket icon for launch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29300" y="1905000"/>
            <a:ext cx="508000" cy="508000"/>
          </a:xfrm>
          <a:prstGeom prst="rect">
            <a:avLst/>
          </a:prstGeom>
        </p:spPr>
      </p:pic>
      <p:pic>
        <p:nvPicPr>
          <p:cNvPr id="24" name="Graphic 24" descr="Transfer icon for async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02800" y="1905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379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6" grpId="0"/>
      <p:bldP spid="17" grpId="0"/>
      <p:bldP spid="18" grpId="0" animBg="1"/>
      <p:bldP spid="19" grpId="0" animBg="1"/>
      <p:bldP spid="20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4A6F9-5B51-6DD8-2374-52130839F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1"/>
              <a:t>Litt rundt await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2FD23-2674-6089-5FAF-AE8CA69066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516526"/>
            <a:ext cx="7345363" cy="4535487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nb-NO" sz="1600" noProof="1">
                <a:solidFill>
                  <a:srgbClr val="1F1F1F"/>
                </a:solidFill>
              </a:rPr>
              <a:t>async starter coroutinen umiddelbart</a:t>
            </a:r>
          </a:p>
          <a:p>
            <a:pPr>
              <a:buNone/>
            </a:pPr>
            <a:r>
              <a:rPr lang="nb-NO" sz="1600" noProof="1">
                <a:solidFill>
                  <a:srgbClr val="1F1F1F"/>
                </a:solidFill>
              </a:rPr>
              <a:t>await() suspenderer til resultatet er klart</a:t>
            </a:r>
          </a:p>
          <a:p>
            <a:endParaRPr lang="nb-NO" sz="800" noProof="1"/>
          </a:p>
          <a:p>
            <a:pPr>
              <a:buNone/>
            </a:pPr>
            <a:r>
              <a:rPr lang="nb-NO" sz="1800" b="1" noProof="1">
                <a:solidFill>
                  <a:srgbClr val="909DA9"/>
                </a:solidFill>
              </a:rPr>
              <a:t>Sekvensiell — await rett etter async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async { søkFly() }.await()  →  venter 1s, deretter neste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909DA9"/>
                </a:solidFill>
              </a:rPr>
              <a:t>Totalt: 3 sekunder</a:t>
            </a:r>
          </a:p>
          <a:p>
            <a:endParaRPr lang="nb-NO" sz="800" noProof="1"/>
          </a:p>
          <a:p>
            <a:pPr>
              <a:buNone/>
            </a:pPr>
            <a:r>
              <a:rPr lang="nb-NO" sz="1800" b="1" noProof="1">
                <a:solidFill>
                  <a:srgbClr val="1F1F1F"/>
                </a:solidFill>
              </a:rPr>
              <a:t>Parallell — start alle, deretter await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val fly = async { søkFly() }  — starter umiddelbart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fly.await() + hotell.await()  — venter på alle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b="1" noProof="1">
                <a:solidFill>
                  <a:srgbClr val="1F1F1F"/>
                </a:solidFill>
              </a:rPr>
              <a:t>Totalt: 1 sekund</a:t>
            </a:r>
          </a:p>
        </p:txBody>
      </p:sp>
    </p:spTree>
    <p:extLst>
      <p:ext uri="{BB962C8B-B14F-4D97-AF65-F5344CB8AC3E}">
        <p14:creationId xmlns:p14="http://schemas.microsoft.com/office/powerpoint/2010/main" val="3250066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CFE8C-F818-CDA4-C61E-E7A7BE575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1"/>
              <a:t>Øvelser — Del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A9058-D6E8-72AB-0176-42313D9A28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None/>
            </a:pPr>
            <a:r>
              <a:rPr lang="nb-NO" sz="1800" b="1" noProof="1">
                <a:solidFill>
                  <a:srgbClr val="1F1F1F"/>
                </a:solidFill>
              </a:rPr>
              <a:t>2.1  Konverter til suspend-funksjoner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Bytt Thread.sleep → delay. To samtidige søk bør ta ~1s, ikke ~2s.</a:t>
            </a:r>
            <a:endParaRPr lang="nb-NO" sz="800" noProof="1"/>
          </a:p>
          <a:p>
            <a:pPr>
              <a:buNone/>
            </a:pPr>
            <a:r>
              <a:rPr lang="nb-NO" sz="1800" b="1" noProof="1">
                <a:solidFill>
                  <a:srgbClr val="1F1F1F"/>
                </a:solidFill>
              </a:rPr>
              <a:t>2.2  Bygg sekvensiell søketjeneste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Observer i logg at det tar 3s virtuell tid.</a:t>
            </a:r>
            <a:endParaRPr lang="nb-NO" sz="800" noProof="1"/>
          </a:p>
          <a:p>
            <a:pPr>
              <a:buNone/>
            </a:pPr>
            <a:r>
              <a:rPr lang="nb-NO" sz="1800" b="1" noProof="1">
                <a:solidFill>
                  <a:srgbClr val="909DA9"/>
                </a:solidFill>
              </a:rPr>
              <a:t>Bonus 2.3  launch vs async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Se launch(Job) vs async (Deferred)</a:t>
            </a:r>
          </a:p>
        </p:txBody>
      </p:sp>
    </p:spTree>
    <p:extLst>
      <p:ext uri="{BB962C8B-B14F-4D97-AF65-F5344CB8AC3E}">
        <p14:creationId xmlns:p14="http://schemas.microsoft.com/office/powerpoint/2010/main" val="1550415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0A59A-8799-FB84-DA06-E4A9D6FF9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1"/>
              <a:t>Del 3
Structured Concurrency</a:t>
            </a:r>
          </a:p>
        </p:txBody>
      </p:sp>
    </p:spTree>
    <p:extLst>
      <p:ext uri="{BB962C8B-B14F-4D97-AF65-F5344CB8AC3E}">
        <p14:creationId xmlns:p14="http://schemas.microsoft.com/office/powerpoint/2010/main" val="1079213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A477C-016C-D6B7-AF04-219AB7245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1"/>
              <a:t>GlobalScope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03620-4C27-0FDD-B12D-4A871CF9AD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817037"/>
            <a:ext cx="7345363" cy="4535487"/>
          </a:xfrm>
        </p:spPr>
        <p:txBody>
          <a:bodyPr/>
          <a:lstStyle/>
          <a:p>
            <a:pPr>
              <a:buNone/>
            </a:pPr>
            <a:r>
              <a:rPr lang="nb-NO" sz="1600" noProof="1">
                <a:solidFill>
                  <a:srgbClr val="1F1F1F"/>
                </a:solidFill>
              </a:rPr>
              <a:t>Enkel løsning, men..</a:t>
            </a:r>
            <a:endParaRPr lang="nb-NO" sz="800" noProof="1"/>
          </a:p>
          <a:p>
            <a:pPr>
              <a:buNone/>
            </a:pPr>
            <a:r>
              <a:rPr lang="nb-NO" sz="1800" b="1" noProof="1">
                <a:solidFill>
                  <a:srgbClr val="1F1F1F"/>
                </a:solidFill>
              </a:rPr>
              <a:t>GlobalScope.launch { ... 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Ingen eier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Ingen automatisk kansellering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Ingen opprydding</a:t>
            </a:r>
            <a:endParaRPr lang="nb-NO" sz="800" noProof="1"/>
          </a:p>
          <a:p>
            <a:pPr>
              <a:buNone/>
            </a:pPr>
            <a:r>
              <a:rPr lang="nb-NO" sz="1800" b="1" noProof="1">
                <a:solidFill>
                  <a:srgbClr val="1F1F1F"/>
                </a:solidFill>
              </a:rPr>
              <a:t>Analogi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909DA9"/>
                </a:solidFill>
              </a:rPr>
              <a:t>GlobalScope = bakgrunnstråder uten referanser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Structured concurrency = foreldreprosess som rydder opp barna</a:t>
            </a:r>
          </a:p>
        </p:txBody>
      </p:sp>
    </p:spTree>
    <p:extLst>
      <p:ext uri="{BB962C8B-B14F-4D97-AF65-F5344CB8AC3E}">
        <p14:creationId xmlns:p14="http://schemas.microsoft.com/office/powerpoint/2010/main" val="854590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5A88D-6DBF-5A44-AA4D-35F2C6B92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1"/>
              <a:t>coroutineScope { }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D3C73-C23D-3BA1-24CE-F78F50D73F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817037"/>
            <a:ext cx="7345363" cy="4535487"/>
          </a:xfrm>
        </p:spPr>
        <p:txBody>
          <a:bodyPr/>
          <a:lstStyle/>
          <a:p>
            <a:pPr>
              <a:buNone/>
            </a:pPr>
            <a:r>
              <a:rPr lang="nb-NO" sz="1600" noProof="1">
                <a:solidFill>
                  <a:srgbClr val="1F1F1F"/>
                </a:solidFill>
              </a:rPr>
              <a:t>Venter på alle children før den returnerer</a:t>
            </a:r>
          </a:p>
          <a:p>
            <a:pPr>
              <a:buNone/>
            </a:pPr>
            <a:r>
              <a:rPr lang="nb-NO" sz="1600" noProof="1">
                <a:solidFill>
                  <a:srgbClr val="1F1F1F"/>
                </a:solidFill>
              </a:rPr>
              <a:t>Hvis én child feiler → alle kanselleres automatisk</a:t>
            </a:r>
            <a:endParaRPr lang="nb-NO" sz="800" noProof="1"/>
          </a:p>
          <a:p>
            <a:pPr>
              <a:buNone/>
            </a:pPr>
            <a:r>
              <a:rPr lang="nb-NO" sz="1800" b="1" noProof="1">
                <a:solidFill>
                  <a:srgbClr val="1F1F1F"/>
                </a:solidFill>
              </a:rPr>
              <a:t>Tre regler</a:t>
            </a:r>
            <a:endParaRPr lang="nb-NO" sz="400" noProof="1"/>
          </a:p>
          <a:p>
            <a:pPr marL="342900" indent="-342900">
              <a:buFont typeface="+mj-lt"/>
              <a:buAutoNum type="arabicPeriod"/>
            </a:pPr>
            <a:r>
              <a:rPr lang="nb-NO" sz="1600" b="1" noProof="1">
                <a:solidFill>
                  <a:srgbClr val="1F1F1F"/>
                </a:solidFill>
              </a:rPr>
              <a:t> </a:t>
            </a:r>
            <a:r>
              <a:rPr lang="nb-NO" sz="1600" noProof="1">
                <a:solidFill>
                  <a:srgbClr val="1F1F1F"/>
                </a:solidFill>
              </a:rPr>
              <a:t>Nye coroutines kan bare lages i en CoroutineScope</a:t>
            </a:r>
            <a:endParaRPr lang="nb-NO" sz="400" noProof="1"/>
          </a:p>
          <a:p>
            <a:pPr marL="342900" indent="-342900">
              <a:buFont typeface="+mj-lt"/>
              <a:buAutoNum type="arabicPeriod"/>
            </a:pPr>
            <a:r>
              <a:rPr lang="nb-NO" sz="1600" b="1" noProof="1">
                <a:solidFill>
                  <a:srgbClr val="1F1F1F"/>
                </a:solidFill>
              </a:rPr>
              <a:t> </a:t>
            </a:r>
            <a:r>
              <a:rPr lang="nb-NO" sz="1600" noProof="1">
                <a:solidFill>
                  <a:srgbClr val="1F1F1F"/>
                </a:solidFill>
              </a:rPr>
              <a:t>Child-coroutines arver context fra parent</a:t>
            </a:r>
            <a:endParaRPr lang="nb-NO" sz="400" noProof="1"/>
          </a:p>
          <a:p>
            <a:pPr marL="342900" indent="-342900">
              <a:buFont typeface="+mj-lt"/>
              <a:buAutoNum type="arabicPeriod"/>
            </a:pPr>
            <a:r>
              <a:rPr lang="nb-NO" sz="1600" b="1" noProof="1">
                <a:solidFill>
                  <a:srgbClr val="1F1F1F"/>
                </a:solidFill>
              </a:rPr>
              <a:t> </a:t>
            </a:r>
            <a:r>
              <a:rPr lang="nb-NO" sz="1600" noProof="1">
                <a:solidFill>
                  <a:srgbClr val="1F1F1F"/>
                </a:solidFill>
              </a:rPr>
              <a:t>Parent venter på alle children, kansellerer alle hvis én feiler</a:t>
            </a:r>
          </a:p>
        </p:txBody>
      </p:sp>
    </p:spTree>
    <p:extLst>
      <p:ext uri="{BB962C8B-B14F-4D97-AF65-F5344CB8AC3E}">
        <p14:creationId xmlns:p14="http://schemas.microsoft.com/office/powerpoint/2010/main" val="2820986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FB8D-1041-A7BE-CD9F-105CC7EF3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concurrency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386C1-38AC-410F-DFAB-1E04C81D8D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Coroutines </a:t>
            </a:r>
            <a:r>
              <a:rPr lang="en-US" dirty="0" err="1"/>
              <a:t>danner</a:t>
            </a:r>
            <a:r>
              <a:rPr lang="en-US" dirty="0"/>
              <a:t> et </a:t>
            </a:r>
            <a:r>
              <a:rPr lang="en-US" b="1" dirty="0"/>
              <a:t>parent-child </a:t>
            </a:r>
            <a:r>
              <a:rPr lang="en-US" b="1" dirty="0" err="1"/>
              <a:t>tre</a:t>
            </a:r>
            <a:r>
              <a:rPr lang="en-US" dirty="0"/>
              <a:t> med </a:t>
            </a:r>
            <a:r>
              <a:rPr lang="en-US" dirty="0" err="1"/>
              <a:t>koblede</a:t>
            </a:r>
            <a:r>
              <a:rPr lang="en-US" dirty="0"/>
              <a:t> </a:t>
            </a:r>
            <a:r>
              <a:rPr lang="en-US" dirty="0" err="1"/>
              <a:t>livssykluser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Nye coroutines </a:t>
            </a:r>
            <a:r>
              <a:rPr lang="en-US" dirty="0" err="1"/>
              <a:t>kan</a:t>
            </a:r>
            <a:r>
              <a:rPr lang="en-US" dirty="0"/>
              <a:t> bare </a:t>
            </a:r>
            <a:r>
              <a:rPr lang="en-US" dirty="0" err="1"/>
              <a:t>startes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CoroutineScope</a:t>
            </a:r>
            <a:r>
              <a:rPr lang="en-US" dirty="0"/>
              <a:t> — </a:t>
            </a:r>
            <a:r>
              <a:rPr lang="en-US" dirty="0" err="1"/>
              <a:t>bundet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livssyklus</a:t>
            </a:r>
            <a:r>
              <a:rPr lang="en-US" dirty="0"/>
              <a:t>(</a:t>
            </a:r>
            <a:r>
              <a:rPr lang="en-US" b="1" dirty="0"/>
              <a:t>scope-binding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Context </a:t>
            </a:r>
            <a:r>
              <a:rPr lang="en-US" dirty="0" err="1"/>
              <a:t>arves</a:t>
            </a:r>
            <a:r>
              <a:rPr lang="en-US" dirty="0"/>
              <a:t> </a:t>
            </a:r>
            <a:r>
              <a:rPr lang="en-US" dirty="0" err="1"/>
              <a:t>fra</a:t>
            </a:r>
            <a:r>
              <a:rPr lang="en-US" dirty="0"/>
              <a:t> parent </a:t>
            </a:r>
            <a:r>
              <a:rPr lang="en-US" dirty="0" err="1"/>
              <a:t>til</a:t>
            </a:r>
            <a:r>
              <a:rPr lang="en-US" dirty="0"/>
              <a:t> child (dispatcher, </a:t>
            </a:r>
            <a:r>
              <a:rPr lang="en-US" dirty="0" err="1"/>
              <a:t>navn</a:t>
            </a:r>
            <a:r>
              <a:rPr lang="en-US" dirty="0"/>
              <a:t>, MDC)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Parent </a:t>
            </a:r>
            <a:r>
              <a:rPr lang="en-US" dirty="0" err="1"/>
              <a:t>fullføres</a:t>
            </a:r>
            <a:r>
              <a:rPr lang="en-US" dirty="0"/>
              <a:t> </a:t>
            </a:r>
            <a:r>
              <a:rPr lang="en-US" dirty="0" err="1"/>
              <a:t>aldri</a:t>
            </a:r>
            <a:r>
              <a:rPr lang="en-US" dirty="0"/>
              <a:t> </a:t>
            </a:r>
            <a:r>
              <a:rPr lang="en-US" dirty="0" err="1"/>
              <a:t>før</a:t>
            </a:r>
            <a:r>
              <a:rPr lang="en-US" dirty="0"/>
              <a:t> alle children er </a:t>
            </a:r>
            <a:r>
              <a:rPr lang="en-US" dirty="0" err="1"/>
              <a:t>ferdige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Kansellering</a:t>
            </a:r>
            <a:r>
              <a:rPr lang="en-US" dirty="0"/>
              <a:t> av parent → alle children </a:t>
            </a:r>
            <a:r>
              <a:rPr lang="en-US" dirty="0" err="1"/>
              <a:t>kanselleres</a:t>
            </a:r>
            <a:r>
              <a:rPr lang="en-US" dirty="0"/>
              <a:t> </a:t>
            </a:r>
            <a:r>
              <a:rPr lang="en-US" dirty="0" err="1"/>
              <a:t>rekursivt</a:t>
            </a:r>
            <a:endParaRPr lang="en-US" dirty="0"/>
          </a:p>
          <a:p>
            <a:r>
              <a:rPr lang="en-US" i="1" dirty="0" err="1"/>
              <a:t>Hva</a:t>
            </a:r>
            <a:r>
              <a:rPr lang="en-US" i="1" dirty="0"/>
              <a:t> </a:t>
            </a:r>
            <a:r>
              <a:rPr lang="en-US" i="1" dirty="0" err="1"/>
              <a:t>skjer</a:t>
            </a:r>
            <a:r>
              <a:rPr lang="en-US" i="1" dirty="0"/>
              <a:t> </a:t>
            </a:r>
            <a:r>
              <a:rPr lang="en-US" i="1" dirty="0" err="1"/>
              <a:t>når</a:t>
            </a:r>
            <a:r>
              <a:rPr lang="en-US" i="1" dirty="0"/>
              <a:t> et child </a:t>
            </a:r>
            <a:r>
              <a:rPr lang="en-US" i="1" dirty="0" err="1"/>
              <a:t>feiler</a:t>
            </a:r>
            <a:r>
              <a:rPr lang="en-US" i="1" dirty="0"/>
              <a:t>? Det </a:t>
            </a:r>
            <a:r>
              <a:rPr lang="en-US" i="1" dirty="0" err="1"/>
              <a:t>avhenger</a:t>
            </a:r>
            <a:r>
              <a:rPr lang="en-US" i="1" dirty="0"/>
              <a:t> av scope-type — del 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076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5A60A-BF45-AF68-0AF9-47E303F7A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1"/>
              <a:t>CoroutineContext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D1EED0-DEC0-2548-B2D4-32987B89E878}"/>
              </a:ext>
            </a:extLst>
          </p:cNvPr>
          <p:cNvGraphicFramePr>
            <a:graphicFrameLocks noGrp="1"/>
          </p:cNvGraphicFramePr>
          <p:nvPr/>
        </p:nvGraphicFramePr>
        <p:xfrm>
          <a:off x="368300" y="1651000"/>
          <a:ext cx="7366000" cy="292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303286458"/>
                    </a:ext>
                  </a:extLst>
                </a:gridCol>
                <a:gridCol w="4826000">
                  <a:extLst>
                    <a:ext uri="{9D8B030D-6E8A-4147-A177-3AD203B41FA5}">
                      <a16:colId xmlns:a16="http://schemas.microsoft.com/office/drawing/2014/main" val="321845749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r>
                        <a:rPr lang="nb-NO" sz="1400" b="1" noProof="1">
                          <a:solidFill>
                            <a:srgbClr val="FFFFFF"/>
                          </a:solidFill>
                        </a:rPr>
                        <a:t>Element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noProof="1">
                          <a:solidFill>
                            <a:srgbClr val="FFFFFF"/>
                          </a:solidFill>
                        </a:rPr>
                        <a:t>Hva det gjør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60815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r>
                        <a:rPr lang="nb-NO" sz="1400" b="1" noProof="1">
                          <a:solidFill>
                            <a:srgbClr val="333333"/>
                          </a:solidFill>
                        </a:rPr>
                        <a:t>Job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noProof="1">
                          <a:solidFill>
                            <a:srgbClr val="333333"/>
                          </a:solidFill>
                        </a:rPr>
                        <a:t>Lifecycle, parent-child, cancellation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652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r>
                        <a:rPr lang="nb-NO" sz="1400" b="1" noProof="1">
                          <a:solidFill>
                            <a:srgbClr val="333333"/>
                          </a:solidFill>
                        </a:rPr>
                        <a:t>CoroutineDispatcher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noProof="1">
                          <a:solidFill>
                            <a:srgbClr val="333333"/>
                          </a:solidFill>
                        </a:rPr>
                        <a:t>Hvilken tråd-pool som kjører coroutinen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626906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r>
                        <a:rPr lang="nb-NO" sz="1400" b="1" noProof="1">
                          <a:solidFill>
                            <a:srgbClr val="333333"/>
                          </a:solidFill>
                        </a:rPr>
                        <a:t>CoroutineName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noProof="1">
                          <a:solidFill>
                            <a:srgbClr val="333333"/>
                          </a:solidFill>
                        </a:rPr>
                        <a:t>Menneskelesbart navn for debugging/logging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326976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r>
                        <a:rPr lang="nb-NO" sz="1400" b="1" noProof="1">
                          <a:solidFill>
                            <a:srgbClr val="333333"/>
                          </a:solidFill>
                        </a:rPr>
                        <a:t>MDCContext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noProof="1">
                          <a:solidFill>
                            <a:srgbClr val="333333"/>
                          </a:solidFill>
                        </a:rPr>
                        <a:t>Propagerer SLF4J MDC på tvers av tråd-bytter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13709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F4263E4-15D4-CC4E-B463-4A19B497EFF3}"/>
              </a:ext>
            </a:extLst>
          </p:cNvPr>
          <p:cNvSpPr txBox="1"/>
          <p:nvPr/>
        </p:nvSpPr>
        <p:spPr>
          <a:xfrm>
            <a:off x="368300" y="4953000"/>
            <a:ext cx="11430000" cy="391628"/>
          </a:xfrm>
          <a:prstGeom prst="rect">
            <a:avLst/>
          </a:prstGeom>
          <a:noFill/>
        </p:spPr>
        <p:txBody>
          <a:bodyPr vertOverflow="overflow" vert="horz" wrap="square" lIns="72000" tIns="72000" rIns="72000" bIns="72000" rtlCol="0" anchor="t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lang="nb-NO" sz="1600" b="1" noProof="1">
                <a:solidFill>
                  <a:srgbClr val="1F1F1F"/>
                </a:solidFill>
                <a:latin typeface="GT America Lt" pitchFamily="2" charset="77"/>
                <a:ea typeface="GT America Lt" pitchFamily="2" charset="77"/>
              </a:rPr>
              <a:t>Child context = parent context + builder-argumenter + ny Job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ABBA9E-BBC6-1F4A-8DA7-EDFF133ED559}"/>
              </a:ext>
            </a:extLst>
          </p:cNvPr>
          <p:cNvSpPr txBox="1"/>
          <p:nvPr/>
        </p:nvSpPr>
        <p:spPr>
          <a:xfrm>
            <a:off x="368300" y="5588000"/>
            <a:ext cx="11430000" cy="508000"/>
          </a:xfrm>
          <a:prstGeom prst="rect">
            <a:avLst/>
          </a:prstGeom>
          <a:noFill/>
        </p:spPr>
        <p:txBody>
          <a:bodyPr vertOverflow="overflow" vert="horz" wrap="square" lIns="72000" tIns="72000" rIns="72000" bIns="72000" rtlCol="0" anchor="t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lang="nb-NO" sz="1400" noProof="1">
                <a:solidFill>
                  <a:srgbClr val="909DA9"/>
                </a:solidFill>
                <a:latin typeface="GT America Lt" pitchFamily="2" charset="77"/>
                <a:ea typeface="GT America Lt" pitchFamily="2" charset="77"/>
              </a:rPr>
              <a:t>Kombineres med + operator.  Child arver alt.  Builder-argumenter overstyrer.  Job er alltid ny.</a:t>
            </a:r>
          </a:p>
        </p:txBody>
      </p:sp>
    </p:spTree>
    <p:extLst>
      <p:ext uri="{BB962C8B-B14F-4D97-AF65-F5344CB8AC3E}">
        <p14:creationId xmlns:p14="http://schemas.microsoft.com/office/powerpoint/2010/main" val="3702087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CD30A-3754-3E2A-A2F8-23A491EEA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1"/>
              <a:t>Dispatchers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D01173D-40E2-824F-807C-59F771E14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603817"/>
              </p:ext>
            </p:extLst>
          </p:nvPr>
        </p:nvGraphicFramePr>
        <p:xfrm>
          <a:off x="368300" y="1651000"/>
          <a:ext cx="7366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4288597872"/>
                    </a:ext>
                  </a:extLst>
                </a:gridCol>
                <a:gridCol w="4699000">
                  <a:extLst>
                    <a:ext uri="{9D8B030D-6E8A-4147-A177-3AD203B41FA5}">
                      <a16:colId xmlns:a16="http://schemas.microsoft.com/office/drawing/2014/main" val="675063635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nb-NO" sz="1400" b="1" noProof="1">
                          <a:solidFill>
                            <a:srgbClr val="FFFFFF"/>
                          </a:solidFill>
                        </a:rPr>
                        <a:t>Dispatcher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noProof="1">
                          <a:solidFill>
                            <a:srgbClr val="FFFFFF"/>
                          </a:solidFill>
                        </a:rPr>
                        <a:t>Bruk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8775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nb-NO" sz="1400" b="1" noProof="1">
                          <a:solidFill>
                            <a:srgbClr val="333333"/>
                          </a:solidFill>
                        </a:rPr>
                        <a:t>Dispatchers.Default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noProof="1">
                          <a:solidFill>
                            <a:srgbClr val="333333"/>
                          </a:solidFill>
                        </a:rPr>
                        <a:t>CPU-intensivt arbeid (beregninger, parsing)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05108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nb-NO" sz="1400" b="1" noProof="1">
                          <a:solidFill>
                            <a:srgbClr val="333333"/>
                          </a:solidFill>
                        </a:rPr>
                        <a:t>Dispatchers.IO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noProof="1">
                          <a:solidFill>
                            <a:srgbClr val="333333"/>
                          </a:solidFill>
                        </a:rPr>
                        <a:t>I/O-operasjoner (nettverkskall, fillesing)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87603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nb-NO" sz="1400" b="1" noProof="1">
                          <a:solidFill>
                            <a:srgbClr val="333333"/>
                          </a:solidFill>
                        </a:rPr>
                        <a:t>Dispatchers.Main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noProof="1">
                          <a:solidFill>
                            <a:srgbClr val="333333"/>
                          </a:solidFill>
                        </a:rPr>
                        <a:t>UI-tråd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77833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29906F3-D442-D448-9616-6D4038D2F6D7}"/>
              </a:ext>
            </a:extLst>
          </p:cNvPr>
          <p:cNvSpPr txBox="1"/>
          <p:nvPr/>
        </p:nvSpPr>
        <p:spPr>
          <a:xfrm>
            <a:off x="368300" y="4699000"/>
            <a:ext cx="7366000" cy="508000"/>
          </a:xfrm>
          <a:prstGeom prst="rect">
            <a:avLst/>
          </a:prstGeom>
          <a:noFill/>
        </p:spPr>
        <p:txBody>
          <a:bodyPr vertOverflow="overflow" vert="horz" wrap="square" lIns="72000" tIns="72000" rIns="72000" bIns="72000" rtlCol="0" anchor="t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lang="nb-NO" sz="1600" noProof="1">
                <a:solidFill>
                  <a:srgbClr val="333333"/>
                </a:solidFill>
                <a:latin typeface="GT America Lt" pitchFamily="2" charset="77"/>
                <a:ea typeface="GT America Lt" pitchFamily="2" charset="77"/>
              </a:rPr>
              <a:t>withContext(dispatcher) bytter dispatcher — andre context-elementer arves</a:t>
            </a:r>
          </a:p>
        </p:txBody>
      </p:sp>
    </p:spTree>
    <p:extLst>
      <p:ext uri="{BB962C8B-B14F-4D97-AF65-F5344CB8AC3E}">
        <p14:creationId xmlns:p14="http://schemas.microsoft.com/office/powerpoint/2010/main" val="18623868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3A40C-A3C7-C935-E30E-6D4E552E7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1"/>
              <a:t>MDC-problemet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BE045-9094-28C6-A928-95D55770EC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nb-NO" sz="1800" b="1" noProof="1">
                <a:solidFill>
                  <a:srgbClr val="1F1F1F"/>
                </a:solidFill>
              </a:rPr>
              <a:t>Problemet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MDC bruker ThreadLocal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Coroutines bytter tråder ved suspension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b="1" noProof="1">
                <a:solidFill>
                  <a:srgbClr val="1F1F1F"/>
                </a:solidFill>
              </a:rPr>
              <a:t>MDC forsvinner!</a:t>
            </a:r>
          </a:p>
          <a:p>
            <a:endParaRPr lang="nb-NO" sz="800" noProof="1"/>
          </a:p>
          <a:p>
            <a:pPr>
              <a:buNone/>
            </a:pPr>
            <a:r>
              <a:rPr lang="nb-NO" sz="1800" b="1" noProof="1">
                <a:solidFill>
                  <a:srgbClr val="1F1F1F"/>
                </a:solidFill>
              </a:rPr>
              <a:t>Løsningen: MDCContext()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Fra kotlinx-coroutines-slf4j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Tar snapshot av MDC og gjenoppretter ved tråd-bytte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Legg i context én gang — arves til alle children</a:t>
            </a:r>
          </a:p>
          <a:p>
            <a:endParaRPr lang="nb-NO" sz="800" noProof="1"/>
          </a:p>
          <a:p>
            <a:pPr>
              <a:buNone/>
            </a:pPr>
            <a:r>
              <a:rPr lang="nb-NO" sz="1400" noProof="1">
                <a:solidFill>
                  <a:srgbClr val="909DA9"/>
                </a:solidFill>
              </a:rPr>
              <a:t>withContext(Dispatchers.IO + MDCContext()) { ... }</a:t>
            </a:r>
          </a:p>
        </p:txBody>
      </p:sp>
    </p:spTree>
    <p:extLst>
      <p:ext uri="{BB962C8B-B14F-4D97-AF65-F5344CB8AC3E}">
        <p14:creationId xmlns:p14="http://schemas.microsoft.com/office/powerpoint/2010/main" val="478978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0B247-CEA5-44D9-8FEA-9BFA353E2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1"/>
              <a:t>Øvelser — Del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198BB-2CD4-FFA9-7228-AACE6F05E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nb-NO" sz="1800" b="1" noProof="1">
                <a:solidFill>
                  <a:srgbClr val="1F1F1F"/>
                </a:solidFill>
              </a:rPr>
              <a:t>3.1  Forutsi log-rekkefølgen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coroutineScope + launch — si hva som skjer før du kjører og se om du hadde rett</a:t>
            </a:r>
            <a:endParaRPr lang="nb-NO" sz="800" noProof="1"/>
          </a:p>
          <a:p>
            <a:pPr>
              <a:buNone/>
            </a:pPr>
            <a:r>
              <a:rPr lang="nb-NO" sz="1800" b="1" noProof="1">
                <a:solidFill>
                  <a:srgbClr val="1F1F1F"/>
                </a:solidFill>
              </a:rPr>
              <a:t>3.2  Observer context-arv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Se at children arver CoroutineName og at builder-argument overstyrer.</a:t>
            </a:r>
            <a:endParaRPr lang="nb-NO" sz="800" noProof="1"/>
          </a:p>
          <a:p>
            <a:pPr>
              <a:buNone/>
            </a:pPr>
            <a:r>
              <a:rPr lang="nb-NO" sz="1800" b="1" noProof="1">
                <a:solidFill>
                  <a:srgbClr val="909DA9"/>
                </a:solidFill>
              </a:rPr>
              <a:t>Bonus 3.3  Uten coroutineScope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Hva skjer? Venter parent på children?</a:t>
            </a:r>
            <a:endParaRPr lang="nb-NO" sz="800" noProof="1"/>
          </a:p>
          <a:p>
            <a:pPr>
              <a:buNone/>
            </a:pPr>
            <a:r>
              <a:rPr lang="nb-NO" sz="1800" b="1" noProof="1">
                <a:solidFill>
                  <a:srgbClr val="909DA9"/>
                </a:solidFill>
              </a:rPr>
              <a:t>Bonus 3.4  MDC uten MDCContext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Hva skjer med og uten MDCContext?</a:t>
            </a:r>
          </a:p>
        </p:txBody>
      </p:sp>
    </p:spTree>
    <p:extLst>
      <p:ext uri="{BB962C8B-B14F-4D97-AF65-F5344CB8AC3E}">
        <p14:creationId xmlns:p14="http://schemas.microsoft.com/office/powerpoint/2010/main" val="2230616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FAE98-0A7A-5610-87FE-6FE66E772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1"/>
              <a:t>Pause
10 minutter</a:t>
            </a:r>
          </a:p>
        </p:txBody>
      </p:sp>
    </p:spTree>
    <p:extLst>
      <p:ext uri="{BB962C8B-B14F-4D97-AF65-F5344CB8AC3E}">
        <p14:creationId xmlns:p14="http://schemas.microsoft.com/office/powerpoint/2010/main" val="922686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D06A0-06DC-4C15-00EF-3AE85386B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1"/>
              <a:t>Del 4
Parallell eksekvering</a:t>
            </a:r>
          </a:p>
        </p:txBody>
      </p:sp>
    </p:spTree>
    <p:extLst>
      <p:ext uri="{BB962C8B-B14F-4D97-AF65-F5344CB8AC3E}">
        <p14:creationId xmlns:p14="http://schemas.microsoft.com/office/powerpoint/2010/main" val="2131016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415E7-1445-38CE-7F8B-EC0E7BCE9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1"/>
              <a:t>Sekvensiell vs Parallell</a:t>
            </a:r>
          </a:p>
        </p:txBody>
      </p:sp>
      <p:sp>
        <p:nvSpPr>
          <p:cNvPr id="10" name="SeqLbl"/>
          <p:cNvSpPr txBox="1"/>
          <p:nvPr/>
        </p:nvSpPr>
        <p:spPr>
          <a:xfrm>
            <a:off x="508000" y="1270000"/>
            <a:ext cx="203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nb-NO" sz="1600" b="1" noProof="1">
                <a:solidFill>
                  <a:srgbClr val="909DA9"/>
                </a:solidFill>
              </a:rPr>
              <a:t>SEKVENSIELL</a:t>
            </a:r>
          </a:p>
        </p:txBody>
      </p:sp>
      <p:sp>
        <p:nvSpPr>
          <p:cNvPr id="11" name="SF"/>
          <p:cNvSpPr/>
          <p:nvPr/>
        </p:nvSpPr>
        <p:spPr>
          <a:xfrm>
            <a:off x="698500" y="1714500"/>
            <a:ext cx="2540000" cy="508000"/>
          </a:xfrm>
          <a:prstGeom prst="roundRect">
            <a:avLst>
              <a:gd name="adj" fmla="val 10000"/>
            </a:avLst>
          </a:prstGeom>
          <a:solidFill>
            <a:srgbClr val="1F1F1F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nb-NO" sz="1400" b="1" noProof="1">
                <a:solidFill>
                  <a:srgbClr val="FFFFFF"/>
                </a:solidFill>
              </a:rPr>
              <a:t>søkFly (1s)</a:t>
            </a:r>
          </a:p>
        </p:txBody>
      </p:sp>
      <p:sp>
        <p:nvSpPr>
          <p:cNvPr id="12" name="SH"/>
          <p:cNvSpPr/>
          <p:nvPr/>
        </p:nvSpPr>
        <p:spPr>
          <a:xfrm>
            <a:off x="3302000" y="1714500"/>
            <a:ext cx="2540000" cy="508000"/>
          </a:xfrm>
          <a:prstGeom prst="roundRect">
            <a:avLst>
              <a:gd name="adj" fmla="val 10000"/>
            </a:avLst>
          </a:prstGeom>
          <a:solidFill>
            <a:srgbClr val="909DA9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nb-NO" sz="1400" b="1" noProof="1">
                <a:solidFill>
                  <a:srgbClr val="FFFFFF"/>
                </a:solidFill>
              </a:rPr>
              <a:t>søkHotell (1s)</a:t>
            </a:r>
          </a:p>
        </p:txBody>
      </p:sp>
      <p:sp>
        <p:nvSpPr>
          <p:cNvPr id="13" name="SC"/>
          <p:cNvSpPr/>
          <p:nvPr/>
        </p:nvSpPr>
        <p:spPr>
          <a:xfrm>
            <a:off x="5905500" y="1714500"/>
            <a:ext cx="2540000" cy="508000"/>
          </a:xfrm>
          <a:prstGeom prst="roundRect">
            <a:avLst>
              <a:gd name="adj" fmla="val 10000"/>
            </a:avLst>
          </a:prstGeom>
          <a:solidFill>
            <a:srgbClr val="CBB29C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nb-NO" sz="1400" b="1" noProof="1">
                <a:solidFill>
                  <a:srgbClr val="1F1F1F"/>
                </a:solidFill>
              </a:rPr>
              <a:t>søkLeiebil (1s)</a:t>
            </a:r>
          </a:p>
        </p:txBody>
      </p:sp>
      <p:sp>
        <p:nvSpPr>
          <p:cNvPr id="14" name="ST"/>
          <p:cNvSpPr txBox="1"/>
          <p:nvPr/>
        </p:nvSpPr>
        <p:spPr>
          <a:xfrm>
            <a:off x="8636000" y="1714500"/>
            <a:ext cx="1524000" cy="508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nb-NO" sz="1800" b="1" noProof="1">
                <a:solidFill>
                  <a:srgbClr val="909DA9"/>
                </a:solidFill>
              </a:rPr>
              <a:t>= 3 sek</a:t>
            </a:r>
          </a:p>
        </p:txBody>
      </p:sp>
      <p:sp>
        <p:nvSpPr>
          <p:cNvPr id="15" name="ParLbl"/>
          <p:cNvSpPr txBox="1"/>
          <p:nvPr/>
        </p:nvSpPr>
        <p:spPr>
          <a:xfrm>
            <a:off x="508000" y="2667000"/>
            <a:ext cx="203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nb-NO" sz="1600" b="1" noProof="1">
                <a:solidFill>
                  <a:srgbClr val="1F1F1F"/>
                </a:solidFill>
              </a:rPr>
              <a:t>PARALLELL</a:t>
            </a:r>
          </a:p>
        </p:txBody>
      </p:sp>
      <p:sp>
        <p:nvSpPr>
          <p:cNvPr id="16" name="PF"/>
          <p:cNvSpPr/>
          <p:nvPr/>
        </p:nvSpPr>
        <p:spPr>
          <a:xfrm>
            <a:off x="698500" y="3111500"/>
            <a:ext cx="2540000" cy="482600"/>
          </a:xfrm>
          <a:prstGeom prst="roundRect">
            <a:avLst>
              <a:gd name="adj" fmla="val 10000"/>
            </a:avLst>
          </a:prstGeom>
          <a:solidFill>
            <a:srgbClr val="1F1F1F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nb-NO" sz="1400" b="1" noProof="1">
                <a:solidFill>
                  <a:srgbClr val="FFFFFF"/>
                </a:solidFill>
              </a:rPr>
              <a:t>søkFly (1s)</a:t>
            </a:r>
          </a:p>
        </p:txBody>
      </p:sp>
      <p:sp>
        <p:nvSpPr>
          <p:cNvPr id="17" name="PH"/>
          <p:cNvSpPr/>
          <p:nvPr/>
        </p:nvSpPr>
        <p:spPr>
          <a:xfrm>
            <a:off x="698500" y="3683000"/>
            <a:ext cx="2540000" cy="482600"/>
          </a:xfrm>
          <a:prstGeom prst="roundRect">
            <a:avLst>
              <a:gd name="adj" fmla="val 10000"/>
            </a:avLst>
          </a:prstGeom>
          <a:solidFill>
            <a:srgbClr val="909DA9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nb-NO" sz="1400" b="1" noProof="1">
                <a:solidFill>
                  <a:srgbClr val="FFFFFF"/>
                </a:solidFill>
              </a:rPr>
              <a:t>søkHotell (1s)</a:t>
            </a:r>
          </a:p>
        </p:txBody>
      </p:sp>
      <p:sp>
        <p:nvSpPr>
          <p:cNvPr id="18" name="PC"/>
          <p:cNvSpPr/>
          <p:nvPr/>
        </p:nvSpPr>
        <p:spPr>
          <a:xfrm>
            <a:off x="698500" y="4254500"/>
            <a:ext cx="2540000" cy="482600"/>
          </a:xfrm>
          <a:prstGeom prst="roundRect">
            <a:avLst>
              <a:gd name="adj" fmla="val 10000"/>
            </a:avLst>
          </a:prstGeom>
          <a:solidFill>
            <a:srgbClr val="CBB29C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nb-NO" sz="1400" b="1" noProof="1">
                <a:solidFill>
                  <a:srgbClr val="1F1F1F"/>
                </a:solidFill>
              </a:rPr>
              <a:t>søkLeiebil (1s)</a:t>
            </a:r>
          </a:p>
        </p:txBody>
      </p:sp>
      <p:sp>
        <p:nvSpPr>
          <p:cNvPr id="19" name="End"/>
          <p:cNvSpPr/>
          <p:nvPr/>
        </p:nvSpPr>
        <p:spPr>
          <a:xfrm>
            <a:off x="3302000" y="3111500"/>
            <a:ext cx="38100" cy="1625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/>
          <a:lstStyle/>
          <a:p>
            <a:endParaRPr lang="nb-NO" noProof="1"/>
          </a:p>
        </p:txBody>
      </p:sp>
      <p:sp>
        <p:nvSpPr>
          <p:cNvPr id="20" name="PT"/>
          <p:cNvSpPr txBox="1"/>
          <p:nvPr/>
        </p:nvSpPr>
        <p:spPr>
          <a:xfrm>
            <a:off x="3492500" y="3619500"/>
            <a:ext cx="1524000" cy="635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nb-NO" sz="2000" b="1" noProof="1">
                <a:solidFill>
                  <a:srgbClr val="1F1F1F"/>
                </a:solidFill>
              </a:rPr>
              <a:t>= 1 sek!</a:t>
            </a:r>
          </a:p>
        </p:txBody>
      </p:sp>
      <p:sp>
        <p:nvSpPr>
          <p:cNvPr id="21" name="Bar"/>
          <p:cNvSpPr/>
          <p:nvPr/>
        </p:nvSpPr>
        <p:spPr>
          <a:xfrm>
            <a:off x="698500" y="5270500"/>
            <a:ext cx="7489861" cy="63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08000" tIns="36000" rIns="72000" bIns="36000" anchor="ctr"/>
          <a:lstStyle/>
          <a:p>
            <a:pPr algn="l"/>
            <a:r>
              <a:rPr lang="nb-NO" sz="1600" b="1" noProof="1"/>
              <a:t>Total tid = lengste enkelt-kall, ikke summen av alle</a:t>
            </a:r>
          </a:p>
        </p:txBody>
      </p:sp>
    </p:spTree>
    <p:extLst>
      <p:ext uri="{BB962C8B-B14F-4D97-AF65-F5344CB8AC3E}">
        <p14:creationId xmlns:p14="http://schemas.microsoft.com/office/powerpoint/2010/main" val="15846142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F88D2-D12E-1DBC-40F7-433663C45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1"/>
              <a:t>Når skal du kalle await?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69EC8-62C3-613A-8691-7EB1A60261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None/>
            </a:pPr>
            <a:r>
              <a:rPr lang="nb-NO" sz="1800" b="1" noProof="1">
                <a:solidFill>
                  <a:srgbClr val="1F1F1F"/>
                </a:solidFill>
              </a:rPr>
              <a:t>Sekvensiellt</a:t>
            </a:r>
            <a:endParaRPr lang="nb-NO" sz="400" noProof="1"/>
          </a:p>
          <a:p>
            <a:endParaRPr lang="nb-NO" sz="1600" noProof="1">
              <a:solidFill>
                <a:srgbClr val="909DA9"/>
              </a:solidFill>
            </a:endParaRPr>
          </a:p>
          <a:p>
            <a:endParaRPr lang="nb-NO" sz="1600" noProof="1">
              <a:solidFill>
                <a:srgbClr val="909DA9"/>
              </a:solidFill>
            </a:endParaRPr>
          </a:p>
          <a:p>
            <a:endParaRPr lang="nb-NO" sz="1600" noProof="1">
              <a:solidFill>
                <a:srgbClr val="909DA9"/>
              </a:solidFill>
            </a:endParaRPr>
          </a:p>
          <a:p>
            <a:endParaRPr lang="nb-NO" sz="1600" noProof="1">
              <a:solidFill>
                <a:srgbClr val="909DA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chemeClr val="tx2"/>
                </a:solidFill>
              </a:rPr>
              <a:t>Venter mellom hvert kall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chemeClr val="tx2"/>
                </a:solidFill>
              </a:rPr>
              <a:t>Samme fart som før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F72855-7366-87C7-CAB6-8AD2453F31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nb-NO" sz="1800" b="1" noProof="1">
                <a:solidFill>
                  <a:srgbClr val="1F1F1F"/>
                </a:solidFill>
              </a:rPr>
              <a:t>Parallellt</a:t>
            </a:r>
            <a:endParaRPr lang="nb-NO" sz="400" noProof="1"/>
          </a:p>
          <a:p>
            <a:endParaRPr lang="nb-NO" sz="1600" b="1" noProof="1">
              <a:solidFill>
                <a:srgbClr val="1F1F1F"/>
              </a:solidFill>
            </a:endParaRPr>
          </a:p>
          <a:p>
            <a:endParaRPr lang="nb-NO" sz="1600" b="1" noProof="1">
              <a:solidFill>
                <a:srgbClr val="1F1F1F"/>
              </a:solidFill>
            </a:endParaRPr>
          </a:p>
          <a:p>
            <a:endParaRPr lang="nb-NO" sz="1600" b="1" noProof="1">
              <a:solidFill>
                <a:srgbClr val="1F1F1F"/>
              </a:solidFill>
            </a:endParaRPr>
          </a:p>
          <a:p>
            <a:endParaRPr lang="nb-NO" sz="1600" b="1" noProof="1">
              <a:solidFill>
                <a:srgbClr val="1F1F1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/>
              <a:t>Starter alle, venter til slutt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/>
              <a:t>Like rask som det tregeste kallet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FE6D70-B716-0D6A-1B08-7ACC76E9E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4" y="2775877"/>
            <a:ext cx="3594100" cy="1028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6D487E-07CA-6048-C584-5FAC06730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525" y="2655227"/>
            <a:ext cx="41275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388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ADE03-771F-BEDF-5C4D-5EEB72421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1"/>
              <a:t>Øvelser — Del 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26D359-AAC7-C9C7-7037-5841615248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None/>
            </a:pPr>
            <a:r>
              <a:rPr lang="nb-NO" sz="1800" b="1" noProof="1">
                <a:solidFill>
                  <a:srgbClr val="1F1F1F"/>
                </a:solidFill>
              </a:rPr>
              <a:t>4.1  Parallelliser søketjenesten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Bruk coroutineScope + async/await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Test: ~1500ms, ikke ~3500ms</a:t>
            </a:r>
            <a:endParaRPr lang="nb-NO" sz="800" noProof="1"/>
          </a:p>
          <a:p>
            <a:pPr>
              <a:buNone/>
            </a:pPr>
            <a:r>
              <a:rPr lang="nb-NO" sz="1800" b="1" noProof="1">
                <a:solidFill>
                  <a:srgbClr val="1F1F1F"/>
                </a:solidFill>
              </a:rPr>
              <a:t>4.2  Legg til fjerde provider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Observer at total tid ikke øker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Maks tid = den tregeste provideren</a:t>
            </a:r>
            <a:endParaRPr lang="nb-NO" sz="800" noProof="1"/>
          </a:p>
          <a:p>
            <a:pPr>
              <a:buNone/>
            </a:pPr>
            <a:r>
              <a:rPr lang="nb-NO" sz="1800" b="1" noProof="1">
                <a:solidFill>
                  <a:srgbClr val="909DA9"/>
                </a:solidFill>
              </a:rPr>
              <a:t>Bonus 4.3  Observer tråd-bytte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Bruk withContext(Dispatchers.IO) og observer tråd-navnene i loggen.</a:t>
            </a:r>
          </a:p>
        </p:txBody>
      </p:sp>
    </p:spTree>
    <p:extLst>
      <p:ext uri="{BB962C8B-B14F-4D97-AF65-F5344CB8AC3E}">
        <p14:creationId xmlns:p14="http://schemas.microsoft.com/office/powerpoint/2010/main" val="36738611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D89B6-FF3E-60C8-105D-443779524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1"/>
              <a:t>Del 5
Feilhåndtering</a:t>
            </a:r>
          </a:p>
        </p:txBody>
      </p:sp>
    </p:spTree>
    <p:extLst>
      <p:ext uri="{BB962C8B-B14F-4D97-AF65-F5344CB8AC3E}">
        <p14:creationId xmlns:p14="http://schemas.microsoft.com/office/powerpoint/2010/main" val="11609647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EAAEF-298A-54C6-FA66-BE10B186E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1"/>
              <a:t>coroutineScope: Alt eller ingenting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4139C-C0DB-CDE5-8B0C-63CBC0504F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None/>
            </a:pPr>
            <a:r>
              <a:rPr lang="nb-NO" sz="1600" noProof="1">
                <a:solidFill>
                  <a:srgbClr val="1F1F1F"/>
                </a:solidFill>
              </a:rPr>
              <a:t>Resten kanselleres når et child kaster exception</a:t>
            </a:r>
            <a:endParaRPr lang="nb-NO" sz="800" noProof="1"/>
          </a:p>
          <a:p>
            <a:pPr>
              <a:buNone/>
            </a:pPr>
            <a:r>
              <a:rPr lang="nb-NO" sz="1800" b="1" noProof="1">
                <a:solidFill>
                  <a:srgbClr val="1F1F1F"/>
                </a:solidFill>
              </a:rPr>
              <a:t>Scenario</a:t>
            </a:r>
          </a:p>
          <a:p>
            <a:pPr>
              <a:buNone/>
            </a:pPr>
            <a:endParaRPr lang="nb-NO" sz="1800" b="1" noProof="1">
              <a:solidFill>
                <a:srgbClr val="1F1F1F"/>
              </a:solidFill>
            </a:endParaRPr>
          </a:p>
          <a:p>
            <a:pPr>
              <a:buNone/>
            </a:pPr>
            <a:endParaRPr lang="nb-NO" b="1" noProof="1">
              <a:solidFill>
                <a:srgbClr val="1F1F1F"/>
              </a:solidFill>
            </a:endParaRPr>
          </a:p>
          <a:p>
            <a:pPr>
              <a:buNone/>
            </a:pPr>
            <a:endParaRPr lang="nb-NO" sz="800" b="1" noProof="1">
              <a:solidFill>
                <a:srgbClr val="1F1F1F"/>
              </a:solidFill>
            </a:endParaRPr>
          </a:p>
          <a:p>
            <a:pPr>
              <a:buNone/>
            </a:pPr>
            <a:endParaRPr lang="nb-NO" sz="800" noProof="1"/>
          </a:p>
          <a:p>
            <a:pPr>
              <a:buNone/>
            </a:pPr>
            <a:r>
              <a:rPr lang="nb-NO" sz="1800" b="1" noProof="1">
                <a:solidFill>
                  <a:srgbClr val="1F1F1F"/>
                </a:solidFill>
              </a:rPr>
              <a:t>Når er det nyttig?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Når alle resultater er påkrevd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Fail-fast er ønsket atferd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B7A7CA-62E6-3199-0F28-89EF48AAC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" y="2986881"/>
            <a:ext cx="48768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5634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A7474-2439-663D-F710-BD53F420A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1"/>
              <a:t>supervisorScope: Best effort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037B2-A220-1E85-77D4-70809075AB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None/>
            </a:pPr>
            <a:r>
              <a:rPr lang="nb-NO" sz="1600" noProof="1">
                <a:solidFill>
                  <a:srgbClr val="1F1F1F"/>
                </a:solidFill>
              </a:rPr>
              <a:t>Children er uavhengige — én feil kansellerer ikke de andre</a:t>
            </a:r>
            <a:endParaRPr lang="nb-NO" sz="800" noProof="1"/>
          </a:p>
          <a:p>
            <a:pPr>
              <a:buNone/>
            </a:pPr>
            <a:r>
              <a:rPr lang="nb-NO" sz="1800" b="1" noProof="1">
                <a:solidFill>
                  <a:srgbClr val="1F1F1F"/>
                </a:solidFill>
              </a:rPr>
              <a:t>Scenario</a:t>
            </a:r>
          </a:p>
          <a:p>
            <a:pPr>
              <a:buNone/>
            </a:pPr>
            <a:endParaRPr lang="nb-NO" b="1" noProof="1">
              <a:solidFill>
                <a:srgbClr val="1F1F1F"/>
              </a:solidFill>
            </a:endParaRPr>
          </a:p>
          <a:p>
            <a:pPr>
              <a:buNone/>
            </a:pPr>
            <a:endParaRPr lang="nb-NO" sz="800" b="1" noProof="1">
              <a:solidFill>
                <a:srgbClr val="1F1F1F"/>
              </a:solidFill>
            </a:endParaRPr>
          </a:p>
          <a:p>
            <a:pPr>
              <a:buNone/>
            </a:pPr>
            <a:endParaRPr lang="nb-NO" sz="800" b="1" noProof="1">
              <a:solidFill>
                <a:srgbClr val="1F1F1F"/>
              </a:solidFill>
            </a:endParaRPr>
          </a:p>
          <a:p>
            <a:pPr>
              <a:buNone/>
            </a:pPr>
            <a:endParaRPr lang="nb-NO" sz="800" noProof="1"/>
          </a:p>
          <a:p>
            <a:pPr>
              <a:buNone/>
            </a:pPr>
            <a:r>
              <a:rPr lang="nb-NO" sz="1800" b="1" noProof="1">
                <a:solidFill>
                  <a:srgbClr val="1F1F1F"/>
                </a:solidFill>
              </a:rPr>
              <a:t>Mønster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Kombiner med runCatching{ }.getOrDefault() per await-kall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Feilende providers gir tomme lister, resten returnerer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EC74A2-7091-510A-95A4-1DD29C4CB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" y="2922668"/>
            <a:ext cx="49784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5829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53DCD-9CB9-5746-61AC-D8CC7F069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1"/>
              <a:t>try/catch-fellen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56973-0401-79A1-4298-B4B7D4A451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None/>
            </a:pPr>
            <a:r>
              <a:rPr lang="nb-NO" sz="1800" b="1" noProof="1"/>
              <a:t>try/catch rundt launch { 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/>
              <a:t>Fanger IKKE exceptions inni launch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/>
              <a:t>launch propagerer feil opp til parent scope</a:t>
            </a:r>
            <a:endParaRPr lang="nb-NO" sz="800" noProof="1"/>
          </a:p>
          <a:p>
            <a:pPr>
              <a:buNone/>
            </a:pPr>
            <a:r>
              <a:rPr lang="nb-NO" sz="1800" b="1" noProof="1">
                <a:solidFill>
                  <a:srgbClr val="1F1F1F"/>
                </a:solidFill>
              </a:rPr>
              <a:t>try/catch rundt async { }.await()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Fungerer — exception kastes ved await()</a:t>
            </a:r>
            <a:endParaRPr lang="nb-NO" sz="800" noProof="1"/>
          </a:p>
          <a:p>
            <a:pPr>
              <a:buNone/>
            </a:pPr>
            <a:r>
              <a:rPr lang="nb-NO" sz="1800" b="1" noProof="1">
                <a:solidFill>
                  <a:srgbClr val="1F1F1F"/>
                </a:solidFill>
              </a:rPr>
              <a:t>try/catch inni launch { 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Fungerer — fanger exception lokalt i coroutinen</a:t>
            </a:r>
          </a:p>
        </p:txBody>
      </p:sp>
    </p:spTree>
    <p:extLst>
      <p:ext uri="{BB962C8B-B14F-4D97-AF65-F5344CB8AC3E}">
        <p14:creationId xmlns:p14="http://schemas.microsoft.com/office/powerpoint/2010/main" val="2324483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6DE86-E3E0-7C4F-BD60-4C0EA8EF2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1"/>
              <a:t>Øvelser — Del 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53AD4-78F5-230C-D304-21AC73756F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None/>
            </a:pPr>
            <a:r>
              <a:rPr lang="nb-NO" sz="1800" b="1" noProof="1">
                <a:solidFill>
                  <a:srgbClr val="1F1F1F"/>
                </a:solidFill>
              </a:rPr>
              <a:t>5.1  coroutineScope — alt kanselleres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Observer at fungerende providers aldri når «ferdig» i loggen.</a:t>
            </a:r>
            <a:endParaRPr lang="nb-NO" sz="800" noProof="1"/>
          </a:p>
          <a:p>
            <a:pPr>
              <a:buNone/>
            </a:pPr>
            <a:r>
              <a:rPr lang="nb-NO" sz="1800" b="1" noProof="1">
                <a:solidFill>
                  <a:srgbClr val="1F1F1F"/>
                </a:solidFill>
              </a:rPr>
              <a:t>5.2  supervisorScope — partial failure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Fungerende providers returnerer resultater.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Feilende gir tom liste.</a:t>
            </a:r>
            <a:endParaRPr lang="nb-NO" sz="800" noProof="1"/>
          </a:p>
          <a:p>
            <a:pPr>
              <a:buNone/>
            </a:pPr>
            <a:r>
              <a:rPr lang="nb-NO" sz="1800" b="1" noProof="1">
                <a:solidFill>
                  <a:srgbClr val="909DA9"/>
                </a:solidFill>
              </a:rPr>
              <a:t>Bonus 5.3  Samle feilinformasjon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600" noProof="1">
                <a:solidFill>
                  <a:srgbClr val="1F1F1F"/>
                </a:solidFill>
              </a:rPr>
              <a:t>Legg feil i en SearchError-liste og returner sammen med resultater.</a:t>
            </a:r>
          </a:p>
        </p:txBody>
      </p:sp>
    </p:spTree>
    <p:extLst>
      <p:ext uri="{BB962C8B-B14F-4D97-AF65-F5344CB8AC3E}">
        <p14:creationId xmlns:p14="http://schemas.microsoft.com/office/powerpoint/2010/main" val="6505133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4AEF8-DEF2-A2BB-0A0B-8664A7F36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1"/>
              <a:t>Oppsummering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12284F-6A17-5B4F-A495-FD25D5B11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067459"/>
              </p:ext>
            </p:extLst>
          </p:nvPr>
        </p:nvGraphicFramePr>
        <p:xfrm>
          <a:off x="368300" y="1524000"/>
          <a:ext cx="11430000" cy="469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720394117"/>
                    </a:ext>
                  </a:extLst>
                </a:gridCol>
                <a:gridCol w="4699000">
                  <a:extLst>
                    <a:ext uri="{9D8B030D-6E8A-4147-A177-3AD203B41FA5}">
                      <a16:colId xmlns:a16="http://schemas.microsoft.com/office/drawing/2014/main" val="318145440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566966237"/>
                    </a:ext>
                  </a:extLst>
                </a:gridCol>
              </a:tblGrid>
              <a:tr h="587375">
                <a:tc>
                  <a:txBody>
                    <a:bodyPr/>
                    <a:lstStyle/>
                    <a:p>
                      <a:r>
                        <a:rPr lang="nb-NO" sz="1400" b="1" noProof="1">
                          <a:solidFill>
                            <a:srgbClr val="FFFFFF"/>
                          </a:solidFill>
                        </a:rPr>
                        <a:t>Konsept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noProof="1">
                          <a:solidFill>
                            <a:srgbClr val="FFFFFF"/>
                          </a:solidFill>
                        </a:rPr>
                        <a:t>Hva det gjør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1" noProof="1">
                          <a:solidFill>
                            <a:srgbClr val="FFFFFF"/>
                          </a:solidFill>
                        </a:rPr>
                        <a:t>Når bruke det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0480056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lang="nb-NO" sz="1400" b="1" noProof="1">
                          <a:solidFill>
                            <a:srgbClr val="333333"/>
                          </a:solidFill>
                        </a:rPr>
                        <a:t>suspend fun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noProof="1">
                          <a:solidFill>
                            <a:srgbClr val="333333"/>
                          </a:solidFill>
                        </a:rPr>
                        <a:t>Kan pause uten å blokkere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noProof="1">
                          <a:solidFill>
                            <a:srgbClr val="333333"/>
                          </a:solidFill>
                        </a:rPr>
                        <a:t>Alle async operasjoner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722875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lang="nb-NO" sz="1400" b="1" noProof="1">
                          <a:solidFill>
                            <a:srgbClr val="333333"/>
                          </a:solidFill>
                        </a:rPr>
                        <a:t>runBlocking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noProof="1">
                          <a:solidFill>
                            <a:srgbClr val="333333"/>
                          </a:solidFill>
                        </a:rPr>
                        <a:t>Bro vanlig kode → coroutines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noProof="1">
                          <a:solidFill>
                            <a:srgbClr val="333333"/>
                          </a:solidFill>
                        </a:rPr>
                        <a:t>Main, tester, bro mellom trådbasert kode og coroutines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306444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lang="nb-NO" sz="1400" b="1" noProof="1">
                          <a:solidFill>
                            <a:srgbClr val="333333"/>
                          </a:solidFill>
                        </a:rPr>
                        <a:t>launch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noProof="1">
                          <a:solidFill>
                            <a:srgbClr val="333333"/>
                          </a:solidFill>
                        </a:rPr>
                        <a:t>Start coroutine, ingen returverdi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noProof="1">
                          <a:solidFill>
                            <a:srgbClr val="333333"/>
                          </a:solidFill>
                        </a:rPr>
                        <a:t>Fire-and-forget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541839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lang="nb-NO" sz="1400" b="1" noProof="1">
                          <a:solidFill>
                            <a:srgbClr val="333333"/>
                          </a:solidFill>
                        </a:rPr>
                        <a:t>async / await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noProof="1">
                          <a:solidFill>
                            <a:srgbClr val="333333"/>
                          </a:solidFill>
                        </a:rPr>
                        <a:t>Start coroutine, hent resultat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noProof="1">
                          <a:solidFill>
                            <a:srgbClr val="333333"/>
                          </a:solidFill>
                        </a:rPr>
                        <a:t>Parallelle oppgaver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79372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lang="nb-NO" sz="1400" b="1" noProof="1">
                          <a:solidFill>
                            <a:srgbClr val="333333"/>
                          </a:solidFill>
                        </a:rPr>
                        <a:t>coroutineScope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noProof="1">
                          <a:solidFill>
                            <a:srgbClr val="333333"/>
                          </a:solidFill>
                        </a:rPr>
                        <a:t>Vent på alle, fail-fast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noProof="1">
                          <a:solidFill>
                            <a:srgbClr val="333333"/>
                          </a:solidFill>
                        </a:rPr>
                        <a:t>Alt-eller-ingenting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870074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lang="nb-NO" sz="1400" b="1" noProof="1">
                          <a:solidFill>
                            <a:srgbClr val="333333"/>
                          </a:solidFill>
                        </a:rPr>
                        <a:t>supervisorScope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noProof="1">
                          <a:solidFill>
                            <a:srgbClr val="333333"/>
                          </a:solidFill>
                        </a:rPr>
                        <a:t>Children uavhengige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noProof="1">
                          <a:solidFill>
                            <a:srgbClr val="333333"/>
                          </a:solidFill>
                        </a:rPr>
                        <a:t>Partial failure OK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54891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lang="nb-NO" sz="1400" b="1" noProof="1">
                          <a:solidFill>
                            <a:srgbClr val="333333"/>
                          </a:solidFill>
                        </a:rPr>
                        <a:t>CoroutineContext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noProof="1">
                          <a:solidFill>
                            <a:srgbClr val="333333"/>
                          </a:solidFill>
                        </a:rPr>
                        <a:t>Typet map: Dispatcher, Name, MDC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noProof="1">
                          <a:solidFill>
                            <a:srgbClr val="333333"/>
                          </a:solidFill>
                        </a:rPr>
                        <a:t>Arves til children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356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49505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1FF0A-017C-E0E2-E843-6203621DF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1"/>
              <a:t>Spørsmål?</a:t>
            </a:r>
          </a:p>
        </p:txBody>
      </p:sp>
    </p:spTree>
    <p:extLst>
      <p:ext uri="{BB962C8B-B14F-4D97-AF65-F5344CB8AC3E}">
        <p14:creationId xmlns:p14="http://schemas.microsoft.com/office/powerpoint/2010/main" val="2161970907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sjon (master)">
  <a:themeElements>
    <a:clrScheme name="bekk-2023-fargepalett">
      <a:dk1>
        <a:srgbClr val="1F1F1F"/>
      </a:dk1>
      <a:lt1>
        <a:srgbClr val="FFFFFF"/>
      </a:lt1>
      <a:dk2>
        <a:srgbClr val="1F1F1F"/>
      </a:dk2>
      <a:lt2>
        <a:srgbClr val="0141FE"/>
      </a:lt2>
      <a:accent1>
        <a:srgbClr val="D3FF26"/>
      </a:accent1>
      <a:accent2>
        <a:srgbClr val="1F1F1F"/>
      </a:accent2>
      <a:accent3>
        <a:srgbClr val="CBB29C"/>
      </a:accent3>
      <a:accent4>
        <a:srgbClr val="909DA9"/>
      </a:accent4>
      <a:accent5>
        <a:srgbClr val="AEB7AB"/>
      </a:accent5>
      <a:accent6>
        <a:srgbClr val="CAC2B8"/>
      </a:accent6>
      <a:hlink>
        <a:srgbClr val="1F1F1F"/>
      </a:hlink>
      <a:folHlink>
        <a:srgbClr val="1F1F1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ot="0" spcFirstLastPara="0" vertOverflow="overflow" horzOverflow="overflow" vert="horz" wrap="square" lIns="180000" tIns="216000" rIns="180000" bIns="180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800"/>
          </a:spcBef>
          <a:spcAft>
            <a:spcPts val="800"/>
          </a:spcAft>
          <a:defRPr sz="1600" dirty="0" smtClean="0">
            <a:solidFill>
              <a:schemeClr val="tx1"/>
            </a:solidFill>
            <a:latin typeface="GT America Lt" pitchFamily="2" charset="77"/>
            <a:ea typeface="GT America Lt" pitchFamily="2" charset="77"/>
            <a:cs typeface="DIN OT Light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72000" tIns="72000" rIns="72000" bIns="72000" rtlCol="0">
        <a:spAutoFit/>
      </a:bodyPr>
      <a:lstStyle>
        <a:defPPr algn="l">
          <a:spcBef>
            <a:spcPts val="800"/>
          </a:spcBef>
          <a:spcAft>
            <a:spcPts val="800"/>
          </a:spcAft>
          <a:defRPr sz="1600" dirty="0" smtClean="0">
            <a:latin typeface="GT America Lt" pitchFamily="2" charset="77"/>
            <a:ea typeface="GT America L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l-ppt-bekk-2023.potx" id="{0866B4EE-BD1A-F441-9F29-CAEB617BB969}" vid="{7E58F3A5-010B-5C4E-8E78-77760C646587}"/>
    </a:ext>
  </a:extLst>
</a:theme>
</file>

<file path=ppt/theme/theme2.xml><?xml version="1.0" encoding="utf-8"?>
<a:theme xmlns:a="http://schemas.openxmlformats.org/drawingml/2006/main" name="Mindre tekststørrelse / rapport / tilbud">
  <a:themeElements>
    <a:clrScheme name="bekk-2023-fargepalett">
      <a:dk1>
        <a:srgbClr val="1F1F1F"/>
      </a:dk1>
      <a:lt1>
        <a:srgbClr val="FFFFFF"/>
      </a:lt1>
      <a:dk2>
        <a:srgbClr val="1F1F1F"/>
      </a:dk2>
      <a:lt2>
        <a:srgbClr val="0141FE"/>
      </a:lt2>
      <a:accent1>
        <a:srgbClr val="C2E835"/>
      </a:accent1>
      <a:accent2>
        <a:srgbClr val="1F1F1F"/>
      </a:accent2>
      <a:accent3>
        <a:srgbClr val="CBB29C"/>
      </a:accent3>
      <a:accent4>
        <a:srgbClr val="909DA9"/>
      </a:accent4>
      <a:accent5>
        <a:srgbClr val="AEB7AB"/>
      </a:accent5>
      <a:accent6>
        <a:srgbClr val="CAC2B8"/>
      </a:accent6>
      <a:hlink>
        <a:srgbClr val="1F1F1F"/>
      </a:hlink>
      <a:folHlink>
        <a:srgbClr val="1F1F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tIns="90000" rtlCol="0" anchor="t"/>
      <a:lstStyle>
        <a:defPPr algn="l">
          <a:defRPr sz="1600" dirty="0" smtClean="0">
            <a:solidFill>
              <a:schemeClr val="tx1"/>
            </a:solidFill>
            <a:latin typeface="GT America Lt" pitchFamily="2" charset="77"/>
            <a:ea typeface="GT America Lt" pitchFamily="2" charset="7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spcBef>
            <a:spcPts val="800"/>
          </a:spcBef>
          <a:spcAft>
            <a:spcPts val="800"/>
          </a:spcAft>
          <a:defRPr sz="1600" dirty="0" smtClean="0">
            <a:latin typeface="GT America Lt" pitchFamily="2" charset="77"/>
            <a:ea typeface="GT America L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l-ppt-bekk-2023.potx" id="{0866B4EE-BD1A-F441-9F29-CAEB617BB969}" vid="{42E7F8F7-2252-F142-88FA-81680DB0014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BF8FB8C-BF63-5645-8906-24AC568B0A65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Presentasjon (master)</Template>
  <TotalTime>6673</TotalTime>
  <Words>3058</Words>
  <Application>Microsoft Macintosh PowerPoint</Application>
  <PresentationFormat>Widescreen</PresentationFormat>
  <Paragraphs>377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GT America</vt:lpstr>
      <vt:lpstr>GT America Exp Md</vt:lpstr>
      <vt:lpstr>GT America Lt</vt:lpstr>
      <vt:lpstr>GT America Rg</vt:lpstr>
      <vt:lpstr>Presentasjon (master)</vt:lpstr>
      <vt:lpstr>Mindre tekststørrelse / rapport / tilbud</vt:lpstr>
      <vt:lpstr>Kotlin Coroutines</vt:lpstr>
      <vt:lpstr>Agenda</vt:lpstr>
      <vt:lpstr>Praktisk info</vt:lpstr>
      <vt:lpstr>Del 1
Hvorfor coroutines?</vt:lpstr>
      <vt:lpstr>Blokkerende kode</vt:lpstr>
      <vt:lpstr>Blokkerende kode – to tråder</vt:lpstr>
      <vt:lpstr>Coroutine-løsningen</vt:lpstr>
      <vt:lpstr>Coroutine-byggeklossene</vt:lpstr>
      <vt:lpstr>Mental modell</vt:lpstr>
      <vt:lpstr>Del 2
Coroutine Builders</vt:lpstr>
      <vt:lpstr>Tre builders</vt:lpstr>
      <vt:lpstr>Litt rundt await</vt:lpstr>
      <vt:lpstr>Øvelser — Del 2</vt:lpstr>
      <vt:lpstr>Del 3
Structured Concurrency</vt:lpstr>
      <vt:lpstr>GlobalScope</vt:lpstr>
      <vt:lpstr>coroutineScope { }</vt:lpstr>
      <vt:lpstr>Structured concurrency </vt:lpstr>
      <vt:lpstr>CoroutineContext</vt:lpstr>
      <vt:lpstr>Dispatchers</vt:lpstr>
      <vt:lpstr>MDC-problemet</vt:lpstr>
      <vt:lpstr>Øvelser — Del 3</vt:lpstr>
      <vt:lpstr>Pause
10 minutter</vt:lpstr>
      <vt:lpstr>Del 4
Parallell eksekvering</vt:lpstr>
      <vt:lpstr>Sekvensiell vs Parallell</vt:lpstr>
      <vt:lpstr>Når skal du kalle await?</vt:lpstr>
      <vt:lpstr>Øvelser — Del 4</vt:lpstr>
      <vt:lpstr>Del 5
Feilhåndtering</vt:lpstr>
      <vt:lpstr>coroutineScope: Alt eller ingenting</vt:lpstr>
      <vt:lpstr>supervisorScope: Best effort</vt:lpstr>
      <vt:lpstr>try/catch-fellen</vt:lpstr>
      <vt:lpstr>Øvelser — Del 5</vt:lpstr>
      <vt:lpstr>Oppsummering</vt:lpstr>
      <vt:lpstr>Spørsmål?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Thomas Stenberg Oddsund</dc:creator>
  <cp:keywords/>
  <dc:description/>
  <cp:lastModifiedBy>Thomas Stenberg Oddsund</cp:lastModifiedBy>
  <cp:revision>4</cp:revision>
  <dcterms:created xsi:type="dcterms:W3CDTF">2026-02-26T22:26:19Z</dcterms:created>
  <dcterms:modified xsi:type="dcterms:W3CDTF">2026-03-03T13:40:07Z</dcterms:modified>
  <cp:category/>
</cp:coreProperties>
</file>